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2d247b0-aae6-4048-1241-4c8c6b98f211}">
          <p14:sldIdLst>
            <p14:sldId id="256"/>
          </p14:sldIdLst>
        </p14:section>
        <p14:section name="Problème et solution" id="{cfcd56c9-f12a-8b2b-f2eb-849cea4b74f2}">
          <p14:sldIdLst>
            <p14:sldId id="257"/>
            <p14:sldId id="258"/>
          </p14:sldIdLst>
        </p14:section>
        <p14:section name="Architecture" id="{3708beab-1b05-6788-520f-6df3f8a782ef}">
          <p14:sldIdLst>
            <p14:sldId id="259"/>
            <p14:sldId id="260"/>
          </p14:sldIdLst>
        </p14:section>
        <p14:section name="Technologies sponsors" id="{15633f3a-b08f-0ccb-a9e5-3177969ee164}">
          <p14:sldIdLst>
            <p14:sldId id="261"/>
            <p14:sldId id="262"/>
            <p14:sldId id="263"/>
          </p14:sldIdLst>
        </p14:section>
        <p14:section name="Produit et suite" id="{308463dd-766d-3e0c-372d-ed6d8250b261}">
          <p14:sldIdLst>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Kwatsur est un agent conversationnel qui aide à trouver un logement à louer à Douala et Yaoundé. Il interroge les annonces via Zetaris, décide par du code déterministe, et explique avec NVIDIA Nemotron servi par Meterless Nightshift. Le moteur Meterless Scout Intent contrôle chaque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problème : des annonces éparpillées, souvent incomplètes, et un vrai risque d'arnaque. Nos utilisateurs : les personnes qui cherchent un logement, les propriétaires qui veulent publier, et les administrateurs qui valident.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solution : une conversation. L'agent comprend la demande, cherche, classe, signale ce qui est à vérifier, compare, montre une pièce et bloque les arnaques. Règle de conception : l'IA comprend et explique, le code décide. Aucune information inconnue n'est devinée.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message suit ce trajet. Scout décide et signe un contrat. Nemotron transforme la phrase en critères. Zetaris renvoie les annonces. Notre code filtre, classe et évalue les risques. Nemotron explique ces seuls faits. L'interface affiche tout, y compris la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trois couches du hackathon : Data avec Zetaris, Power avec Nightshift et Nemotron, Build avec le moteur Scout Intent. Autour : FastAPI, PostgreSQL, nginx, Cloudflare pour les images, et le navigateur pour la voix.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Zetaris est la seule porte d'accès aux annonces. Notre base est enregistrée dans Zetaris comme source fédérée, lue en lecture seule. Quand un administrateur valide l'annonce d'un propriétaire, elle devient visible via Zetaris immédiatement.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moteur Meterless implémenté est Scout Intent, en Python, d'après la spécification publique. Il décide, contrôle et signe avant chaque action. Les chiffres viennent de l'évaluation officielle : 0,98 d'intentions exactes, toutes les injections détectées sans faux positif, le bon outil à chaque fois. Nightshift est notre fournisseur IA principal et sert Nemotron 3 Ultra.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Notre usage des sponsors est structurel, pas décoratif : Scout est le garde-fou de chaque action, Zetaris fédère une base qui s'enrichit, Nemotron explique sans inventer, et la démo reste fiable même sans services externes.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vues réelles du produit : les résultats avec une carte d'annonce et ses équipements, et une illustration de salon générée par IA, clairement étiquetée.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Prochaines étapes : brancher de vraies sources via Zetaris, ajouter la mémoire H-MEM entre sessions, un agent vérificateur qui relit les explications, des comptes et des visites vérifiées, WhatsApp et SMS, puis d'autres villes.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Merci. Le code, la documentation et les exemples réels sont sur GitHub. Le projet se lance avec Docker, et SAMPLE_MODE permet de le faire tourner sans aucun service externe.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W_DARK_TITLE">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920240"/>
            <a:ext cx="8686800" cy="1280160"/>
          </a:xfrm>
          <a:prstGeom prst="rect">
            <a:avLst/>
          </a:prstGeom>
          <a:noFill/>
          <a:ln/>
        </p:spPr>
        <p:txBody>
          <a:bodyPr wrap="square" rtlCol="0"/>
          <a:lstStyle>
            <a:lvl1pPr algn="l" indent="0" marL="0">
              <a:buNone/>
              <a:defRPr lang="en-US" sz="6000" b="1" dirty="0">
                <a:solidFill>
                  <a:schemeClr val="bg1"/>
                </a:solidFill>
                <a:latin typeface="Arial" pitchFamily="34" charset="0"/>
                <a:ea typeface="Arial" pitchFamily="34" charset="-122"/>
                <a:cs typeface="Arial" pitchFamily="34" charset="-120"/>
              </a:defRPr>
            </a:lvl1pPr>
          </a:lstStyle>
          <a:p>
            <a:pPr algn="l" indent="0" marL="0">
              <a:buNone/>
            </a:pPr>
            <a:endParaRPr lang="en-US" sz="6000" dirty="0"/>
          </a:p>
        </p:txBody>
      </p:sp>
      <p:sp>
        <p:nvSpPr>
          <p:cNvPr id="3" name="Text 0"/>
          <p:cNvSpPr/>
          <p:nvPr>
            <p:ph idx="101" type="body" hasCustomPrompt="1"/>
          </p:nvPr>
        </p:nvSpPr>
        <p:spPr>
          <a:xfrm>
            <a:off x="548640" y="3337560"/>
            <a:ext cx="8412480" cy="1463040"/>
          </a:xfrm>
          <a:prstGeom prst="rect">
            <a:avLst/>
          </a:prstGeom>
          <a:noFill/>
          <a:ln/>
        </p:spPr>
        <p:txBody>
          <a:bodyPr wrap="square" rtlCol="0"/>
          <a:lstStyle>
            <a:lvl1pPr indent="0" marL="0">
              <a:buNone/>
              <a:defRPr lang="en-US" sz="2400" dirty="0">
                <a:solidFill>
                  <a:schemeClr val="accent3"/>
                </a:solidFill>
                <a:latin typeface="Calibri" pitchFamily="34" charset="0"/>
                <a:ea typeface="Calibri" pitchFamily="34" charset="-122"/>
                <a:cs typeface="Calibri" pitchFamily="34" charset="-120"/>
              </a:defRPr>
            </a:lvl1pPr>
          </a:lstStyle>
          <a:p>
            <a:pPr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W_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rtlCol="0"/>
          <a:lstStyle>
            <a:lvl1pPr algn="l" indent="0" marL="0">
              <a:buNone/>
              <a:defRPr lang="en-US" sz="3400" b="1" dirty="0">
                <a:solidFill>
                  <a:schemeClr val="tx1"/>
                </a:solidFill>
                <a:latin typeface="Arial" pitchFamily="34" charset="0"/>
                <a:ea typeface="Arial" pitchFamily="34" charset="-122"/>
                <a:cs typeface="Arial" pitchFamily="34" charset="-120"/>
              </a:defRPr>
            </a:lvl1pPr>
          </a:lstStyle>
          <a:p>
            <a:pPr algn="l" indent="0" marL="0">
              <a:buNone/>
            </a:pPr>
            <a:endParaRPr lang="en-US" sz="34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6"/>
                </a:solidFill>
                <a:latin typeface="Calibri" pitchFamily="34" charset="0"/>
                <a:ea typeface="Calibri" pitchFamily="34" charset="-122"/>
                <a:cs typeface="Calibri" pitchFamily="34" charset="-120"/>
              </a:rPr>
              <a:t>Kwatsur · Open Agent Hackathon 2026</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jpg"/><Relationship Id="rId8" Type="http://schemas.openxmlformats.org/officeDocument/2006/relationships/slideLayout" Target="../slideLayouts/slideLayout3.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920240"/>
            <a:ext cx="8686800" cy="1280160"/>
          </a:xfrm>
          <a:prstGeom prst="rect">
            <a:avLst/>
          </a:prstGeom>
          <a:noFill/>
          <a:ln/>
        </p:spPr>
        <p:txBody>
          <a:bodyPr wrap="square" lIns="0" tIns="0" rIns="0" bIns="0" rtlCol="0" anchor="b"/>
          <a:lstStyle/>
          <a:p>
            <a:pPr algn="l" indent="0" marL="0">
              <a:buNone/>
            </a:pPr>
            <a:r>
              <a:rPr lang="en-US" sz="6000" b="1" dirty="0">
                <a:solidFill>
                  <a:schemeClr val="bg1"/>
                </a:solidFill>
                <a:latin typeface="Arial" pitchFamily="34" charset="0"/>
                <a:ea typeface="Arial" pitchFamily="34" charset="-122"/>
                <a:cs typeface="Arial" pitchFamily="34" charset="-120"/>
              </a:rPr>
              <a:t>Kwatsur</a:t>
            </a:r>
            <a:endParaRPr lang="en-US" sz="6000" dirty="0"/>
          </a:p>
        </p:txBody>
      </p:sp>
      <p:sp>
        <p:nvSpPr>
          <p:cNvPr id="3" name="Text 0"/>
          <p:cNvSpPr/>
          <p:nvPr>
            <p:ph idx="101" type="body" hasCustomPrompt="1"/>
          </p:nvPr>
        </p:nvSpPr>
        <p:spPr>
          <a:xfrm>
            <a:off x="548640" y="3337560"/>
            <a:ext cx="8412480" cy="1463040"/>
          </a:xfrm>
          <a:prstGeom prst="rect">
            <a:avLst/>
          </a:prstGeom>
          <a:noFill/>
          <a:ln/>
        </p:spPr>
        <p:txBody>
          <a:bodyPr wrap="square" lIns="0" tIns="0" rIns="0" bIns="0" rtlCol="0" anchor="t"/>
          <a:lstStyle/>
          <a:p>
            <a:pPr indent="0" marL="0">
              <a:buNone/>
            </a:pPr>
            <a:r>
              <a:rPr lang="en-US" sz="2400" dirty="0">
                <a:solidFill>
                  <a:schemeClr val="accent3"/>
                </a:solidFill>
                <a:latin typeface="Calibri" pitchFamily="34" charset="0"/>
                <a:ea typeface="Calibri" pitchFamily="34" charset="-122"/>
                <a:cs typeface="Calibri" pitchFamily="34" charset="-120"/>
              </a:rPr>
              <a:t>L'agent qui cherche, vérifie et explique les logements à louer au Cameroun</a:t>
            </a:r>
            <a:endParaRPr lang="en-US" sz="2400" dirty="0"/>
          </a:p>
        </p:txBody>
      </p:sp>
      <p:sp>
        <p:nvSpPr>
          <p:cNvPr id="4" name="Logo maison cercle"/>
          <p:cNvSpPr/>
          <p:nvPr/>
        </p:nvSpPr>
        <p:spPr>
          <a:xfrm>
            <a:off x="9692640" y="2011680"/>
            <a:ext cx="1828800" cy="1828800"/>
          </a:xfrm>
          <a:prstGeom prst="ellipse">
            <a:avLst/>
          </a:prstGeom>
          <a:solidFill>
            <a:srgbClr val="0A4A39"/>
          </a:solidFill>
          <a:ln w="12700">
            <a:solidFill>
              <a:srgbClr val="0A4A39"/>
            </a:solidFill>
            <a:prstDash val="solid"/>
          </a:ln>
        </p:spPr>
      </p:sp>
      <p:pic>
        <p:nvPicPr>
          <p:cNvPr id="5" name="Logo maison icône" descr="preencoded.png">    </p:cNvPr>
          <p:cNvPicPr>
            <a:picLocks noChangeAspect="1"/>
          </p:cNvPicPr>
          <p:nvPr/>
        </p:nvPicPr>
        <p:blipFill>
          <a:blip r:embed="rId1"/>
          <a:stretch>
            <a:fillRect/>
          </a:stretch>
        </p:blipFill>
        <p:spPr>
          <a:xfrm>
            <a:off x="10131552" y="2450592"/>
            <a:ext cx="950976" cy="950976"/>
          </a:xfrm>
          <a:prstGeom prst="rect">
            <a:avLst/>
          </a:prstGeom>
        </p:spPr>
      </p:pic>
      <p:sp>
        <p:nvSpPr>
          <p:cNvPr id="6" name="Text 3"/>
          <p:cNvSpPr txBox="1"/>
          <p:nvPr/>
        </p:nvSpPr>
        <p:spPr>
          <a:xfrm>
            <a:off x="548640" y="5394960"/>
            <a:ext cx="10058400" cy="365760"/>
          </a:xfrm>
          <a:prstGeom prst="rect">
            <a:avLst/>
          </a:prstGeom>
          <a:noFill/>
          <a:ln/>
        </p:spPr>
        <p:txBody>
          <a:bodyPr wrap="square" lIns="0" tIns="0" rIns="0" bIns="0" rtlCol="0" anchor="t"/>
          <a:lstStyle/>
          <a:p>
            <a:pPr indent="0" marL="0">
              <a:buNone/>
            </a:pPr>
            <a:r>
              <a:rPr lang="en-US" sz="1600" dirty="0">
                <a:solidFill>
                  <a:schemeClr val="bg1"/>
                </a:solidFill>
                <a:latin typeface="Calibri" pitchFamily="34" charset="0"/>
                <a:ea typeface="Calibri" pitchFamily="34" charset="-122"/>
                <a:cs typeface="Calibri" pitchFamily="34" charset="-120"/>
              </a:rPr>
              <a:t>Open Agent Hackathon 2026  ·  Piste : The Agent That Can Explain Why</a:t>
            </a:r>
            <a:endParaRPr lang="en-US" sz="1600" dirty="0"/>
          </a:p>
        </p:txBody>
      </p:sp>
      <p:sp>
        <p:nvSpPr>
          <p:cNvPr id="7" name="Text 4"/>
          <p:cNvSpPr txBox="1"/>
          <p:nvPr/>
        </p:nvSpPr>
        <p:spPr>
          <a:xfrm>
            <a:off x="548640" y="5806440"/>
            <a:ext cx="10058400" cy="365760"/>
          </a:xfrm>
          <a:prstGeom prst="rect">
            <a:avLst/>
          </a:prstGeom>
          <a:noFill/>
          <a:ln/>
        </p:spPr>
        <p:txBody>
          <a:bodyPr wrap="square" lIns="0" tIns="0" rIns="0" bIns="0" rtlCol="0" anchor="t"/>
          <a:lstStyle/>
          <a:p>
            <a:pPr indent="0" marL="0">
              <a:buNone/>
            </a:pPr>
            <a:r>
              <a:rPr lang="en-US" sz="1400" dirty="0">
                <a:solidFill>
                  <a:schemeClr val="accent3"/>
                </a:solidFill>
                <a:latin typeface="Calibri" pitchFamily="34" charset="0"/>
                <a:ea typeface="Calibri" pitchFamily="34" charset="-122"/>
                <a:cs typeface="Calibri" pitchFamily="34" charset="-120"/>
              </a:rPr>
              <a:t>Zetaris  ·  Meterless Scout Intent &amp; Nightshift  ·  NVIDIA Nemotron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Se loger au Cameroun : un parcours risqué</a:t>
            </a:r>
            <a:endParaRPr lang="en-US" sz="3400" dirty="0"/>
          </a:p>
        </p:txBody>
      </p:sp>
      <p:sp>
        <p:nvSpPr>
          <p:cNvPr id="3" name="Problème 1"/>
          <p:cNvSpPr/>
          <p:nvPr/>
        </p:nvSpPr>
        <p:spPr>
          <a:xfrm>
            <a:off x="548640" y="1508760"/>
            <a:ext cx="6675120" cy="1280160"/>
          </a:xfrm>
          <a:prstGeom prst="roundRect">
            <a:avLst>
              <a:gd name="adj" fmla="val 8571"/>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4" name="Problème 1 cercle"/>
          <p:cNvSpPr/>
          <p:nvPr/>
        </p:nvSpPr>
        <p:spPr>
          <a:xfrm>
            <a:off x="777240" y="1737360"/>
            <a:ext cx="822960" cy="822960"/>
          </a:xfrm>
          <a:prstGeom prst="ellipse">
            <a:avLst/>
          </a:prstGeom>
          <a:solidFill>
            <a:srgbClr val="C2562F"/>
          </a:solidFill>
          <a:ln w="12700">
            <a:solidFill>
              <a:srgbClr val="C2562F"/>
            </a:solidFill>
            <a:prstDash val="solid"/>
          </a:ln>
        </p:spPr>
      </p:sp>
      <p:pic>
        <p:nvPicPr>
          <p:cNvPr id="5" name="Problème 1 icône" descr="preencoded.png">    </p:cNvPr>
          <p:cNvPicPr>
            <a:picLocks noChangeAspect="1"/>
          </p:cNvPicPr>
          <p:nvPr/>
        </p:nvPicPr>
        <p:blipFill>
          <a:blip r:embed="rId1"/>
          <a:stretch>
            <a:fillRect/>
          </a:stretch>
        </p:blipFill>
        <p:spPr>
          <a:xfrm>
            <a:off x="974750" y="1934870"/>
            <a:ext cx="427939" cy="427939"/>
          </a:xfrm>
          <a:prstGeom prst="rect">
            <a:avLst/>
          </a:prstGeom>
        </p:spPr>
      </p:pic>
      <p:sp>
        <p:nvSpPr>
          <p:cNvPr id="6" name="Text 3"/>
          <p:cNvSpPr txBox="1"/>
          <p:nvPr/>
        </p:nvSpPr>
        <p:spPr>
          <a:xfrm>
            <a:off x="1828800" y="1691640"/>
            <a:ext cx="5212080" cy="41148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Annonces dispersées</a:t>
            </a:r>
            <a:endParaRPr lang="en-US" sz="2000" dirty="0"/>
          </a:p>
        </p:txBody>
      </p:sp>
      <p:sp>
        <p:nvSpPr>
          <p:cNvPr id="7" name="Text 4"/>
          <p:cNvSpPr txBox="1"/>
          <p:nvPr/>
        </p:nvSpPr>
        <p:spPr>
          <a:xfrm>
            <a:off x="1828800" y="2130552"/>
            <a:ext cx="5212080" cy="548640"/>
          </a:xfrm>
          <a:prstGeom prst="rect">
            <a:avLst/>
          </a:prstGeom>
          <a:noFill/>
          <a:ln/>
        </p:spPr>
        <p:txBody>
          <a:bodyPr wrap="square" lIns="0" tIns="0" rIns="0" bIns="0" rtlCol="0" anchor="t"/>
          <a:lstStyle/>
          <a:p>
            <a:pPr indent="0" marL="0">
              <a:buNone/>
            </a:pPr>
            <a:r>
              <a:rPr lang="en-US" sz="1500" dirty="0">
                <a:solidFill>
                  <a:schemeClr val="accent4"/>
                </a:solidFill>
                <a:latin typeface="Calibri" pitchFamily="34" charset="0"/>
                <a:ea typeface="Calibri" pitchFamily="34" charset="-122"/>
                <a:cs typeface="Calibri" pitchFamily="34" charset="-120"/>
              </a:rPr>
              <a:t>Groupes WhatsApp, Facebook, affiches, intermédiaires : aucune vue d'ensemble.</a:t>
            </a:r>
            <a:endParaRPr lang="en-US" sz="1500" dirty="0"/>
          </a:p>
        </p:txBody>
      </p:sp>
      <p:sp>
        <p:nvSpPr>
          <p:cNvPr id="8" name="Problème 2"/>
          <p:cNvSpPr/>
          <p:nvPr/>
        </p:nvSpPr>
        <p:spPr>
          <a:xfrm>
            <a:off x="548640" y="3017520"/>
            <a:ext cx="6675120" cy="1280160"/>
          </a:xfrm>
          <a:prstGeom prst="roundRect">
            <a:avLst>
              <a:gd name="adj" fmla="val 8571"/>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9" name="Problème 2 cercle"/>
          <p:cNvSpPr/>
          <p:nvPr/>
        </p:nvSpPr>
        <p:spPr>
          <a:xfrm>
            <a:off x="777240" y="3246120"/>
            <a:ext cx="822960" cy="822960"/>
          </a:xfrm>
          <a:prstGeom prst="ellipse">
            <a:avLst/>
          </a:prstGeom>
          <a:solidFill>
            <a:srgbClr val="C2562F"/>
          </a:solidFill>
          <a:ln w="12700">
            <a:solidFill>
              <a:srgbClr val="C2562F"/>
            </a:solidFill>
            <a:prstDash val="solid"/>
          </a:ln>
        </p:spPr>
      </p:sp>
      <p:pic>
        <p:nvPicPr>
          <p:cNvPr id="10" name="Problème 2 icône" descr="preencoded.png">    </p:cNvPr>
          <p:cNvPicPr>
            <a:picLocks noChangeAspect="1"/>
          </p:cNvPicPr>
          <p:nvPr/>
        </p:nvPicPr>
        <p:blipFill>
          <a:blip r:embed="rId2"/>
          <a:stretch>
            <a:fillRect/>
          </a:stretch>
        </p:blipFill>
        <p:spPr>
          <a:xfrm>
            <a:off x="974750" y="3443630"/>
            <a:ext cx="427939" cy="427939"/>
          </a:xfrm>
          <a:prstGeom prst="rect">
            <a:avLst/>
          </a:prstGeom>
        </p:spPr>
      </p:pic>
      <p:sp>
        <p:nvSpPr>
          <p:cNvPr id="11" name="Text 7"/>
          <p:cNvSpPr txBox="1"/>
          <p:nvPr/>
        </p:nvSpPr>
        <p:spPr>
          <a:xfrm>
            <a:off x="1828800" y="3200400"/>
            <a:ext cx="5212080" cy="41148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Informations manquantes</a:t>
            </a:r>
            <a:endParaRPr lang="en-US" sz="2000" dirty="0"/>
          </a:p>
        </p:txBody>
      </p:sp>
      <p:sp>
        <p:nvSpPr>
          <p:cNvPr id="12" name="Text 8"/>
          <p:cNvSpPr txBox="1"/>
          <p:nvPr/>
        </p:nvSpPr>
        <p:spPr>
          <a:xfrm>
            <a:off x="1828800" y="3639312"/>
            <a:ext cx="5212080" cy="548640"/>
          </a:xfrm>
          <a:prstGeom prst="rect">
            <a:avLst/>
          </a:prstGeom>
          <a:noFill/>
          <a:ln/>
        </p:spPr>
        <p:txBody>
          <a:bodyPr wrap="square" lIns="0" tIns="0" rIns="0" bIns="0" rtlCol="0" anchor="t"/>
          <a:lstStyle/>
          <a:p>
            <a:pPr indent="0" marL="0">
              <a:buNone/>
            </a:pPr>
            <a:r>
              <a:rPr lang="en-US" sz="1500" dirty="0">
                <a:solidFill>
                  <a:schemeClr val="accent4"/>
                </a:solidFill>
                <a:latin typeface="Calibri" pitchFamily="34" charset="0"/>
                <a:ea typeface="Calibri" pitchFamily="34" charset="-122"/>
                <a:cs typeface="Calibri" pitchFamily="34" charset="-120"/>
              </a:rPr>
              <a:t>Eau, électricité, état, disponibilité : souvent absents ou périmés.</a:t>
            </a:r>
            <a:endParaRPr lang="en-US" sz="1500" dirty="0"/>
          </a:p>
        </p:txBody>
      </p:sp>
      <p:sp>
        <p:nvSpPr>
          <p:cNvPr id="13" name="Problème 3"/>
          <p:cNvSpPr/>
          <p:nvPr/>
        </p:nvSpPr>
        <p:spPr>
          <a:xfrm>
            <a:off x="548640" y="4526280"/>
            <a:ext cx="6675120" cy="1280160"/>
          </a:xfrm>
          <a:prstGeom prst="roundRect">
            <a:avLst>
              <a:gd name="adj" fmla="val 8571"/>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14" name="Problème 3 cercle"/>
          <p:cNvSpPr/>
          <p:nvPr/>
        </p:nvSpPr>
        <p:spPr>
          <a:xfrm>
            <a:off x="777240" y="4754880"/>
            <a:ext cx="822960" cy="822960"/>
          </a:xfrm>
          <a:prstGeom prst="ellipse">
            <a:avLst/>
          </a:prstGeom>
          <a:solidFill>
            <a:srgbClr val="C2562F"/>
          </a:solidFill>
          <a:ln w="12700">
            <a:solidFill>
              <a:srgbClr val="C2562F"/>
            </a:solidFill>
            <a:prstDash val="solid"/>
          </a:ln>
        </p:spPr>
      </p:sp>
      <p:pic>
        <p:nvPicPr>
          <p:cNvPr id="15" name="Problème 3 icône" descr="preencoded.png">    </p:cNvPr>
          <p:cNvPicPr>
            <a:picLocks noChangeAspect="1"/>
          </p:cNvPicPr>
          <p:nvPr/>
        </p:nvPicPr>
        <p:blipFill>
          <a:blip r:embed="rId3"/>
          <a:stretch>
            <a:fillRect/>
          </a:stretch>
        </p:blipFill>
        <p:spPr>
          <a:xfrm>
            <a:off x="974750" y="4952390"/>
            <a:ext cx="427939" cy="427939"/>
          </a:xfrm>
          <a:prstGeom prst="rect">
            <a:avLst/>
          </a:prstGeom>
        </p:spPr>
      </p:pic>
      <p:sp>
        <p:nvSpPr>
          <p:cNvPr id="16" name="Text 11"/>
          <p:cNvSpPr txBox="1"/>
          <p:nvPr/>
        </p:nvSpPr>
        <p:spPr>
          <a:xfrm>
            <a:off x="1828800" y="4709160"/>
            <a:ext cx="5212080" cy="41148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Arnaques</a:t>
            </a:r>
            <a:endParaRPr lang="en-US" sz="2000" dirty="0"/>
          </a:p>
        </p:txBody>
      </p:sp>
      <p:sp>
        <p:nvSpPr>
          <p:cNvPr id="17" name="Text 12"/>
          <p:cNvSpPr txBox="1"/>
          <p:nvPr/>
        </p:nvSpPr>
        <p:spPr>
          <a:xfrm>
            <a:off x="1828800" y="5148072"/>
            <a:ext cx="5212080" cy="548640"/>
          </a:xfrm>
          <a:prstGeom prst="rect">
            <a:avLst/>
          </a:prstGeom>
          <a:noFill/>
          <a:ln/>
        </p:spPr>
        <p:txBody>
          <a:bodyPr wrap="square" lIns="0" tIns="0" rIns="0" bIns="0" rtlCol="0" anchor="t"/>
          <a:lstStyle/>
          <a:p>
            <a:pPr indent="0" marL="0">
              <a:buNone/>
            </a:pPr>
            <a:r>
              <a:rPr lang="en-US" sz="1500" dirty="0">
                <a:solidFill>
                  <a:schemeClr val="accent4"/>
                </a:solidFill>
                <a:latin typeface="Calibri" pitchFamily="34" charset="0"/>
                <a:ea typeface="Calibri" pitchFamily="34" charset="-122"/>
                <a:cs typeface="Calibri" pitchFamily="34" charset="-120"/>
              </a:rPr>
              <a:t>Avance ou caution demandée avant toute visite, faux bailleurs.</a:t>
            </a:r>
            <a:endParaRPr lang="en-US" sz="1500" dirty="0"/>
          </a:p>
        </p:txBody>
      </p:sp>
      <p:sp>
        <p:nvSpPr>
          <p:cNvPr id="18" name="Utilisateurs cibles"/>
          <p:cNvSpPr/>
          <p:nvPr/>
        </p:nvSpPr>
        <p:spPr>
          <a:xfrm>
            <a:off x="7680960" y="1508760"/>
            <a:ext cx="3959352" cy="4297680"/>
          </a:xfrm>
          <a:prstGeom prst="roundRect">
            <a:avLst>
              <a:gd name="adj" fmla="val 2771"/>
            </a:avLst>
          </a:prstGeom>
          <a:solidFill>
            <a:srgbClr val="0A4A39"/>
          </a:solidFill>
          <a:ln w="12700">
            <a:solidFill>
              <a:srgbClr val="0A4A39"/>
            </a:solidFill>
            <a:prstDash val="solid"/>
          </a:ln>
          <a:effectLst>
            <a:outerShdw sx="100000" sy="100000" kx="0" ky="0" algn="bl" rotWithShape="0" blurRad="101600" dist="25400" dir="5400000">
              <a:srgbClr val="14231C">
                <a:alpha val="12000"/>
              </a:srgbClr>
            </a:outerShdw>
          </a:effectLst>
        </p:spPr>
      </p:sp>
      <p:sp>
        <p:nvSpPr>
          <p:cNvPr id="19" name="Text 14"/>
          <p:cNvSpPr txBox="1"/>
          <p:nvPr/>
        </p:nvSpPr>
        <p:spPr>
          <a:xfrm>
            <a:off x="8001000" y="1737360"/>
            <a:ext cx="3383280" cy="457200"/>
          </a:xfrm>
          <a:prstGeom prst="rect">
            <a:avLst/>
          </a:prstGeom>
          <a:noFill/>
          <a:ln/>
        </p:spPr>
        <p:txBody>
          <a:bodyPr wrap="square" lIns="0" tIns="0" rIns="0" bIns="0" rtlCol="0" anchor="t"/>
          <a:lstStyle/>
          <a:p>
            <a:pPr indent="0" marL="0">
              <a:buNone/>
            </a:pPr>
            <a:r>
              <a:rPr lang="en-US" sz="2200" b="1" dirty="0">
                <a:solidFill>
                  <a:schemeClr val="bg1"/>
                </a:solidFill>
                <a:latin typeface="Arial" pitchFamily="34" charset="0"/>
                <a:ea typeface="Arial" pitchFamily="34" charset="-122"/>
                <a:cs typeface="Arial" pitchFamily="34" charset="-120"/>
              </a:rPr>
              <a:t>Pour qui ?</a:t>
            </a:r>
            <a:endParaRPr lang="en-US" sz="2200" dirty="0"/>
          </a:p>
        </p:txBody>
      </p:sp>
      <p:sp>
        <p:nvSpPr>
          <p:cNvPr id="20" name="Text 15"/>
          <p:cNvSpPr txBox="1"/>
          <p:nvPr/>
        </p:nvSpPr>
        <p:spPr>
          <a:xfrm>
            <a:off x="8001000" y="2331720"/>
            <a:ext cx="3383280" cy="3291840"/>
          </a:xfrm>
          <a:prstGeom prst="rect">
            <a:avLst/>
          </a:prstGeom>
          <a:noFill/>
          <a:ln/>
        </p:spPr>
        <p:txBody>
          <a:bodyPr wrap="square" lIns="0" tIns="0" rIns="0" bIns="0" rtlCol="0" anchor="t"/>
          <a:lstStyle/>
          <a:p>
            <a:pPr indent="0" marL="0">
              <a:buNone/>
            </a:pPr>
            <a:r>
              <a:rPr lang="en-US" sz="1600" b="1" dirty="0">
                <a:solidFill>
                  <a:schemeClr val="bg1"/>
                </a:solidFill>
                <a:latin typeface="Calibri" pitchFamily="34" charset="0"/>
                <a:ea typeface="Calibri" pitchFamily="34" charset="-122"/>
                <a:cs typeface="Calibri" pitchFamily="34" charset="-120"/>
              </a:rPr>
              <a:t>Locataires</a:t>
            </a:r>
            <a:endParaRPr lang="en-US" sz="1600" dirty="0"/>
          </a:p>
          <a:p>
            <a:pPr indent="0" marL="0">
              <a:buNone/>
            </a:pPr>
            <a:r>
              <a:rPr lang="en-US" sz="1600" dirty="0">
                <a:solidFill>
                  <a:schemeClr val="accent3"/>
                </a:solidFill>
                <a:latin typeface="Calibri" pitchFamily="34" charset="0"/>
                <a:ea typeface="Calibri" pitchFamily="34" charset="-122"/>
                <a:cs typeface="Calibri" pitchFamily="34" charset="-120"/>
              </a:rPr>
              <a:t>étudiants, jeunes actifs et familles à Douala et Yaoundé</a:t>
            </a:r>
            <a:endParaRPr lang="en-US" sz="1600" dirty="0"/>
          </a:p>
          <a:p>
            <a:pPr indent="0" marL="0">
              <a:buNone/>
            </a:pPr>
            <a:r>
              <a:rPr lang="en-US" sz="800" dirty="0">
                <a:solidFill>
                  <a:schemeClr val="tx1"/>
                </a:solidFill>
                <a:latin typeface="Calibri" pitchFamily="34" charset="0"/>
                <a:ea typeface="Calibri" pitchFamily="34" charset="-122"/>
                <a:cs typeface="Calibri" pitchFamily="34" charset="-120"/>
              </a:rPr>
              <a:t> </a:t>
            </a:r>
            <a:endParaRPr lang="en-US" sz="1600" dirty="0"/>
          </a:p>
          <a:p>
            <a:pPr indent="0" marL="0">
              <a:buNone/>
            </a:pPr>
            <a:r>
              <a:rPr lang="en-US" sz="1600" b="1" dirty="0">
                <a:solidFill>
                  <a:schemeClr val="bg1"/>
                </a:solidFill>
                <a:latin typeface="Calibri" pitchFamily="34" charset="0"/>
                <a:ea typeface="Calibri" pitchFamily="34" charset="-122"/>
                <a:cs typeface="Calibri" pitchFamily="34" charset="-120"/>
              </a:rPr>
              <a:t>Propriétaires</a:t>
            </a:r>
            <a:endParaRPr lang="en-US" sz="1600" dirty="0"/>
          </a:p>
          <a:p>
            <a:pPr indent="0" marL="0">
              <a:buNone/>
            </a:pPr>
            <a:r>
              <a:rPr lang="en-US" sz="1600" dirty="0">
                <a:solidFill>
                  <a:schemeClr val="accent3"/>
                </a:solidFill>
                <a:latin typeface="Calibri" pitchFamily="34" charset="0"/>
                <a:ea typeface="Calibri" pitchFamily="34" charset="-122"/>
                <a:cs typeface="Calibri" pitchFamily="34" charset="-120"/>
              </a:rPr>
              <a:t>qui veulent publier sans intermédiaire, avec validation</a:t>
            </a:r>
            <a:endParaRPr lang="en-US" sz="1600" dirty="0"/>
          </a:p>
          <a:p>
            <a:pPr indent="0" marL="0">
              <a:buNone/>
            </a:pPr>
            <a:r>
              <a:rPr lang="en-US" sz="800" dirty="0">
                <a:solidFill>
                  <a:schemeClr val="tx1"/>
                </a:solidFill>
                <a:latin typeface="Calibri" pitchFamily="34" charset="0"/>
                <a:ea typeface="Calibri" pitchFamily="34" charset="-122"/>
                <a:cs typeface="Calibri" pitchFamily="34" charset="-120"/>
              </a:rPr>
              <a:t> </a:t>
            </a:r>
            <a:endParaRPr lang="en-US" sz="1600" dirty="0"/>
          </a:p>
          <a:p>
            <a:pPr indent="0" marL="0">
              <a:buNone/>
            </a:pPr>
            <a:r>
              <a:rPr lang="en-US" sz="1600" b="1" dirty="0">
                <a:solidFill>
                  <a:schemeClr val="bg1"/>
                </a:solidFill>
                <a:latin typeface="Calibri" pitchFamily="34" charset="0"/>
                <a:ea typeface="Calibri" pitchFamily="34" charset="-122"/>
                <a:cs typeface="Calibri" pitchFamily="34" charset="-120"/>
              </a:rPr>
              <a:t>Administrateurs</a:t>
            </a:r>
            <a:endParaRPr lang="en-US" sz="1600" dirty="0"/>
          </a:p>
          <a:p>
            <a:pPr indent="0" marL="0">
              <a:buNone/>
            </a:pPr>
            <a:r>
              <a:rPr lang="en-US" sz="1600" dirty="0">
                <a:solidFill>
                  <a:schemeClr val="accent3"/>
                </a:solidFill>
                <a:latin typeface="Calibri" pitchFamily="34" charset="0"/>
                <a:ea typeface="Calibri" pitchFamily="34" charset="-122"/>
                <a:cs typeface="Calibri" pitchFamily="34" charset="-120"/>
              </a:rPr>
              <a:t>qui valident les annonces avant publication</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Une conversation qui fait vraiment le travail</a:t>
            </a:r>
            <a:endParaRPr lang="en-US" sz="3400" dirty="0"/>
          </a:p>
        </p:txBody>
      </p:sp>
      <p:sp>
        <p:nvSpPr>
          <p:cNvPr id="3" name="Fonction 1 cercle"/>
          <p:cNvSpPr/>
          <p:nvPr/>
        </p:nvSpPr>
        <p:spPr>
          <a:xfrm>
            <a:off x="548640" y="1463040"/>
            <a:ext cx="566928" cy="566928"/>
          </a:xfrm>
          <a:prstGeom prst="ellipse">
            <a:avLst/>
          </a:prstGeom>
          <a:solidFill>
            <a:srgbClr val="0F6B52"/>
          </a:solidFill>
          <a:ln w="12700">
            <a:solidFill>
              <a:srgbClr val="0F6B52"/>
            </a:solidFill>
            <a:prstDash val="solid"/>
          </a:ln>
        </p:spPr>
      </p:sp>
      <p:pic>
        <p:nvPicPr>
          <p:cNvPr id="4" name="Fonction 1 icône" descr="preencoded.png">    </p:cNvPr>
          <p:cNvPicPr>
            <a:picLocks noChangeAspect="1"/>
          </p:cNvPicPr>
          <p:nvPr/>
        </p:nvPicPr>
        <p:blipFill>
          <a:blip r:embed="rId1"/>
          <a:stretch>
            <a:fillRect/>
          </a:stretch>
        </p:blipFill>
        <p:spPr>
          <a:xfrm>
            <a:off x="684703" y="1599103"/>
            <a:ext cx="294803" cy="294803"/>
          </a:xfrm>
          <a:prstGeom prst="rect">
            <a:avLst/>
          </a:prstGeom>
        </p:spPr>
      </p:pic>
      <p:sp>
        <p:nvSpPr>
          <p:cNvPr id="5" name="Text 2"/>
          <p:cNvSpPr txBox="1"/>
          <p:nvPr/>
        </p:nvSpPr>
        <p:spPr>
          <a:xfrm>
            <a:off x="1325880" y="1536192"/>
            <a:ext cx="4480560" cy="45720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Demande en français, au clavier ou à la voix</a:t>
            </a:r>
            <a:endParaRPr lang="en-US" sz="1600" dirty="0"/>
          </a:p>
        </p:txBody>
      </p:sp>
      <p:sp>
        <p:nvSpPr>
          <p:cNvPr id="6" name="Fonction 2 cercle"/>
          <p:cNvSpPr/>
          <p:nvPr/>
        </p:nvSpPr>
        <p:spPr>
          <a:xfrm>
            <a:off x="548640" y="2249424"/>
            <a:ext cx="566928" cy="566928"/>
          </a:xfrm>
          <a:prstGeom prst="ellipse">
            <a:avLst/>
          </a:prstGeom>
          <a:solidFill>
            <a:srgbClr val="0F6B52"/>
          </a:solidFill>
          <a:ln w="12700">
            <a:solidFill>
              <a:srgbClr val="0F6B52"/>
            </a:solidFill>
            <a:prstDash val="solid"/>
          </a:ln>
        </p:spPr>
      </p:sp>
      <p:pic>
        <p:nvPicPr>
          <p:cNvPr id="7" name="Fonction 2 icône" descr="preencoded.png">    </p:cNvPr>
          <p:cNvPicPr>
            <a:picLocks noChangeAspect="1"/>
          </p:cNvPicPr>
          <p:nvPr/>
        </p:nvPicPr>
        <p:blipFill>
          <a:blip r:embed="rId2"/>
          <a:stretch>
            <a:fillRect/>
          </a:stretch>
        </p:blipFill>
        <p:spPr>
          <a:xfrm>
            <a:off x="684703" y="2385487"/>
            <a:ext cx="294803" cy="294803"/>
          </a:xfrm>
          <a:prstGeom prst="rect">
            <a:avLst/>
          </a:prstGeom>
        </p:spPr>
      </p:pic>
      <p:sp>
        <p:nvSpPr>
          <p:cNvPr id="8" name="Text 4"/>
          <p:cNvSpPr txBox="1"/>
          <p:nvPr/>
        </p:nvSpPr>
        <p:spPr>
          <a:xfrm>
            <a:off x="1325880" y="2322576"/>
            <a:ext cx="4480560" cy="45720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Résultats classés, expliqués, points à vérifier</a:t>
            </a:r>
            <a:endParaRPr lang="en-US" sz="1600" dirty="0"/>
          </a:p>
        </p:txBody>
      </p:sp>
      <p:sp>
        <p:nvSpPr>
          <p:cNvPr id="9" name="Fonction 3 cercle"/>
          <p:cNvSpPr/>
          <p:nvPr/>
        </p:nvSpPr>
        <p:spPr>
          <a:xfrm>
            <a:off x="548640" y="3035808"/>
            <a:ext cx="566928" cy="566928"/>
          </a:xfrm>
          <a:prstGeom prst="ellipse">
            <a:avLst/>
          </a:prstGeom>
          <a:solidFill>
            <a:srgbClr val="0F6B52"/>
          </a:solidFill>
          <a:ln w="12700">
            <a:solidFill>
              <a:srgbClr val="0F6B52"/>
            </a:solidFill>
            <a:prstDash val="solid"/>
          </a:ln>
        </p:spPr>
      </p:sp>
      <p:pic>
        <p:nvPicPr>
          <p:cNvPr id="10" name="Fonction 3 icône" descr="preencoded.png">    </p:cNvPr>
          <p:cNvPicPr>
            <a:picLocks noChangeAspect="1"/>
          </p:cNvPicPr>
          <p:nvPr/>
        </p:nvPicPr>
        <p:blipFill>
          <a:blip r:embed="rId3"/>
          <a:stretch>
            <a:fillRect/>
          </a:stretch>
        </p:blipFill>
        <p:spPr>
          <a:xfrm>
            <a:off x="684703" y="3171871"/>
            <a:ext cx="294803" cy="294803"/>
          </a:xfrm>
          <a:prstGeom prst="rect">
            <a:avLst/>
          </a:prstGeom>
        </p:spPr>
      </p:pic>
      <p:sp>
        <p:nvSpPr>
          <p:cNvPr id="11" name="Text 6"/>
          <p:cNvSpPr txBox="1"/>
          <p:nvPr/>
        </p:nvSpPr>
        <p:spPr>
          <a:xfrm>
            <a:off x="1325880" y="3108960"/>
            <a:ext cx="4480560" cy="45720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Comparaison et questions sur une annonce</a:t>
            </a:r>
            <a:endParaRPr lang="en-US" sz="1600" dirty="0"/>
          </a:p>
        </p:txBody>
      </p:sp>
      <p:sp>
        <p:nvSpPr>
          <p:cNvPr id="12" name="Fonction 4 cercle"/>
          <p:cNvSpPr/>
          <p:nvPr/>
        </p:nvSpPr>
        <p:spPr>
          <a:xfrm>
            <a:off x="548640" y="3822192"/>
            <a:ext cx="566928" cy="566928"/>
          </a:xfrm>
          <a:prstGeom prst="ellipse">
            <a:avLst/>
          </a:prstGeom>
          <a:solidFill>
            <a:srgbClr val="0F6B52"/>
          </a:solidFill>
          <a:ln w="12700">
            <a:solidFill>
              <a:srgbClr val="0F6B52"/>
            </a:solidFill>
            <a:prstDash val="solid"/>
          </a:ln>
        </p:spPr>
      </p:sp>
      <p:pic>
        <p:nvPicPr>
          <p:cNvPr id="13" name="Fonction 4 icône" descr="preencoded.png">    </p:cNvPr>
          <p:cNvPicPr>
            <a:picLocks noChangeAspect="1"/>
          </p:cNvPicPr>
          <p:nvPr/>
        </p:nvPicPr>
        <p:blipFill>
          <a:blip r:embed="rId4"/>
          <a:stretch>
            <a:fillRect/>
          </a:stretch>
        </p:blipFill>
        <p:spPr>
          <a:xfrm>
            <a:off x="684703" y="3958255"/>
            <a:ext cx="294803" cy="294803"/>
          </a:xfrm>
          <a:prstGeom prst="rect">
            <a:avLst/>
          </a:prstGeom>
        </p:spPr>
      </p:pic>
      <p:sp>
        <p:nvSpPr>
          <p:cNvPr id="14" name="Text 8"/>
          <p:cNvSpPr txBox="1"/>
          <p:nvPr/>
        </p:nvSpPr>
        <p:spPr>
          <a:xfrm>
            <a:off x="1325880" y="3895344"/>
            <a:ext cx="4480560" cy="45720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Photo réelle ou illustration IA d'une pièce</a:t>
            </a:r>
            <a:endParaRPr lang="en-US" sz="1600" dirty="0"/>
          </a:p>
        </p:txBody>
      </p:sp>
      <p:sp>
        <p:nvSpPr>
          <p:cNvPr id="15" name="Fonction 5 cercle"/>
          <p:cNvSpPr/>
          <p:nvPr/>
        </p:nvSpPr>
        <p:spPr>
          <a:xfrm>
            <a:off x="548640" y="4608576"/>
            <a:ext cx="566928" cy="566928"/>
          </a:xfrm>
          <a:prstGeom prst="ellipse">
            <a:avLst/>
          </a:prstGeom>
          <a:solidFill>
            <a:srgbClr val="0F6B52"/>
          </a:solidFill>
          <a:ln w="12700">
            <a:solidFill>
              <a:srgbClr val="0F6B52"/>
            </a:solidFill>
            <a:prstDash val="solid"/>
          </a:ln>
        </p:spPr>
      </p:sp>
      <p:pic>
        <p:nvPicPr>
          <p:cNvPr id="16" name="Fonction 5 icône" descr="preencoded.png">    </p:cNvPr>
          <p:cNvPicPr>
            <a:picLocks noChangeAspect="1"/>
          </p:cNvPicPr>
          <p:nvPr/>
        </p:nvPicPr>
        <p:blipFill>
          <a:blip r:embed="rId5"/>
          <a:stretch>
            <a:fillRect/>
          </a:stretch>
        </p:blipFill>
        <p:spPr>
          <a:xfrm>
            <a:off x="684703" y="4744639"/>
            <a:ext cx="294803" cy="294803"/>
          </a:xfrm>
          <a:prstGeom prst="rect">
            <a:avLst/>
          </a:prstGeom>
        </p:spPr>
      </p:pic>
      <p:sp>
        <p:nvSpPr>
          <p:cNvPr id="17" name="Text 10"/>
          <p:cNvSpPr txBox="1"/>
          <p:nvPr/>
        </p:nvSpPr>
        <p:spPr>
          <a:xfrm>
            <a:off x="1325880" y="4681728"/>
            <a:ext cx="4480560" cy="45720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Dépôt d'annonce validé par un administrateur</a:t>
            </a:r>
            <a:endParaRPr lang="en-US" sz="1600" dirty="0"/>
          </a:p>
        </p:txBody>
      </p:sp>
      <p:sp>
        <p:nvSpPr>
          <p:cNvPr id="18" name="Fonction 6 cercle"/>
          <p:cNvSpPr/>
          <p:nvPr/>
        </p:nvSpPr>
        <p:spPr>
          <a:xfrm>
            <a:off x="548640" y="5394960"/>
            <a:ext cx="566928" cy="566928"/>
          </a:xfrm>
          <a:prstGeom prst="ellipse">
            <a:avLst/>
          </a:prstGeom>
          <a:solidFill>
            <a:srgbClr val="0F6B52"/>
          </a:solidFill>
          <a:ln w="12700">
            <a:solidFill>
              <a:srgbClr val="0F6B52"/>
            </a:solidFill>
            <a:prstDash val="solid"/>
          </a:ln>
        </p:spPr>
      </p:sp>
      <p:pic>
        <p:nvPicPr>
          <p:cNvPr id="19" name="Fonction 6 icône" descr="preencoded.png">    </p:cNvPr>
          <p:cNvPicPr>
            <a:picLocks noChangeAspect="1"/>
          </p:cNvPicPr>
          <p:nvPr/>
        </p:nvPicPr>
        <p:blipFill>
          <a:blip r:embed="rId6"/>
          <a:stretch>
            <a:fillRect/>
          </a:stretch>
        </p:blipFill>
        <p:spPr>
          <a:xfrm>
            <a:off x="684703" y="5531023"/>
            <a:ext cx="294803" cy="294803"/>
          </a:xfrm>
          <a:prstGeom prst="rect">
            <a:avLst/>
          </a:prstGeom>
        </p:spPr>
      </p:pic>
      <p:sp>
        <p:nvSpPr>
          <p:cNvPr id="20" name="Text 12"/>
          <p:cNvSpPr txBox="1"/>
          <p:nvPr/>
        </p:nvSpPr>
        <p:spPr>
          <a:xfrm>
            <a:off x="1325880" y="5468112"/>
            <a:ext cx="4480560" cy="45720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Arnaques au paiement et injections bloquées</a:t>
            </a:r>
            <a:endParaRPr lang="en-US" sz="1600" dirty="0"/>
          </a:p>
        </p:txBody>
      </p:sp>
      <p:pic>
        <p:nvPicPr>
          <p:cNvPr id="21" name="Capture du chat" descr="Capture de Kwatsur : réponse rédigée par Nemotron via Meterless, trace Scout et refus d'un paiement">    </p:cNvPr>
          <p:cNvPicPr>
            <a:picLocks noChangeAspect="1"/>
          </p:cNvPicPr>
          <p:nvPr/>
        </p:nvPicPr>
        <p:blipFill>
          <a:blip r:embed="rId7"/>
          <a:stretch>
            <a:fillRect/>
          </a:stretch>
        </p:blipFill>
        <p:spPr>
          <a:xfrm>
            <a:off x="5989320" y="1417320"/>
            <a:ext cx="5650992" cy="3017520"/>
          </a:xfrm>
          <a:prstGeom prst="rect">
            <a:avLst/>
          </a:prstGeom>
        </p:spPr>
      </p:pic>
      <p:sp>
        <p:nvSpPr>
          <p:cNvPr id="22" name="Text 13"/>
          <p:cNvSpPr txBox="1"/>
          <p:nvPr/>
        </p:nvSpPr>
        <p:spPr>
          <a:xfrm>
            <a:off x="5989320" y="4526280"/>
            <a:ext cx="5650992" cy="548640"/>
          </a:xfrm>
          <a:prstGeom prst="rect">
            <a:avLst/>
          </a:prstGeom>
          <a:noFill/>
          <a:ln/>
        </p:spPr>
        <p:txBody>
          <a:bodyPr wrap="square" lIns="0" tIns="0" rIns="0" bIns="0" rtlCol="0" anchor="t"/>
          <a:lstStyle/>
          <a:p>
            <a:pPr indent="0" marL="0">
              <a:buNone/>
            </a:pPr>
            <a:r>
              <a:rPr lang="en-US" sz="1200" i="1" dirty="0">
                <a:solidFill>
                  <a:schemeClr val="accent6"/>
                </a:solidFill>
                <a:latin typeface="Calibri" pitchFamily="34" charset="0"/>
                <a:ea typeface="Calibri" pitchFamily="34" charset="-122"/>
                <a:cs typeface="Calibri" pitchFamily="34" charset="-120"/>
              </a:rPr>
              <a:t>Capture réelle : réponse de Nemotron via Meterless, annonces lues via Zetaris, trace Scout, puis paiement refusé.</a:t>
            </a:r>
            <a:endParaRPr lang="en-US" sz="1200" dirty="0"/>
          </a:p>
        </p:txBody>
      </p:sp>
      <p:sp>
        <p:nvSpPr>
          <p:cNvPr id="23" name="Règle d'or"/>
          <p:cNvSpPr/>
          <p:nvPr/>
        </p:nvSpPr>
        <p:spPr>
          <a:xfrm>
            <a:off x="5989320" y="5212080"/>
            <a:ext cx="5650992" cy="868680"/>
          </a:xfrm>
          <a:prstGeom prst="roundRect">
            <a:avLst>
              <a:gd name="adj" fmla="val 12632"/>
            </a:avLst>
          </a:prstGeom>
          <a:solidFill>
            <a:srgbClr val="D8EFE6"/>
          </a:solidFill>
          <a:ln w="12700">
            <a:solidFill>
              <a:srgbClr val="D8EFE6"/>
            </a:solidFill>
            <a:prstDash val="solid"/>
          </a:ln>
          <a:effectLst>
            <a:outerShdw sx="100000" sy="100000" kx="0" ky="0" algn="bl" rotWithShape="0" blurRad="101600" dist="25400" dir="5400000">
              <a:srgbClr val="14231C">
                <a:alpha val="12000"/>
              </a:srgbClr>
            </a:outerShdw>
          </a:effectLst>
        </p:spPr>
      </p:sp>
      <p:sp>
        <p:nvSpPr>
          <p:cNvPr id="24" name="Text 15"/>
          <p:cNvSpPr txBox="1"/>
          <p:nvPr/>
        </p:nvSpPr>
        <p:spPr>
          <a:xfrm>
            <a:off x="6217920" y="5349240"/>
            <a:ext cx="5212080" cy="594360"/>
          </a:xfrm>
          <a:prstGeom prst="rect">
            <a:avLst/>
          </a:prstGeom>
          <a:noFill/>
          <a:ln/>
        </p:spPr>
        <p:txBody>
          <a:bodyPr wrap="square" lIns="0" tIns="0" rIns="0" bIns="0" rtlCol="0" anchor="ctr"/>
          <a:lstStyle/>
          <a:p>
            <a:pPr indent="0" marL="0">
              <a:buNone/>
            </a:pPr>
            <a:r>
              <a:rPr lang="en-US" sz="2000" b="1" dirty="0">
                <a:solidFill>
                  <a:schemeClr val="accent1"/>
                </a:solidFill>
                <a:latin typeface="Arial" pitchFamily="34" charset="0"/>
                <a:ea typeface="Arial" pitchFamily="34" charset="-122"/>
                <a:cs typeface="Arial" pitchFamily="34" charset="-120"/>
              </a:rPr>
              <a:t>L'IA comprend et explique. Le code décide.</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Le trajet d'un message</a:t>
            </a:r>
            <a:endParaRPr lang="en-US" sz="3400" dirty="0"/>
          </a:p>
        </p:txBody>
      </p:sp>
      <p:sp>
        <p:nvSpPr>
          <p:cNvPr id="3" name="Étape 1"/>
          <p:cNvSpPr/>
          <p:nvPr/>
        </p:nvSpPr>
        <p:spPr>
          <a:xfrm>
            <a:off x="548640" y="1828800"/>
            <a:ext cx="1700784" cy="2286000"/>
          </a:xfrm>
          <a:prstGeom prst="roundRect">
            <a:avLst>
              <a:gd name="adj" fmla="val 6452"/>
            </a:avLst>
          </a:prstGeom>
          <a:solidFill>
            <a:srgbClr val="C2562F"/>
          </a:solidFill>
          <a:ln w="12700">
            <a:solidFill>
              <a:srgbClr val="C2562F"/>
            </a:solidFill>
            <a:prstDash val="solid"/>
          </a:ln>
          <a:effectLst>
            <a:outerShdw sx="100000" sy="100000" kx="0" ky="0" algn="bl" rotWithShape="0" blurRad="101600" dist="25400" dir="5400000">
              <a:srgbClr val="14231C">
                <a:alpha val="12000"/>
              </a:srgbClr>
            </a:outerShdw>
          </a:effectLst>
        </p:spPr>
      </p:sp>
      <p:sp>
        <p:nvSpPr>
          <p:cNvPr id="4" name="Text 2"/>
          <p:cNvSpPr txBox="1"/>
          <p:nvPr/>
        </p:nvSpPr>
        <p:spPr>
          <a:xfrm>
            <a:off x="731520" y="1965960"/>
            <a:ext cx="914400" cy="548640"/>
          </a:xfrm>
          <a:prstGeom prst="rect">
            <a:avLst/>
          </a:prstGeom>
          <a:noFill/>
          <a:ln/>
        </p:spPr>
        <p:txBody>
          <a:bodyPr wrap="square" lIns="0" tIns="0" rIns="0" bIns="0" rtlCol="0" anchor="t"/>
          <a:lstStyle/>
          <a:p>
            <a:pPr indent="0" marL="0">
              <a:buNone/>
            </a:pPr>
            <a:r>
              <a:rPr lang="en-US" sz="2800" b="1" dirty="0">
                <a:solidFill>
                  <a:schemeClr val="bg1"/>
                </a:solidFill>
                <a:latin typeface="Arial" pitchFamily="34" charset="0"/>
                <a:ea typeface="Arial" pitchFamily="34" charset="-122"/>
                <a:cs typeface="Arial" pitchFamily="34" charset="-120"/>
              </a:rPr>
              <a:t>1</a:t>
            </a:r>
            <a:endParaRPr lang="en-US" sz="2800" dirty="0"/>
          </a:p>
        </p:txBody>
      </p:sp>
      <p:sp>
        <p:nvSpPr>
          <p:cNvPr id="5" name="Text 3"/>
          <p:cNvSpPr txBox="1"/>
          <p:nvPr/>
        </p:nvSpPr>
        <p:spPr>
          <a:xfrm>
            <a:off x="731520" y="2606040"/>
            <a:ext cx="1380744" cy="457200"/>
          </a:xfrm>
          <a:prstGeom prst="rect">
            <a:avLst/>
          </a:prstGeom>
          <a:noFill/>
          <a:ln/>
        </p:spPr>
        <p:txBody>
          <a:bodyPr wrap="square" lIns="0" tIns="0" rIns="0" bIns="0" rtlCol="0" anchor="t"/>
          <a:lstStyle/>
          <a:p>
            <a:pPr indent="0" marL="0">
              <a:buNone/>
            </a:pPr>
            <a:r>
              <a:rPr lang="en-US" sz="1700" b="1" dirty="0">
                <a:solidFill>
                  <a:schemeClr val="bg1"/>
                </a:solidFill>
                <a:latin typeface="Calibri" pitchFamily="34" charset="0"/>
                <a:ea typeface="Calibri" pitchFamily="34" charset="-122"/>
                <a:cs typeface="Calibri" pitchFamily="34" charset="-120"/>
              </a:rPr>
              <a:t>Scout Intent</a:t>
            </a:r>
            <a:endParaRPr lang="en-US" sz="1700" dirty="0"/>
          </a:p>
        </p:txBody>
      </p:sp>
      <p:sp>
        <p:nvSpPr>
          <p:cNvPr id="6" name="Text 4"/>
          <p:cNvSpPr txBox="1"/>
          <p:nvPr/>
        </p:nvSpPr>
        <p:spPr>
          <a:xfrm>
            <a:off x="731520" y="3108960"/>
            <a:ext cx="1380744" cy="91440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Intention, garde, contrat signé</a:t>
            </a:r>
            <a:endParaRPr lang="en-US" sz="1300" dirty="0"/>
          </a:p>
        </p:txBody>
      </p:sp>
      <p:sp>
        <p:nvSpPr>
          <p:cNvPr id="7" name="Flèche 1"/>
          <p:cNvSpPr/>
          <p:nvPr/>
        </p:nvSpPr>
        <p:spPr>
          <a:xfrm rot="5400000">
            <a:off x="2256099" y="2880360"/>
            <a:ext cx="201168" cy="164592"/>
          </a:xfrm>
          <a:prstGeom prst="triangle">
            <a:avLst/>
          </a:prstGeom>
          <a:solidFill>
            <a:srgbClr val="6B7F74"/>
          </a:solidFill>
          <a:ln w="12700">
            <a:solidFill>
              <a:srgbClr val="6B7F74"/>
            </a:solidFill>
            <a:prstDash val="solid"/>
          </a:ln>
        </p:spPr>
      </p:sp>
      <p:sp>
        <p:nvSpPr>
          <p:cNvPr id="8" name="Étape 2"/>
          <p:cNvSpPr/>
          <p:nvPr/>
        </p:nvSpPr>
        <p:spPr>
          <a:xfrm>
            <a:off x="2427366" y="1828800"/>
            <a:ext cx="1700784" cy="2286000"/>
          </a:xfrm>
          <a:prstGeom prst="roundRect">
            <a:avLst>
              <a:gd name="adj" fmla="val 6452"/>
            </a:avLst>
          </a:prstGeom>
          <a:solidFill>
            <a:srgbClr val="0F6B52"/>
          </a:solidFill>
          <a:ln w="12700">
            <a:solidFill>
              <a:srgbClr val="0F6B52"/>
            </a:solidFill>
            <a:prstDash val="solid"/>
          </a:ln>
          <a:effectLst>
            <a:outerShdw sx="100000" sy="100000" kx="0" ky="0" algn="bl" rotWithShape="0" blurRad="101600" dist="25400" dir="5400000">
              <a:srgbClr val="14231C">
                <a:alpha val="12000"/>
              </a:srgbClr>
            </a:outerShdw>
          </a:effectLst>
        </p:spPr>
      </p:sp>
      <p:sp>
        <p:nvSpPr>
          <p:cNvPr id="9" name="Text 7"/>
          <p:cNvSpPr txBox="1"/>
          <p:nvPr/>
        </p:nvSpPr>
        <p:spPr>
          <a:xfrm>
            <a:off x="2610246" y="1965960"/>
            <a:ext cx="914400" cy="548640"/>
          </a:xfrm>
          <a:prstGeom prst="rect">
            <a:avLst/>
          </a:prstGeom>
          <a:noFill/>
          <a:ln/>
        </p:spPr>
        <p:txBody>
          <a:bodyPr wrap="square" lIns="0" tIns="0" rIns="0" bIns="0" rtlCol="0" anchor="t"/>
          <a:lstStyle/>
          <a:p>
            <a:pPr indent="0" marL="0">
              <a:buNone/>
            </a:pPr>
            <a:r>
              <a:rPr lang="en-US" sz="2800" b="1" dirty="0">
                <a:solidFill>
                  <a:schemeClr val="bg1"/>
                </a:solidFill>
                <a:latin typeface="Arial" pitchFamily="34" charset="0"/>
                <a:ea typeface="Arial" pitchFamily="34" charset="-122"/>
                <a:cs typeface="Arial" pitchFamily="34" charset="-120"/>
              </a:rPr>
              <a:t>2</a:t>
            </a:r>
            <a:endParaRPr lang="en-US" sz="2800" dirty="0"/>
          </a:p>
        </p:txBody>
      </p:sp>
      <p:sp>
        <p:nvSpPr>
          <p:cNvPr id="10" name="Text 8"/>
          <p:cNvSpPr txBox="1"/>
          <p:nvPr/>
        </p:nvSpPr>
        <p:spPr>
          <a:xfrm>
            <a:off x="2610246" y="2606040"/>
            <a:ext cx="1380744" cy="457200"/>
          </a:xfrm>
          <a:prstGeom prst="rect">
            <a:avLst/>
          </a:prstGeom>
          <a:noFill/>
          <a:ln/>
        </p:spPr>
        <p:txBody>
          <a:bodyPr wrap="square" lIns="0" tIns="0" rIns="0" bIns="0" rtlCol="0" anchor="t"/>
          <a:lstStyle/>
          <a:p>
            <a:pPr indent="0" marL="0">
              <a:buNone/>
            </a:pPr>
            <a:r>
              <a:rPr lang="en-US" sz="1700" b="1" dirty="0">
                <a:solidFill>
                  <a:schemeClr val="bg1"/>
                </a:solidFill>
                <a:latin typeface="Calibri" pitchFamily="34" charset="0"/>
                <a:ea typeface="Calibri" pitchFamily="34" charset="-122"/>
                <a:cs typeface="Calibri" pitchFamily="34" charset="-120"/>
              </a:rPr>
              <a:t>Nemotron</a:t>
            </a:r>
            <a:endParaRPr lang="en-US" sz="1700" dirty="0"/>
          </a:p>
        </p:txBody>
      </p:sp>
      <p:sp>
        <p:nvSpPr>
          <p:cNvPr id="11" name="Text 9"/>
          <p:cNvSpPr txBox="1"/>
          <p:nvPr/>
        </p:nvSpPr>
        <p:spPr>
          <a:xfrm>
            <a:off x="2610246" y="3108960"/>
            <a:ext cx="1380744" cy="91440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Phrase → critères JSON validés</a:t>
            </a:r>
            <a:endParaRPr lang="en-US" sz="1300" dirty="0"/>
          </a:p>
        </p:txBody>
      </p:sp>
      <p:sp>
        <p:nvSpPr>
          <p:cNvPr id="12" name="Flèche 2"/>
          <p:cNvSpPr/>
          <p:nvPr/>
        </p:nvSpPr>
        <p:spPr>
          <a:xfrm rot="5400000">
            <a:off x="4134825" y="2880360"/>
            <a:ext cx="201168" cy="164592"/>
          </a:xfrm>
          <a:prstGeom prst="triangle">
            <a:avLst/>
          </a:prstGeom>
          <a:solidFill>
            <a:srgbClr val="6B7F74"/>
          </a:solidFill>
          <a:ln w="12700">
            <a:solidFill>
              <a:srgbClr val="6B7F74"/>
            </a:solidFill>
            <a:prstDash val="solid"/>
          </a:ln>
        </p:spPr>
      </p:sp>
      <p:sp>
        <p:nvSpPr>
          <p:cNvPr id="13" name="Étape 3"/>
          <p:cNvSpPr/>
          <p:nvPr/>
        </p:nvSpPr>
        <p:spPr>
          <a:xfrm>
            <a:off x="4306092" y="1828800"/>
            <a:ext cx="1700784" cy="2286000"/>
          </a:xfrm>
          <a:prstGeom prst="roundRect">
            <a:avLst>
              <a:gd name="adj" fmla="val 6452"/>
            </a:avLst>
          </a:prstGeom>
          <a:solidFill>
            <a:srgbClr val="0F6B52"/>
          </a:solidFill>
          <a:ln w="12700">
            <a:solidFill>
              <a:srgbClr val="0F6B52"/>
            </a:solidFill>
            <a:prstDash val="solid"/>
          </a:ln>
          <a:effectLst>
            <a:outerShdw sx="100000" sy="100000" kx="0" ky="0" algn="bl" rotWithShape="0" blurRad="101600" dist="25400" dir="5400000">
              <a:srgbClr val="14231C">
                <a:alpha val="12000"/>
              </a:srgbClr>
            </a:outerShdw>
          </a:effectLst>
        </p:spPr>
      </p:sp>
      <p:sp>
        <p:nvSpPr>
          <p:cNvPr id="14" name="Text 12"/>
          <p:cNvSpPr txBox="1"/>
          <p:nvPr/>
        </p:nvSpPr>
        <p:spPr>
          <a:xfrm>
            <a:off x="4488972" y="1965960"/>
            <a:ext cx="914400" cy="548640"/>
          </a:xfrm>
          <a:prstGeom prst="rect">
            <a:avLst/>
          </a:prstGeom>
          <a:noFill/>
          <a:ln/>
        </p:spPr>
        <p:txBody>
          <a:bodyPr wrap="square" lIns="0" tIns="0" rIns="0" bIns="0" rtlCol="0" anchor="t"/>
          <a:lstStyle/>
          <a:p>
            <a:pPr indent="0" marL="0">
              <a:buNone/>
            </a:pPr>
            <a:r>
              <a:rPr lang="en-US" sz="2800" b="1" dirty="0">
                <a:solidFill>
                  <a:schemeClr val="bg1"/>
                </a:solidFill>
                <a:latin typeface="Arial" pitchFamily="34" charset="0"/>
                <a:ea typeface="Arial" pitchFamily="34" charset="-122"/>
                <a:cs typeface="Arial" pitchFamily="34" charset="-120"/>
              </a:rPr>
              <a:t>3</a:t>
            </a:r>
            <a:endParaRPr lang="en-US" sz="2800" dirty="0"/>
          </a:p>
        </p:txBody>
      </p:sp>
      <p:sp>
        <p:nvSpPr>
          <p:cNvPr id="15" name="Text 13"/>
          <p:cNvSpPr txBox="1"/>
          <p:nvPr/>
        </p:nvSpPr>
        <p:spPr>
          <a:xfrm>
            <a:off x="4488972" y="2606040"/>
            <a:ext cx="1380744" cy="457200"/>
          </a:xfrm>
          <a:prstGeom prst="rect">
            <a:avLst/>
          </a:prstGeom>
          <a:noFill/>
          <a:ln/>
        </p:spPr>
        <p:txBody>
          <a:bodyPr wrap="square" lIns="0" tIns="0" rIns="0" bIns="0" rtlCol="0" anchor="t"/>
          <a:lstStyle/>
          <a:p>
            <a:pPr indent="0" marL="0">
              <a:buNone/>
            </a:pPr>
            <a:r>
              <a:rPr lang="en-US" sz="1700" b="1" dirty="0">
                <a:solidFill>
                  <a:schemeClr val="bg1"/>
                </a:solidFill>
                <a:latin typeface="Calibri" pitchFamily="34" charset="0"/>
                <a:ea typeface="Calibri" pitchFamily="34" charset="-122"/>
                <a:cs typeface="Calibri" pitchFamily="34" charset="-120"/>
              </a:rPr>
              <a:t>Zetaris</a:t>
            </a:r>
            <a:endParaRPr lang="en-US" sz="1700" dirty="0"/>
          </a:p>
        </p:txBody>
      </p:sp>
      <p:sp>
        <p:nvSpPr>
          <p:cNvPr id="16" name="Text 14"/>
          <p:cNvSpPr txBox="1"/>
          <p:nvPr/>
        </p:nvSpPr>
        <p:spPr>
          <a:xfrm>
            <a:off x="4488972" y="3108960"/>
            <a:ext cx="1380744" cy="91440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Annonces en SQL (API REST)</a:t>
            </a:r>
            <a:endParaRPr lang="en-US" sz="1300" dirty="0"/>
          </a:p>
        </p:txBody>
      </p:sp>
      <p:sp>
        <p:nvSpPr>
          <p:cNvPr id="17" name="Flèche 3"/>
          <p:cNvSpPr/>
          <p:nvPr/>
        </p:nvSpPr>
        <p:spPr>
          <a:xfrm rot="5400000">
            <a:off x="6013552" y="2880360"/>
            <a:ext cx="201168" cy="164592"/>
          </a:xfrm>
          <a:prstGeom prst="triangle">
            <a:avLst/>
          </a:prstGeom>
          <a:solidFill>
            <a:srgbClr val="6B7F74"/>
          </a:solidFill>
          <a:ln w="12700">
            <a:solidFill>
              <a:srgbClr val="6B7F74"/>
            </a:solidFill>
            <a:prstDash val="solid"/>
          </a:ln>
        </p:spPr>
      </p:sp>
      <p:sp>
        <p:nvSpPr>
          <p:cNvPr id="18" name="Étape 4"/>
          <p:cNvSpPr/>
          <p:nvPr/>
        </p:nvSpPr>
        <p:spPr>
          <a:xfrm>
            <a:off x="6184819" y="1828800"/>
            <a:ext cx="1700784" cy="2286000"/>
          </a:xfrm>
          <a:prstGeom prst="roundRect">
            <a:avLst>
              <a:gd name="adj" fmla="val 6452"/>
            </a:avLst>
          </a:prstGeom>
          <a:solidFill>
            <a:srgbClr val="0A4A39"/>
          </a:solidFill>
          <a:ln w="12700">
            <a:solidFill>
              <a:srgbClr val="0A4A39"/>
            </a:solidFill>
            <a:prstDash val="solid"/>
          </a:ln>
          <a:effectLst>
            <a:outerShdw sx="100000" sy="100000" kx="0" ky="0" algn="bl" rotWithShape="0" blurRad="101600" dist="25400" dir="5400000">
              <a:srgbClr val="14231C">
                <a:alpha val="12000"/>
              </a:srgbClr>
            </a:outerShdw>
          </a:effectLst>
        </p:spPr>
      </p:sp>
      <p:sp>
        <p:nvSpPr>
          <p:cNvPr id="19" name="Text 17"/>
          <p:cNvSpPr txBox="1"/>
          <p:nvPr/>
        </p:nvSpPr>
        <p:spPr>
          <a:xfrm>
            <a:off x="6367699" y="1965960"/>
            <a:ext cx="914400" cy="548640"/>
          </a:xfrm>
          <a:prstGeom prst="rect">
            <a:avLst/>
          </a:prstGeom>
          <a:noFill/>
          <a:ln/>
        </p:spPr>
        <p:txBody>
          <a:bodyPr wrap="square" lIns="0" tIns="0" rIns="0" bIns="0" rtlCol="0" anchor="t"/>
          <a:lstStyle/>
          <a:p>
            <a:pPr indent="0" marL="0">
              <a:buNone/>
            </a:pPr>
            <a:r>
              <a:rPr lang="en-US" sz="2800" b="1" dirty="0">
                <a:solidFill>
                  <a:schemeClr val="bg1"/>
                </a:solidFill>
                <a:latin typeface="Arial" pitchFamily="34" charset="0"/>
                <a:ea typeface="Arial" pitchFamily="34" charset="-122"/>
                <a:cs typeface="Arial" pitchFamily="34" charset="-120"/>
              </a:rPr>
              <a:t>4</a:t>
            </a:r>
            <a:endParaRPr lang="en-US" sz="2800" dirty="0"/>
          </a:p>
        </p:txBody>
      </p:sp>
      <p:sp>
        <p:nvSpPr>
          <p:cNvPr id="20" name="Text 18"/>
          <p:cNvSpPr txBox="1"/>
          <p:nvPr/>
        </p:nvSpPr>
        <p:spPr>
          <a:xfrm>
            <a:off x="6367699" y="2606040"/>
            <a:ext cx="1380744" cy="457200"/>
          </a:xfrm>
          <a:prstGeom prst="rect">
            <a:avLst/>
          </a:prstGeom>
          <a:noFill/>
          <a:ln/>
        </p:spPr>
        <p:txBody>
          <a:bodyPr wrap="square" lIns="0" tIns="0" rIns="0" bIns="0" rtlCol="0" anchor="t"/>
          <a:lstStyle/>
          <a:p>
            <a:pPr indent="0" marL="0">
              <a:buNone/>
            </a:pPr>
            <a:r>
              <a:rPr lang="en-US" sz="1700" b="1" dirty="0">
                <a:solidFill>
                  <a:schemeClr val="bg1"/>
                </a:solidFill>
                <a:latin typeface="Calibri" pitchFamily="34" charset="0"/>
                <a:ea typeface="Calibri" pitchFamily="34" charset="-122"/>
                <a:cs typeface="Calibri" pitchFamily="34" charset="-120"/>
              </a:rPr>
              <a:t>Code Kwatsur</a:t>
            </a:r>
            <a:endParaRPr lang="en-US" sz="1700" dirty="0"/>
          </a:p>
        </p:txBody>
      </p:sp>
      <p:sp>
        <p:nvSpPr>
          <p:cNvPr id="21" name="Text 19"/>
          <p:cNvSpPr txBox="1"/>
          <p:nvPr/>
        </p:nvSpPr>
        <p:spPr>
          <a:xfrm>
            <a:off x="6367699" y="3108960"/>
            <a:ext cx="1380744" cy="91440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Filtres, classement, risques</a:t>
            </a:r>
            <a:endParaRPr lang="en-US" sz="1300" dirty="0"/>
          </a:p>
        </p:txBody>
      </p:sp>
      <p:sp>
        <p:nvSpPr>
          <p:cNvPr id="22" name="Flèche 4"/>
          <p:cNvSpPr/>
          <p:nvPr/>
        </p:nvSpPr>
        <p:spPr>
          <a:xfrm rot="5400000">
            <a:off x="7892278" y="2880360"/>
            <a:ext cx="201168" cy="164592"/>
          </a:xfrm>
          <a:prstGeom prst="triangle">
            <a:avLst/>
          </a:prstGeom>
          <a:solidFill>
            <a:srgbClr val="6B7F74"/>
          </a:solidFill>
          <a:ln w="12700">
            <a:solidFill>
              <a:srgbClr val="6B7F74"/>
            </a:solidFill>
            <a:prstDash val="solid"/>
          </a:ln>
        </p:spPr>
      </p:sp>
      <p:sp>
        <p:nvSpPr>
          <p:cNvPr id="23" name="Étape 5"/>
          <p:cNvSpPr/>
          <p:nvPr/>
        </p:nvSpPr>
        <p:spPr>
          <a:xfrm>
            <a:off x="8063545" y="1828800"/>
            <a:ext cx="1700784" cy="2286000"/>
          </a:xfrm>
          <a:prstGeom prst="roundRect">
            <a:avLst>
              <a:gd name="adj" fmla="val 6452"/>
            </a:avLst>
          </a:prstGeom>
          <a:solidFill>
            <a:srgbClr val="0F6B52"/>
          </a:solidFill>
          <a:ln w="12700">
            <a:solidFill>
              <a:srgbClr val="0F6B52"/>
            </a:solidFill>
            <a:prstDash val="solid"/>
          </a:ln>
          <a:effectLst>
            <a:outerShdw sx="100000" sy="100000" kx="0" ky="0" algn="bl" rotWithShape="0" blurRad="101600" dist="25400" dir="5400000">
              <a:srgbClr val="14231C">
                <a:alpha val="12000"/>
              </a:srgbClr>
            </a:outerShdw>
          </a:effectLst>
        </p:spPr>
      </p:sp>
      <p:sp>
        <p:nvSpPr>
          <p:cNvPr id="24" name="Text 22"/>
          <p:cNvSpPr txBox="1"/>
          <p:nvPr/>
        </p:nvSpPr>
        <p:spPr>
          <a:xfrm>
            <a:off x="8246425" y="1965960"/>
            <a:ext cx="914400" cy="548640"/>
          </a:xfrm>
          <a:prstGeom prst="rect">
            <a:avLst/>
          </a:prstGeom>
          <a:noFill/>
          <a:ln/>
        </p:spPr>
        <p:txBody>
          <a:bodyPr wrap="square" lIns="0" tIns="0" rIns="0" bIns="0" rtlCol="0" anchor="t"/>
          <a:lstStyle/>
          <a:p>
            <a:pPr indent="0" marL="0">
              <a:buNone/>
            </a:pPr>
            <a:r>
              <a:rPr lang="en-US" sz="2800" b="1" dirty="0">
                <a:solidFill>
                  <a:schemeClr val="bg1"/>
                </a:solidFill>
                <a:latin typeface="Arial" pitchFamily="34" charset="0"/>
                <a:ea typeface="Arial" pitchFamily="34" charset="-122"/>
                <a:cs typeface="Arial" pitchFamily="34" charset="-120"/>
              </a:rPr>
              <a:t>5</a:t>
            </a:r>
            <a:endParaRPr lang="en-US" sz="2800" dirty="0"/>
          </a:p>
        </p:txBody>
      </p:sp>
      <p:sp>
        <p:nvSpPr>
          <p:cNvPr id="25" name="Text 23"/>
          <p:cNvSpPr txBox="1"/>
          <p:nvPr/>
        </p:nvSpPr>
        <p:spPr>
          <a:xfrm>
            <a:off x="8246425" y="2606040"/>
            <a:ext cx="1380744" cy="457200"/>
          </a:xfrm>
          <a:prstGeom prst="rect">
            <a:avLst/>
          </a:prstGeom>
          <a:noFill/>
          <a:ln/>
        </p:spPr>
        <p:txBody>
          <a:bodyPr wrap="square" lIns="0" tIns="0" rIns="0" bIns="0" rtlCol="0" anchor="t"/>
          <a:lstStyle/>
          <a:p>
            <a:pPr indent="0" marL="0">
              <a:buNone/>
            </a:pPr>
            <a:r>
              <a:rPr lang="en-US" sz="1700" b="1" dirty="0">
                <a:solidFill>
                  <a:schemeClr val="bg1"/>
                </a:solidFill>
                <a:latin typeface="Calibri" pitchFamily="34" charset="0"/>
                <a:ea typeface="Calibri" pitchFamily="34" charset="-122"/>
                <a:cs typeface="Calibri" pitchFamily="34" charset="-120"/>
              </a:rPr>
              <a:t>Nemotron</a:t>
            </a:r>
            <a:endParaRPr lang="en-US" sz="1700" dirty="0"/>
          </a:p>
        </p:txBody>
      </p:sp>
      <p:sp>
        <p:nvSpPr>
          <p:cNvPr id="26" name="Text 24"/>
          <p:cNvSpPr txBox="1"/>
          <p:nvPr/>
        </p:nvSpPr>
        <p:spPr>
          <a:xfrm>
            <a:off x="8246425" y="3108960"/>
            <a:ext cx="1380744" cy="91440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Explication à partir des faits</a:t>
            </a:r>
            <a:endParaRPr lang="en-US" sz="1300" dirty="0"/>
          </a:p>
        </p:txBody>
      </p:sp>
      <p:sp>
        <p:nvSpPr>
          <p:cNvPr id="27" name="Flèche 5"/>
          <p:cNvSpPr/>
          <p:nvPr/>
        </p:nvSpPr>
        <p:spPr>
          <a:xfrm rot="5400000">
            <a:off x="9771004" y="2880360"/>
            <a:ext cx="201168" cy="164592"/>
          </a:xfrm>
          <a:prstGeom prst="triangle">
            <a:avLst/>
          </a:prstGeom>
          <a:solidFill>
            <a:srgbClr val="6B7F74"/>
          </a:solidFill>
          <a:ln w="12700">
            <a:solidFill>
              <a:srgbClr val="6B7F74"/>
            </a:solidFill>
            <a:prstDash val="solid"/>
          </a:ln>
        </p:spPr>
      </p:sp>
      <p:sp>
        <p:nvSpPr>
          <p:cNvPr id="28" name="Étape 6"/>
          <p:cNvSpPr/>
          <p:nvPr/>
        </p:nvSpPr>
        <p:spPr>
          <a:xfrm>
            <a:off x="9942271" y="1828800"/>
            <a:ext cx="1700784" cy="2286000"/>
          </a:xfrm>
          <a:prstGeom prst="roundRect">
            <a:avLst>
              <a:gd name="adj" fmla="val 6452"/>
            </a:avLst>
          </a:prstGeom>
          <a:solidFill>
            <a:srgbClr val="0A4A39"/>
          </a:solidFill>
          <a:ln w="12700">
            <a:solidFill>
              <a:srgbClr val="0A4A39"/>
            </a:solidFill>
            <a:prstDash val="solid"/>
          </a:ln>
          <a:effectLst>
            <a:outerShdw sx="100000" sy="100000" kx="0" ky="0" algn="bl" rotWithShape="0" blurRad="101600" dist="25400" dir="5400000">
              <a:srgbClr val="14231C">
                <a:alpha val="12000"/>
              </a:srgbClr>
            </a:outerShdw>
          </a:effectLst>
        </p:spPr>
      </p:sp>
      <p:sp>
        <p:nvSpPr>
          <p:cNvPr id="29" name="Text 27"/>
          <p:cNvSpPr txBox="1"/>
          <p:nvPr/>
        </p:nvSpPr>
        <p:spPr>
          <a:xfrm>
            <a:off x="10125151" y="1965960"/>
            <a:ext cx="914400" cy="548640"/>
          </a:xfrm>
          <a:prstGeom prst="rect">
            <a:avLst/>
          </a:prstGeom>
          <a:noFill/>
          <a:ln/>
        </p:spPr>
        <p:txBody>
          <a:bodyPr wrap="square" lIns="0" tIns="0" rIns="0" bIns="0" rtlCol="0" anchor="t"/>
          <a:lstStyle/>
          <a:p>
            <a:pPr indent="0" marL="0">
              <a:buNone/>
            </a:pPr>
            <a:r>
              <a:rPr lang="en-US" sz="2800" b="1" dirty="0">
                <a:solidFill>
                  <a:schemeClr val="bg1"/>
                </a:solidFill>
                <a:latin typeface="Arial" pitchFamily="34" charset="0"/>
                <a:ea typeface="Arial" pitchFamily="34" charset="-122"/>
                <a:cs typeface="Arial" pitchFamily="34" charset="-120"/>
              </a:rPr>
              <a:t>6</a:t>
            </a:r>
            <a:endParaRPr lang="en-US" sz="2800" dirty="0"/>
          </a:p>
        </p:txBody>
      </p:sp>
      <p:sp>
        <p:nvSpPr>
          <p:cNvPr id="30" name="Text 28"/>
          <p:cNvSpPr txBox="1"/>
          <p:nvPr/>
        </p:nvSpPr>
        <p:spPr>
          <a:xfrm>
            <a:off x="10125151" y="2606040"/>
            <a:ext cx="1380744" cy="457200"/>
          </a:xfrm>
          <a:prstGeom prst="rect">
            <a:avLst/>
          </a:prstGeom>
          <a:noFill/>
          <a:ln/>
        </p:spPr>
        <p:txBody>
          <a:bodyPr wrap="square" lIns="0" tIns="0" rIns="0" bIns="0" rtlCol="0" anchor="t"/>
          <a:lstStyle/>
          <a:p>
            <a:pPr indent="0" marL="0">
              <a:buNone/>
            </a:pPr>
            <a:r>
              <a:rPr lang="en-US" sz="1700" b="1" dirty="0">
                <a:solidFill>
                  <a:schemeClr val="bg1"/>
                </a:solidFill>
                <a:latin typeface="Calibri" pitchFamily="34" charset="0"/>
                <a:ea typeface="Calibri" pitchFamily="34" charset="-122"/>
                <a:cs typeface="Calibri" pitchFamily="34" charset="-120"/>
              </a:rPr>
              <a:t>Interface</a:t>
            </a:r>
            <a:endParaRPr lang="en-US" sz="1700" dirty="0"/>
          </a:p>
        </p:txBody>
      </p:sp>
      <p:sp>
        <p:nvSpPr>
          <p:cNvPr id="31" name="Text 29"/>
          <p:cNvSpPr txBox="1"/>
          <p:nvPr/>
        </p:nvSpPr>
        <p:spPr>
          <a:xfrm>
            <a:off x="10125151" y="3108960"/>
            <a:ext cx="1380744" cy="91440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Cartes, images, voix</a:t>
            </a:r>
            <a:endParaRPr lang="en-US" sz="1300" dirty="0"/>
          </a:p>
        </p:txBody>
      </p:sp>
      <p:sp>
        <p:nvSpPr>
          <p:cNvPr id="32" name="Garanties"/>
          <p:cNvSpPr/>
          <p:nvPr/>
        </p:nvSpPr>
        <p:spPr>
          <a:xfrm>
            <a:off x="548640" y="4526280"/>
            <a:ext cx="11094415" cy="1463040"/>
          </a:xfrm>
          <a:prstGeom prst="roundRect">
            <a:avLst>
              <a:gd name="adj" fmla="val 7500"/>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33" name="Text 31"/>
          <p:cNvSpPr txBox="1"/>
          <p:nvPr/>
        </p:nvSpPr>
        <p:spPr>
          <a:xfrm>
            <a:off x="822960" y="4681728"/>
            <a:ext cx="10545775" cy="118872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chemeClr val="tx1"/>
                </a:solidFill>
                <a:latin typeface="Calibri" pitchFamily="34" charset="0"/>
                <a:ea typeface="Calibri" pitchFamily="34" charset="-122"/>
                <a:cs typeface="Calibri" pitchFamily="34" charset="-120"/>
              </a:rPr>
              <a:t>Sans contrat Scout valide, aucun outil n'agit : contrat signé (HMAC), valable 5 min, vérifié par chaque outil.</a:t>
            </a:r>
            <a:endParaRPr lang="en-US" sz="1500" dirty="0"/>
          </a:p>
          <a:p>
            <a:pPr marL="342900" indent="-342900">
              <a:spcAft>
                <a:spcPts val="400"/>
              </a:spcAft>
              <a:buSzPct val="100000"/>
              <a:buChar char="•"/>
            </a:pPr>
            <a:r>
              <a:rPr lang="en-US" sz="1500" dirty="0">
                <a:solidFill>
                  <a:schemeClr val="tx1"/>
                </a:solidFill>
                <a:latin typeface="Calibri" pitchFamily="34" charset="0"/>
                <a:ea typeface="Calibri" pitchFamily="34" charset="-122"/>
                <a:cs typeface="Calibri" pitchFamily="34" charset="-120"/>
              </a:rPr>
              <a:t>Chaque réponse porte sa trace : intention, contrat, outils, modèle (nvidia/nemotron-3-ultra-550b-a55b), source (Zetaris).</a:t>
            </a:r>
            <a:endParaRPr lang="en-US" sz="1500" dirty="0"/>
          </a:p>
          <a:p>
            <a:pPr marL="342900" indent="-342900">
              <a:spcAft>
                <a:spcPts val="400"/>
              </a:spcAft>
              <a:buSzPct val="100000"/>
              <a:buChar char="•"/>
            </a:pPr>
            <a:r>
              <a:rPr lang="en-US" sz="1500" dirty="0">
                <a:solidFill>
                  <a:schemeClr val="tx1"/>
                </a:solidFill>
                <a:latin typeface="Calibri" pitchFamily="34" charset="0"/>
                <a:ea typeface="Calibri" pitchFamily="34" charset="-122"/>
                <a:cs typeface="Calibri" pitchFamily="34" charset="-120"/>
              </a:rPr>
              <a:t>Inconnu ≠ non : une information absente reste « non renseignée » et est signalée « à vérifier ».</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La pile technique</a:t>
            </a:r>
            <a:endParaRPr lang="en-US" sz="3400" dirty="0"/>
          </a:p>
        </p:txBody>
      </p:sp>
      <p:sp>
        <p:nvSpPr>
          <p:cNvPr id="3" name="Pile Data"/>
          <p:cNvSpPr/>
          <p:nvPr/>
        </p:nvSpPr>
        <p:spPr>
          <a:xfrm>
            <a:off x="548640" y="1508760"/>
            <a:ext cx="3538728" cy="2103120"/>
          </a:xfrm>
          <a:prstGeom prst="roundRect">
            <a:avLst>
              <a:gd name="adj" fmla="val 5217"/>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4" name="Pile Data cercle"/>
          <p:cNvSpPr/>
          <p:nvPr/>
        </p:nvSpPr>
        <p:spPr>
          <a:xfrm>
            <a:off x="822960" y="1783080"/>
            <a:ext cx="731520" cy="731520"/>
          </a:xfrm>
          <a:prstGeom prst="ellipse">
            <a:avLst/>
          </a:prstGeom>
          <a:solidFill>
            <a:srgbClr val="0F6B52"/>
          </a:solidFill>
          <a:ln w="12700">
            <a:solidFill>
              <a:srgbClr val="0F6B52"/>
            </a:solidFill>
            <a:prstDash val="solid"/>
          </a:ln>
        </p:spPr>
      </p:sp>
      <p:pic>
        <p:nvPicPr>
          <p:cNvPr id="5" name="Pile Data icône" descr="preencoded.png">    </p:cNvPr>
          <p:cNvPicPr>
            <a:picLocks noChangeAspect="1"/>
          </p:cNvPicPr>
          <p:nvPr/>
        </p:nvPicPr>
        <p:blipFill>
          <a:blip r:embed="rId1"/>
          <a:stretch>
            <a:fillRect/>
          </a:stretch>
        </p:blipFill>
        <p:spPr>
          <a:xfrm>
            <a:off x="998525" y="1958645"/>
            <a:ext cx="380390" cy="380390"/>
          </a:xfrm>
          <a:prstGeom prst="rect">
            <a:avLst/>
          </a:prstGeom>
        </p:spPr>
      </p:pic>
      <p:sp>
        <p:nvSpPr>
          <p:cNvPr id="6" name="Text 3"/>
          <p:cNvSpPr txBox="1"/>
          <p:nvPr/>
        </p:nvSpPr>
        <p:spPr>
          <a:xfrm>
            <a:off x="1737360" y="1892808"/>
            <a:ext cx="2194560" cy="45720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Data</a:t>
            </a:r>
            <a:endParaRPr lang="en-US" sz="2000" dirty="0"/>
          </a:p>
        </p:txBody>
      </p:sp>
      <p:sp>
        <p:nvSpPr>
          <p:cNvPr id="7" name="Text 4"/>
          <p:cNvSpPr txBox="1"/>
          <p:nvPr/>
        </p:nvSpPr>
        <p:spPr>
          <a:xfrm>
            <a:off x="822960" y="2651760"/>
            <a:ext cx="3017520" cy="86868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Zetaris 2.4.3 (local, Docker) · fédère la base PostgreSQL de Kwatsur</a:t>
            </a:r>
            <a:endParaRPr lang="en-US" sz="1400" dirty="0"/>
          </a:p>
        </p:txBody>
      </p:sp>
      <p:sp>
        <p:nvSpPr>
          <p:cNvPr id="8" name="Pile Power"/>
          <p:cNvSpPr/>
          <p:nvPr/>
        </p:nvSpPr>
        <p:spPr>
          <a:xfrm>
            <a:off x="4325112" y="1508760"/>
            <a:ext cx="3538728" cy="2103120"/>
          </a:xfrm>
          <a:prstGeom prst="roundRect">
            <a:avLst>
              <a:gd name="adj" fmla="val 5217"/>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9" name="Pile Power cercle"/>
          <p:cNvSpPr/>
          <p:nvPr/>
        </p:nvSpPr>
        <p:spPr>
          <a:xfrm>
            <a:off x="4599432" y="1783080"/>
            <a:ext cx="731520" cy="731520"/>
          </a:xfrm>
          <a:prstGeom prst="ellipse">
            <a:avLst/>
          </a:prstGeom>
          <a:solidFill>
            <a:srgbClr val="0F6B52"/>
          </a:solidFill>
          <a:ln w="12700">
            <a:solidFill>
              <a:srgbClr val="0F6B52"/>
            </a:solidFill>
            <a:prstDash val="solid"/>
          </a:ln>
        </p:spPr>
      </p:sp>
      <p:pic>
        <p:nvPicPr>
          <p:cNvPr id="10" name="Pile Power icône" descr="preencoded.png">    </p:cNvPr>
          <p:cNvPicPr>
            <a:picLocks noChangeAspect="1"/>
          </p:cNvPicPr>
          <p:nvPr/>
        </p:nvPicPr>
        <p:blipFill>
          <a:blip r:embed="rId2"/>
          <a:stretch>
            <a:fillRect/>
          </a:stretch>
        </p:blipFill>
        <p:spPr>
          <a:xfrm>
            <a:off x="4774997" y="1958645"/>
            <a:ext cx="380390" cy="380390"/>
          </a:xfrm>
          <a:prstGeom prst="rect">
            <a:avLst/>
          </a:prstGeom>
        </p:spPr>
      </p:pic>
      <p:sp>
        <p:nvSpPr>
          <p:cNvPr id="11" name="Text 7"/>
          <p:cNvSpPr txBox="1"/>
          <p:nvPr/>
        </p:nvSpPr>
        <p:spPr>
          <a:xfrm>
            <a:off x="5513832" y="1892808"/>
            <a:ext cx="2194560" cy="45720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Power</a:t>
            </a:r>
            <a:endParaRPr lang="en-US" sz="2000" dirty="0"/>
          </a:p>
        </p:txBody>
      </p:sp>
      <p:sp>
        <p:nvSpPr>
          <p:cNvPr id="12" name="Text 8"/>
          <p:cNvSpPr txBox="1"/>
          <p:nvPr/>
        </p:nvSpPr>
        <p:spPr>
          <a:xfrm>
            <a:off x="4599432" y="2651760"/>
            <a:ext cx="3017520" cy="86868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Meterless Nightshift · NVIDIA Nemotron 3 Ultra 550B (épinglé)</a:t>
            </a:r>
            <a:endParaRPr lang="en-US" sz="1400" dirty="0"/>
          </a:p>
        </p:txBody>
      </p:sp>
      <p:sp>
        <p:nvSpPr>
          <p:cNvPr id="13" name="Pile Build"/>
          <p:cNvSpPr/>
          <p:nvPr/>
        </p:nvSpPr>
        <p:spPr>
          <a:xfrm>
            <a:off x="8101584" y="1508760"/>
            <a:ext cx="3538728" cy="2103120"/>
          </a:xfrm>
          <a:prstGeom prst="roundRect">
            <a:avLst>
              <a:gd name="adj" fmla="val 5217"/>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14" name="Pile Build cercle"/>
          <p:cNvSpPr/>
          <p:nvPr/>
        </p:nvSpPr>
        <p:spPr>
          <a:xfrm>
            <a:off x="8375904" y="1783080"/>
            <a:ext cx="731520" cy="731520"/>
          </a:xfrm>
          <a:prstGeom prst="ellipse">
            <a:avLst/>
          </a:prstGeom>
          <a:solidFill>
            <a:srgbClr val="0F6B52"/>
          </a:solidFill>
          <a:ln w="12700">
            <a:solidFill>
              <a:srgbClr val="0F6B52"/>
            </a:solidFill>
            <a:prstDash val="solid"/>
          </a:ln>
        </p:spPr>
      </p:sp>
      <p:pic>
        <p:nvPicPr>
          <p:cNvPr id="15" name="Pile Build icône" descr="preencoded.png">    </p:cNvPr>
          <p:cNvPicPr>
            <a:picLocks noChangeAspect="1"/>
          </p:cNvPicPr>
          <p:nvPr/>
        </p:nvPicPr>
        <p:blipFill>
          <a:blip r:embed="rId3"/>
          <a:stretch>
            <a:fillRect/>
          </a:stretch>
        </p:blipFill>
        <p:spPr>
          <a:xfrm>
            <a:off x="8551469" y="1958645"/>
            <a:ext cx="380390" cy="380390"/>
          </a:xfrm>
          <a:prstGeom prst="rect">
            <a:avLst/>
          </a:prstGeom>
        </p:spPr>
      </p:pic>
      <p:sp>
        <p:nvSpPr>
          <p:cNvPr id="16" name="Text 11"/>
          <p:cNvSpPr txBox="1"/>
          <p:nvPr/>
        </p:nvSpPr>
        <p:spPr>
          <a:xfrm>
            <a:off x="9290304" y="1892808"/>
            <a:ext cx="2194560" cy="45720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Build</a:t>
            </a:r>
            <a:endParaRPr lang="en-US" sz="2000" dirty="0"/>
          </a:p>
        </p:txBody>
      </p:sp>
      <p:sp>
        <p:nvSpPr>
          <p:cNvPr id="17" name="Text 12"/>
          <p:cNvSpPr txBox="1"/>
          <p:nvPr/>
        </p:nvSpPr>
        <p:spPr>
          <a:xfrm>
            <a:off x="8375904" y="2651760"/>
            <a:ext cx="3017520" cy="86868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Meterless Scout Intent (Python) · Cursor et Claude Code · 143 tests</a:t>
            </a:r>
            <a:endParaRPr lang="en-US" sz="1400" dirty="0"/>
          </a:p>
        </p:txBody>
      </p:sp>
      <p:sp>
        <p:nvSpPr>
          <p:cNvPr id="18" name="Pile Application"/>
          <p:cNvSpPr/>
          <p:nvPr/>
        </p:nvSpPr>
        <p:spPr>
          <a:xfrm>
            <a:off x="548640" y="3886200"/>
            <a:ext cx="3538728" cy="2103120"/>
          </a:xfrm>
          <a:prstGeom prst="roundRect">
            <a:avLst>
              <a:gd name="adj" fmla="val 5217"/>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19" name="Pile Application cercle"/>
          <p:cNvSpPr/>
          <p:nvPr/>
        </p:nvSpPr>
        <p:spPr>
          <a:xfrm>
            <a:off x="822960" y="4160520"/>
            <a:ext cx="731520" cy="731520"/>
          </a:xfrm>
          <a:prstGeom prst="ellipse">
            <a:avLst/>
          </a:prstGeom>
          <a:solidFill>
            <a:srgbClr val="3D5348"/>
          </a:solidFill>
          <a:ln w="12700">
            <a:solidFill>
              <a:srgbClr val="3D5348"/>
            </a:solidFill>
            <a:prstDash val="solid"/>
          </a:ln>
        </p:spPr>
      </p:sp>
      <p:pic>
        <p:nvPicPr>
          <p:cNvPr id="20" name="Pile Application icône" descr="preencoded.png">    </p:cNvPr>
          <p:cNvPicPr>
            <a:picLocks noChangeAspect="1"/>
          </p:cNvPicPr>
          <p:nvPr/>
        </p:nvPicPr>
        <p:blipFill>
          <a:blip r:embed="rId4"/>
          <a:stretch>
            <a:fillRect/>
          </a:stretch>
        </p:blipFill>
        <p:spPr>
          <a:xfrm>
            <a:off x="998525" y="4336085"/>
            <a:ext cx="380390" cy="380390"/>
          </a:xfrm>
          <a:prstGeom prst="rect">
            <a:avLst/>
          </a:prstGeom>
        </p:spPr>
      </p:pic>
      <p:sp>
        <p:nvSpPr>
          <p:cNvPr id="21" name="Text 15"/>
          <p:cNvSpPr txBox="1"/>
          <p:nvPr/>
        </p:nvSpPr>
        <p:spPr>
          <a:xfrm>
            <a:off x="1737360" y="4270248"/>
            <a:ext cx="2194560" cy="45720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Application</a:t>
            </a:r>
            <a:endParaRPr lang="en-US" sz="2000" dirty="0"/>
          </a:p>
        </p:txBody>
      </p:sp>
      <p:sp>
        <p:nvSpPr>
          <p:cNvPr id="22" name="Text 16"/>
          <p:cNvSpPr txBox="1"/>
          <p:nvPr/>
        </p:nvSpPr>
        <p:spPr>
          <a:xfrm>
            <a:off x="822960" y="5029200"/>
            <a:ext cx="3017520" cy="86868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FastAPI · PostgreSQL 16 · Alembic · nginx · JavaScript sans framework</a:t>
            </a:r>
            <a:endParaRPr lang="en-US" sz="1400" dirty="0"/>
          </a:p>
        </p:txBody>
      </p:sp>
      <p:sp>
        <p:nvSpPr>
          <p:cNvPr id="23" name="Pile Images"/>
          <p:cNvSpPr/>
          <p:nvPr/>
        </p:nvSpPr>
        <p:spPr>
          <a:xfrm>
            <a:off x="4325112" y="3886200"/>
            <a:ext cx="3538728" cy="2103120"/>
          </a:xfrm>
          <a:prstGeom prst="roundRect">
            <a:avLst>
              <a:gd name="adj" fmla="val 5217"/>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24" name="Pile Images cercle"/>
          <p:cNvSpPr/>
          <p:nvPr/>
        </p:nvSpPr>
        <p:spPr>
          <a:xfrm>
            <a:off x="4599432" y="4160520"/>
            <a:ext cx="731520" cy="731520"/>
          </a:xfrm>
          <a:prstGeom prst="ellipse">
            <a:avLst/>
          </a:prstGeom>
          <a:solidFill>
            <a:srgbClr val="3D5348"/>
          </a:solidFill>
          <a:ln w="12700">
            <a:solidFill>
              <a:srgbClr val="3D5348"/>
            </a:solidFill>
            <a:prstDash val="solid"/>
          </a:ln>
        </p:spPr>
      </p:sp>
      <p:pic>
        <p:nvPicPr>
          <p:cNvPr id="25" name="Pile Images icône" descr="preencoded.png">    </p:cNvPr>
          <p:cNvPicPr>
            <a:picLocks noChangeAspect="1"/>
          </p:cNvPicPr>
          <p:nvPr/>
        </p:nvPicPr>
        <p:blipFill>
          <a:blip r:embed="rId5"/>
          <a:stretch>
            <a:fillRect/>
          </a:stretch>
        </p:blipFill>
        <p:spPr>
          <a:xfrm>
            <a:off x="4774997" y="4336085"/>
            <a:ext cx="380390" cy="380390"/>
          </a:xfrm>
          <a:prstGeom prst="rect">
            <a:avLst/>
          </a:prstGeom>
        </p:spPr>
      </p:pic>
      <p:sp>
        <p:nvSpPr>
          <p:cNvPr id="26" name="Text 19"/>
          <p:cNvSpPr txBox="1"/>
          <p:nvPr/>
        </p:nvSpPr>
        <p:spPr>
          <a:xfrm>
            <a:off x="5513832" y="4270248"/>
            <a:ext cx="2194560" cy="45720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Images</a:t>
            </a:r>
            <a:endParaRPr lang="en-US" sz="2000" dirty="0"/>
          </a:p>
        </p:txBody>
      </p:sp>
      <p:sp>
        <p:nvSpPr>
          <p:cNvPr id="27" name="Text 20"/>
          <p:cNvSpPr txBox="1"/>
          <p:nvPr/>
        </p:nvSpPr>
        <p:spPr>
          <a:xfrm>
            <a:off x="4599432" y="5029200"/>
            <a:ext cx="3017520" cy="86868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Cloudflare Workers AI : FLUX.1 schnell (génération), LLaVA (vision)</a:t>
            </a:r>
            <a:endParaRPr lang="en-US" sz="1400" dirty="0"/>
          </a:p>
        </p:txBody>
      </p:sp>
      <p:sp>
        <p:nvSpPr>
          <p:cNvPr id="28" name="Pile Déploiement"/>
          <p:cNvSpPr/>
          <p:nvPr/>
        </p:nvSpPr>
        <p:spPr>
          <a:xfrm>
            <a:off x="8101584" y="3886200"/>
            <a:ext cx="3538728" cy="2103120"/>
          </a:xfrm>
          <a:prstGeom prst="roundRect">
            <a:avLst>
              <a:gd name="adj" fmla="val 5217"/>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29" name="Pile Déploiement cercle"/>
          <p:cNvSpPr/>
          <p:nvPr/>
        </p:nvSpPr>
        <p:spPr>
          <a:xfrm>
            <a:off x="8375904" y="4160520"/>
            <a:ext cx="731520" cy="731520"/>
          </a:xfrm>
          <a:prstGeom prst="ellipse">
            <a:avLst/>
          </a:prstGeom>
          <a:solidFill>
            <a:srgbClr val="3D5348"/>
          </a:solidFill>
          <a:ln w="12700">
            <a:solidFill>
              <a:srgbClr val="3D5348"/>
            </a:solidFill>
            <a:prstDash val="solid"/>
          </a:ln>
        </p:spPr>
      </p:sp>
      <p:pic>
        <p:nvPicPr>
          <p:cNvPr id="30" name="Pile Déploiement icône" descr="preencoded.png">    </p:cNvPr>
          <p:cNvPicPr>
            <a:picLocks noChangeAspect="1"/>
          </p:cNvPicPr>
          <p:nvPr/>
        </p:nvPicPr>
        <p:blipFill>
          <a:blip r:embed="rId6"/>
          <a:stretch>
            <a:fillRect/>
          </a:stretch>
        </p:blipFill>
        <p:spPr>
          <a:xfrm>
            <a:off x="8551469" y="4336085"/>
            <a:ext cx="380390" cy="380390"/>
          </a:xfrm>
          <a:prstGeom prst="rect">
            <a:avLst/>
          </a:prstGeom>
        </p:spPr>
      </p:pic>
      <p:sp>
        <p:nvSpPr>
          <p:cNvPr id="31" name="Text 23"/>
          <p:cNvSpPr txBox="1"/>
          <p:nvPr/>
        </p:nvSpPr>
        <p:spPr>
          <a:xfrm>
            <a:off x="9290304" y="4270248"/>
            <a:ext cx="2194560" cy="45720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Déploiement</a:t>
            </a:r>
            <a:endParaRPr lang="en-US" sz="2000" dirty="0"/>
          </a:p>
        </p:txBody>
      </p:sp>
      <p:sp>
        <p:nvSpPr>
          <p:cNvPr id="32" name="Text 24"/>
          <p:cNvSpPr txBox="1"/>
          <p:nvPr/>
        </p:nvSpPr>
        <p:spPr>
          <a:xfrm>
            <a:off x="8375904" y="5029200"/>
            <a:ext cx="3017520" cy="86868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Docker Compose dans WSL · Web Speech (voix) · SAMPLE_MODE de repli</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Zetaris, couche de données de l'agent</a:t>
            </a:r>
            <a:endParaRPr lang="en-US" sz="3400" dirty="0"/>
          </a:p>
        </p:txBody>
      </p:sp>
      <p:sp>
        <p:nvSpPr>
          <p:cNvPr id="3" name="Zetaris 1"/>
          <p:cNvSpPr/>
          <p:nvPr/>
        </p:nvSpPr>
        <p:spPr>
          <a:xfrm>
            <a:off x="548640" y="1600200"/>
            <a:ext cx="2514600" cy="1371600"/>
          </a:xfrm>
          <a:prstGeom prst="roundRect">
            <a:avLst>
              <a:gd name="adj" fmla="val 8000"/>
            </a:avLst>
          </a:prstGeom>
          <a:solidFill>
            <a:srgbClr val="0A4A39"/>
          </a:solidFill>
          <a:ln w="12700">
            <a:solidFill>
              <a:srgbClr val="0A4A39"/>
            </a:solidFill>
            <a:prstDash val="solid"/>
          </a:ln>
          <a:effectLst>
            <a:outerShdw sx="100000" sy="100000" kx="0" ky="0" algn="bl" rotWithShape="0" blurRad="101600" dist="25400" dir="5400000">
              <a:srgbClr val="14231C">
                <a:alpha val="12000"/>
              </a:srgbClr>
            </a:outerShdw>
          </a:effectLst>
        </p:spPr>
      </p:sp>
      <p:sp>
        <p:nvSpPr>
          <p:cNvPr id="4" name="Text 2"/>
          <p:cNvSpPr txBox="1"/>
          <p:nvPr/>
        </p:nvSpPr>
        <p:spPr>
          <a:xfrm>
            <a:off x="731520" y="1783080"/>
            <a:ext cx="2194560" cy="457200"/>
          </a:xfrm>
          <a:prstGeom prst="rect">
            <a:avLst/>
          </a:prstGeom>
          <a:noFill/>
          <a:ln/>
        </p:spPr>
        <p:txBody>
          <a:bodyPr wrap="square" lIns="0" tIns="0" rIns="0" bIns="0" rtlCol="0" anchor="t"/>
          <a:lstStyle/>
          <a:p>
            <a:pPr indent="0" marL="0">
              <a:buNone/>
            </a:pPr>
            <a:r>
              <a:rPr lang="en-US" sz="1800" b="1" dirty="0">
                <a:solidFill>
                  <a:schemeClr val="bg1"/>
                </a:solidFill>
                <a:latin typeface="Calibri" pitchFamily="34" charset="0"/>
                <a:ea typeface="Calibri" pitchFamily="34" charset="-122"/>
                <a:cs typeface="Calibri" pitchFamily="34" charset="-120"/>
              </a:rPr>
              <a:t>Agent Kwatsur</a:t>
            </a:r>
            <a:endParaRPr lang="en-US" sz="1800" dirty="0"/>
          </a:p>
        </p:txBody>
      </p:sp>
      <p:sp>
        <p:nvSpPr>
          <p:cNvPr id="5" name="Text 3"/>
          <p:cNvSpPr txBox="1"/>
          <p:nvPr/>
        </p:nvSpPr>
        <p:spPr>
          <a:xfrm>
            <a:off x="731520" y="2286000"/>
            <a:ext cx="2194560" cy="54864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chaque recherche</a:t>
            </a:r>
            <a:endParaRPr lang="en-US" sz="1300" dirty="0"/>
          </a:p>
        </p:txBody>
      </p:sp>
      <p:sp>
        <p:nvSpPr>
          <p:cNvPr id="6" name="Zetaris flèche 1"/>
          <p:cNvSpPr/>
          <p:nvPr/>
        </p:nvSpPr>
        <p:spPr>
          <a:xfrm rot="5400000">
            <a:off x="3145536" y="2185416"/>
            <a:ext cx="201168" cy="164592"/>
          </a:xfrm>
          <a:prstGeom prst="triangle">
            <a:avLst/>
          </a:prstGeom>
          <a:solidFill>
            <a:srgbClr val="6B7F74"/>
          </a:solidFill>
          <a:ln w="12700">
            <a:solidFill>
              <a:srgbClr val="6B7F74"/>
            </a:solidFill>
            <a:prstDash val="solid"/>
          </a:ln>
        </p:spPr>
      </p:sp>
      <p:sp>
        <p:nvSpPr>
          <p:cNvPr id="7" name="Zetaris 2"/>
          <p:cNvSpPr/>
          <p:nvPr/>
        </p:nvSpPr>
        <p:spPr>
          <a:xfrm>
            <a:off x="3383280" y="1600200"/>
            <a:ext cx="2514600" cy="1371600"/>
          </a:xfrm>
          <a:prstGeom prst="roundRect">
            <a:avLst>
              <a:gd name="adj" fmla="val 8000"/>
            </a:avLst>
          </a:prstGeom>
          <a:solidFill>
            <a:srgbClr val="0F6B52"/>
          </a:solidFill>
          <a:ln w="12700">
            <a:solidFill>
              <a:srgbClr val="0F6B52"/>
            </a:solidFill>
            <a:prstDash val="solid"/>
          </a:ln>
          <a:effectLst>
            <a:outerShdw sx="100000" sy="100000" kx="0" ky="0" algn="bl" rotWithShape="0" blurRad="101600" dist="25400" dir="5400000">
              <a:srgbClr val="14231C">
                <a:alpha val="12000"/>
              </a:srgbClr>
            </a:outerShdw>
          </a:effectLst>
        </p:spPr>
      </p:sp>
      <p:sp>
        <p:nvSpPr>
          <p:cNvPr id="8" name="Text 6"/>
          <p:cNvSpPr txBox="1"/>
          <p:nvPr/>
        </p:nvSpPr>
        <p:spPr>
          <a:xfrm>
            <a:off x="3566160" y="1783080"/>
            <a:ext cx="2194560" cy="457200"/>
          </a:xfrm>
          <a:prstGeom prst="rect">
            <a:avLst/>
          </a:prstGeom>
          <a:noFill/>
          <a:ln/>
        </p:spPr>
        <p:txBody>
          <a:bodyPr wrap="square" lIns="0" tIns="0" rIns="0" bIns="0" rtlCol="0" anchor="t"/>
          <a:lstStyle/>
          <a:p>
            <a:pPr indent="0" marL="0">
              <a:buNone/>
            </a:pPr>
            <a:r>
              <a:rPr lang="en-US" sz="1800" b="1" dirty="0">
                <a:solidFill>
                  <a:schemeClr val="bg1"/>
                </a:solidFill>
                <a:latin typeface="Calibri" pitchFamily="34" charset="0"/>
                <a:ea typeface="Calibri" pitchFamily="34" charset="-122"/>
                <a:cs typeface="Calibri" pitchFamily="34" charset="-120"/>
              </a:rPr>
              <a:t>Zetaris</a:t>
            </a:r>
            <a:endParaRPr lang="en-US" sz="1800" dirty="0"/>
          </a:p>
        </p:txBody>
      </p:sp>
      <p:sp>
        <p:nvSpPr>
          <p:cNvPr id="9" name="Text 7"/>
          <p:cNvSpPr txBox="1"/>
          <p:nvPr/>
        </p:nvSpPr>
        <p:spPr>
          <a:xfrm>
            <a:off x="3566160" y="2286000"/>
            <a:ext cx="2194560" cy="54864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POST /sql-editor/sqls/run</a:t>
            </a:r>
            <a:endParaRPr lang="en-US" sz="1300" dirty="0"/>
          </a:p>
        </p:txBody>
      </p:sp>
      <p:sp>
        <p:nvSpPr>
          <p:cNvPr id="10" name="Zetaris flèche 2"/>
          <p:cNvSpPr/>
          <p:nvPr/>
        </p:nvSpPr>
        <p:spPr>
          <a:xfrm rot="5400000">
            <a:off x="5980176" y="2185416"/>
            <a:ext cx="201168" cy="164592"/>
          </a:xfrm>
          <a:prstGeom prst="triangle">
            <a:avLst/>
          </a:prstGeom>
          <a:solidFill>
            <a:srgbClr val="6B7F74"/>
          </a:solidFill>
          <a:ln w="12700">
            <a:solidFill>
              <a:srgbClr val="6B7F74"/>
            </a:solidFill>
            <a:prstDash val="solid"/>
          </a:ln>
        </p:spPr>
      </p:sp>
      <p:sp>
        <p:nvSpPr>
          <p:cNvPr id="11" name="Zetaris 3"/>
          <p:cNvSpPr/>
          <p:nvPr/>
        </p:nvSpPr>
        <p:spPr>
          <a:xfrm>
            <a:off x="6217920" y="1600200"/>
            <a:ext cx="2514600" cy="1371600"/>
          </a:xfrm>
          <a:prstGeom prst="roundRect">
            <a:avLst>
              <a:gd name="adj" fmla="val 8000"/>
            </a:avLst>
          </a:prstGeom>
          <a:solidFill>
            <a:srgbClr val="3D5348"/>
          </a:solidFill>
          <a:ln w="12700">
            <a:solidFill>
              <a:srgbClr val="3D5348"/>
            </a:solidFill>
            <a:prstDash val="solid"/>
          </a:ln>
          <a:effectLst>
            <a:outerShdw sx="100000" sy="100000" kx="0" ky="0" algn="bl" rotWithShape="0" blurRad="101600" dist="25400" dir="5400000">
              <a:srgbClr val="14231C">
                <a:alpha val="12000"/>
              </a:srgbClr>
            </a:outerShdw>
          </a:effectLst>
        </p:spPr>
      </p:sp>
      <p:sp>
        <p:nvSpPr>
          <p:cNvPr id="12" name="Text 10"/>
          <p:cNvSpPr txBox="1"/>
          <p:nvPr/>
        </p:nvSpPr>
        <p:spPr>
          <a:xfrm>
            <a:off x="6400800" y="1783080"/>
            <a:ext cx="2194560" cy="457200"/>
          </a:xfrm>
          <a:prstGeom prst="rect">
            <a:avLst/>
          </a:prstGeom>
          <a:noFill/>
          <a:ln/>
        </p:spPr>
        <p:txBody>
          <a:bodyPr wrap="square" lIns="0" tIns="0" rIns="0" bIns="0" rtlCol="0" anchor="t"/>
          <a:lstStyle/>
          <a:p>
            <a:pPr indent="0" marL="0">
              <a:buNone/>
            </a:pPr>
            <a:r>
              <a:rPr lang="en-US" sz="1800" b="1" dirty="0">
                <a:solidFill>
                  <a:schemeClr val="bg1"/>
                </a:solidFill>
                <a:latin typeface="Calibri" pitchFamily="34" charset="0"/>
                <a:ea typeface="Calibri" pitchFamily="34" charset="-122"/>
                <a:cs typeface="Calibri" pitchFamily="34" charset="-120"/>
              </a:rPr>
              <a:t>Source kwatsur_pg</a:t>
            </a:r>
            <a:endParaRPr lang="en-US" sz="1800" dirty="0"/>
          </a:p>
        </p:txBody>
      </p:sp>
      <p:sp>
        <p:nvSpPr>
          <p:cNvPr id="13" name="Text 11"/>
          <p:cNvSpPr txBox="1"/>
          <p:nvPr/>
        </p:nvSpPr>
        <p:spPr>
          <a:xfrm>
            <a:off x="6400800" y="2286000"/>
            <a:ext cx="2194560" cy="54864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rôle en lecture seule</a:t>
            </a:r>
            <a:endParaRPr lang="en-US" sz="1300" dirty="0"/>
          </a:p>
        </p:txBody>
      </p:sp>
      <p:sp>
        <p:nvSpPr>
          <p:cNvPr id="14" name="Zetaris flèche 3"/>
          <p:cNvSpPr/>
          <p:nvPr/>
        </p:nvSpPr>
        <p:spPr>
          <a:xfrm rot="5400000">
            <a:off x="8814816" y="2185416"/>
            <a:ext cx="201168" cy="164592"/>
          </a:xfrm>
          <a:prstGeom prst="triangle">
            <a:avLst/>
          </a:prstGeom>
          <a:solidFill>
            <a:srgbClr val="6B7F74"/>
          </a:solidFill>
          <a:ln w="12700">
            <a:solidFill>
              <a:srgbClr val="6B7F74"/>
            </a:solidFill>
            <a:prstDash val="solid"/>
          </a:ln>
        </p:spPr>
      </p:sp>
      <p:sp>
        <p:nvSpPr>
          <p:cNvPr id="15" name="Zetaris 4"/>
          <p:cNvSpPr/>
          <p:nvPr/>
        </p:nvSpPr>
        <p:spPr>
          <a:xfrm>
            <a:off x="9052560" y="1600200"/>
            <a:ext cx="2514600" cy="1371600"/>
          </a:xfrm>
          <a:prstGeom prst="roundRect">
            <a:avLst>
              <a:gd name="adj" fmla="val 8000"/>
            </a:avLst>
          </a:prstGeom>
          <a:solidFill>
            <a:srgbClr val="C2562F"/>
          </a:solidFill>
          <a:ln w="12700">
            <a:solidFill>
              <a:srgbClr val="C2562F"/>
            </a:solidFill>
            <a:prstDash val="solid"/>
          </a:ln>
          <a:effectLst>
            <a:outerShdw sx="100000" sy="100000" kx="0" ky="0" algn="bl" rotWithShape="0" blurRad="101600" dist="25400" dir="5400000">
              <a:srgbClr val="14231C">
                <a:alpha val="12000"/>
              </a:srgbClr>
            </a:outerShdw>
          </a:effectLst>
        </p:spPr>
      </p:sp>
      <p:sp>
        <p:nvSpPr>
          <p:cNvPr id="16" name="Text 14"/>
          <p:cNvSpPr txBox="1"/>
          <p:nvPr/>
        </p:nvSpPr>
        <p:spPr>
          <a:xfrm>
            <a:off x="9235440" y="1783080"/>
            <a:ext cx="2194560" cy="457200"/>
          </a:xfrm>
          <a:prstGeom prst="rect">
            <a:avLst/>
          </a:prstGeom>
          <a:noFill/>
          <a:ln/>
        </p:spPr>
        <p:txBody>
          <a:bodyPr wrap="square" lIns="0" tIns="0" rIns="0" bIns="0" rtlCol="0" anchor="t"/>
          <a:lstStyle/>
          <a:p>
            <a:pPr indent="0" marL="0">
              <a:buNone/>
            </a:pPr>
            <a:r>
              <a:rPr lang="en-US" sz="1800" b="1" dirty="0">
                <a:solidFill>
                  <a:schemeClr val="bg1"/>
                </a:solidFill>
                <a:latin typeface="Calibri" pitchFamily="34" charset="0"/>
                <a:ea typeface="Calibri" pitchFamily="34" charset="-122"/>
                <a:cs typeface="Calibri" pitchFamily="34" charset="-120"/>
              </a:rPr>
              <a:t>Vue zetaris_listings</a:t>
            </a:r>
            <a:endParaRPr lang="en-US" sz="1800" dirty="0"/>
          </a:p>
        </p:txBody>
      </p:sp>
      <p:sp>
        <p:nvSpPr>
          <p:cNvPr id="17" name="Text 15"/>
          <p:cNvSpPr txBox="1"/>
          <p:nvPr/>
        </p:nvSpPr>
        <p:spPr>
          <a:xfrm>
            <a:off x="9235440" y="2286000"/>
            <a:ext cx="2194560" cy="54864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annonces + validées</a:t>
            </a:r>
            <a:endParaRPr lang="en-US" sz="1300" dirty="0"/>
          </a:p>
        </p:txBody>
      </p:sp>
      <p:sp>
        <p:nvSpPr>
          <p:cNvPr id="18" name="Text 16"/>
          <p:cNvSpPr txBox="1"/>
          <p:nvPr/>
        </p:nvSpPr>
        <p:spPr>
          <a:xfrm>
            <a:off x="548640" y="3337560"/>
            <a:ext cx="11094415" cy="26517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Unique point d'accès aux annonces : chat comme recherche par filtres interrogent Zetaris en SQL.</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La base de Kwatsur est fédérée comme source (CREATE DATASOURCE), lue par un rôle limité à une vue.</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Les annonces déposées dans le chat puis validées apparaissent aussitôt dans les recherches via Zetaris.</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Demain : agences et API partenaires ajoutées dans Zetaris, sans changer le code de l'agent.</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Preuve : statut live « zetaris : ok », data_source = zetaris dans chaque réponse, journaux HTTP 200.</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Meterless : Scout Intent et Nightshift</a:t>
            </a:r>
            <a:endParaRPr lang="en-US" sz="3400" dirty="0"/>
          </a:p>
        </p:txBody>
      </p:sp>
      <p:sp>
        <p:nvSpPr>
          <p:cNvPr id="3" name="Étape Scout Sense"/>
          <p:cNvSpPr/>
          <p:nvPr/>
        </p:nvSpPr>
        <p:spPr>
          <a:xfrm>
            <a:off x="548640" y="1508760"/>
            <a:ext cx="1188720" cy="566928"/>
          </a:xfrm>
          <a:prstGeom prst="roundRect">
            <a:avLst>
              <a:gd name="adj" fmla="val 19355"/>
            </a:avLst>
          </a:prstGeom>
          <a:solidFill>
            <a:srgbClr val="0F6B52"/>
          </a:solidFill>
          <a:ln w="12700">
            <a:solidFill>
              <a:srgbClr val="0F6B52"/>
            </a:solidFill>
            <a:prstDash val="solid"/>
          </a:ln>
          <a:effectLst>
            <a:outerShdw sx="100000" sy="100000" kx="0" ky="0" algn="bl" rotWithShape="0" blurRad="101600" dist="25400" dir="5400000">
              <a:srgbClr val="14231C">
                <a:alpha val="12000"/>
              </a:srgbClr>
            </a:outerShdw>
          </a:effectLst>
        </p:spPr>
      </p:sp>
      <p:sp>
        <p:nvSpPr>
          <p:cNvPr id="4" name="Text 2"/>
          <p:cNvSpPr txBox="1"/>
          <p:nvPr/>
        </p:nvSpPr>
        <p:spPr>
          <a:xfrm>
            <a:off x="548640" y="1508760"/>
            <a:ext cx="1188720" cy="56692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Sense</a:t>
            </a:r>
            <a:endParaRPr lang="en-US" sz="1400" dirty="0"/>
          </a:p>
        </p:txBody>
      </p:sp>
      <p:sp>
        <p:nvSpPr>
          <p:cNvPr id="5" name="Étape Scout Interpret"/>
          <p:cNvSpPr/>
          <p:nvPr/>
        </p:nvSpPr>
        <p:spPr>
          <a:xfrm>
            <a:off x="1847088" y="1508760"/>
            <a:ext cx="1188720" cy="566928"/>
          </a:xfrm>
          <a:prstGeom prst="roundRect">
            <a:avLst>
              <a:gd name="adj" fmla="val 19355"/>
            </a:avLst>
          </a:prstGeom>
          <a:solidFill>
            <a:srgbClr val="0F6B52"/>
          </a:solidFill>
          <a:ln w="12700">
            <a:solidFill>
              <a:srgbClr val="0F6B52"/>
            </a:solidFill>
            <a:prstDash val="solid"/>
          </a:ln>
          <a:effectLst>
            <a:outerShdw sx="100000" sy="100000" kx="0" ky="0" algn="bl" rotWithShape="0" blurRad="101600" dist="25400" dir="5400000">
              <a:srgbClr val="14231C">
                <a:alpha val="12000"/>
              </a:srgbClr>
            </a:outerShdw>
          </a:effectLst>
        </p:spPr>
      </p:sp>
      <p:sp>
        <p:nvSpPr>
          <p:cNvPr id="6" name="Text 4"/>
          <p:cNvSpPr txBox="1"/>
          <p:nvPr/>
        </p:nvSpPr>
        <p:spPr>
          <a:xfrm>
            <a:off x="1847088" y="1508760"/>
            <a:ext cx="1188720" cy="56692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Interpret</a:t>
            </a:r>
            <a:endParaRPr lang="en-US" sz="1400" dirty="0"/>
          </a:p>
        </p:txBody>
      </p:sp>
      <p:sp>
        <p:nvSpPr>
          <p:cNvPr id="7" name="Étape Scout Guard"/>
          <p:cNvSpPr/>
          <p:nvPr/>
        </p:nvSpPr>
        <p:spPr>
          <a:xfrm>
            <a:off x="3145536" y="1508760"/>
            <a:ext cx="1188720" cy="566928"/>
          </a:xfrm>
          <a:prstGeom prst="roundRect">
            <a:avLst>
              <a:gd name="adj" fmla="val 19355"/>
            </a:avLst>
          </a:prstGeom>
          <a:solidFill>
            <a:srgbClr val="C2562F"/>
          </a:solidFill>
          <a:ln w="12700">
            <a:solidFill>
              <a:srgbClr val="C2562F"/>
            </a:solidFill>
            <a:prstDash val="solid"/>
          </a:ln>
          <a:effectLst>
            <a:outerShdw sx="100000" sy="100000" kx="0" ky="0" algn="bl" rotWithShape="0" blurRad="101600" dist="25400" dir="5400000">
              <a:srgbClr val="14231C">
                <a:alpha val="12000"/>
              </a:srgbClr>
            </a:outerShdw>
          </a:effectLst>
        </p:spPr>
      </p:sp>
      <p:sp>
        <p:nvSpPr>
          <p:cNvPr id="8" name="Text 6"/>
          <p:cNvSpPr txBox="1"/>
          <p:nvPr/>
        </p:nvSpPr>
        <p:spPr>
          <a:xfrm>
            <a:off x="3145536" y="1508760"/>
            <a:ext cx="1188720" cy="56692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Guard</a:t>
            </a:r>
            <a:endParaRPr lang="en-US" sz="1400" dirty="0"/>
          </a:p>
        </p:txBody>
      </p:sp>
      <p:sp>
        <p:nvSpPr>
          <p:cNvPr id="9" name="Étape Scout Route"/>
          <p:cNvSpPr/>
          <p:nvPr/>
        </p:nvSpPr>
        <p:spPr>
          <a:xfrm>
            <a:off x="4443984" y="1508760"/>
            <a:ext cx="1188720" cy="566928"/>
          </a:xfrm>
          <a:prstGeom prst="roundRect">
            <a:avLst>
              <a:gd name="adj" fmla="val 19355"/>
            </a:avLst>
          </a:prstGeom>
          <a:solidFill>
            <a:srgbClr val="0F6B52"/>
          </a:solidFill>
          <a:ln w="12700">
            <a:solidFill>
              <a:srgbClr val="0F6B52"/>
            </a:solidFill>
            <a:prstDash val="solid"/>
          </a:ln>
          <a:effectLst>
            <a:outerShdw sx="100000" sy="100000" kx="0" ky="0" algn="bl" rotWithShape="0" blurRad="101600" dist="25400" dir="5400000">
              <a:srgbClr val="14231C">
                <a:alpha val="12000"/>
              </a:srgbClr>
            </a:outerShdw>
          </a:effectLst>
        </p:spPr>
      </p:sp>
      <p:sp>
        <p:nvSpPr>
          <p:cNvPr id="10" name="Text 8"/>
          <p:cNvSpPr txBox="1"/>
          <p:nvPr/>
        </p:nvSpPr>
        <p:spPr>
          <a:xfrm>
            <a:off x="4443984" y="1508760"/>
            <a:ext cx="1188720" cy="56692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Route</a:t>
            </a:r>
            <a:endParaRPr lang="en-US" sz="1400" dirty="0"/>
          </a:p>
        </p:txBody>
      </p:sp>
      <p:sp>
        <p:nvSpPr>
          <p:cNvPr id="11" name="Étape Scout Recommend"/>
          <p:cNvSpPr/>
          <p:nvPr/>
        </p:nvSpPr>
        <p:spPr>
          <a:xfrm>
            <a:off x="5742432" y="1508760"/>
            <a:ext cx="1188720" cy="566928"/>
          </a:xfrm>
          <a:prstGeom prst="roundRect">
            <a:avLst>
              <a:gd name="adj" fmla="val 19355"/>
            </a:avLst>
          </a:prstGeom>
          <a:solidFill>
            <a:srgbClr val="0F6B52"/>
          </a:solidFill>
          <a:ln w="12700">
            <a:solidFill>
              <a:srgbClr val="0F6B52"/>
            </a:solidFill>
            <a:prstDash val="solid"/>
          </a:ln>
          <a:effectLst>
            <a:outerShdw sx="100000" sy="100000" kx="0" ky="0" algn="bl" rotWithShape="0" blurRad="101600" dist="25400" dir="5400000">
              <a:srgbClr val="14231C">
                <a:alpha val="12000"/>
              </a:srgbClr>
            </a:outerShdw>
          </a:effectLst>
        </p:spPr>
      </p:sp>
      <p:sp>
        <p:nvSpPr>
          <p:cNvPr id="12" name="Text 10"/>
          <p:cNvSpPr txBox="1"/>
          <p:nvPr/>
        </p:nvSpPr>
        <p:spPr>
          <a:xfrm>
            <a:off x="5742432" y="1508760"/>
            <a:ext cx="1188720" cy="56692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Recommend</a:t>
            </a:r>
            <a:endParaRPr lang="en-US" sz="1400" dirty="0"/>
          </a:p>
        </p:txBody>
      </p:sp>
      <p:sp>
        <p:nvSpPr>
          <p:cNvPr id="13" name="Text 11"/>
          <p:cNvSpPr txBox="1"/>
          <p:nvPr/>
        </p:nvSpPr>
        <p:spPr>
          <a:xfrm>
            <a:off x="548640" y="2331720"/>
            <a:ext cx="6400800" cy="32918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latin typeface="Calibri" pitchFamily="34" charset="0"/>
                <a:ea typeface="Calibri" pitchFamily="34" charset="-122"/>
                <a:cs typeface="Calibri" pitchFamily="34" charset="-120"/>
              </a:rPr>
              <a:t>Avant chaque action : intention parmi 7, garde en 5 couches (injection, paiement interdit, portée, données personnelles, débit).</a:t>
            </a:r>
            <a:endParaRPr lang="en-US" sz="1600" dirty="0"/>
          </a:p>
          <a:p>
            <a:pPr marL="342900" indent="-342900">
              <a:spcAft>
                <a:spcPts val="1000"/>
              </a:spcAft>
              <a:buSzPct val="100000"/>
              <a:buChar char="•"/>
            </a:pPr>
            <a:r>
              <a:rPr lang="en-US" sz="1600" dirty="0">
                <a:solidFill>
                  <a:schemeClr val="tx1"/>
                </a:solidFill>
                <a:latin typeface="Calibri" pitchFamily="34" charset="0"/>
                <a:ea typeface="Calibri" pitchFamily="34" charset="-122"/>
                <a:cs typeface="Calibri" pitchFamily="34" charset="-120"/>
              </a:rPr>
              <a:t>Contrat signé (HMAC, 5 min) vérifié par chaque outil ; contrats falsifiés ou expirés refusés (tests).</a:t>
            </a:r>
            <a:endParaRPr lang="en-US" sz="1600" dirty="0"/>
          </a:p>
          <a:p>
            <a:pPr marL="342900" indent="-342900">
              <a:spcAft>
                <a:spcPts val="1000"/>
              </a:spcAft>
              <a:buSzPct val="100000"/>
              <a:buChar char="•"/>
            </a:pPr>
            <a:r>
              <a:rPr lang="en-US" sz="1600" dirty="0">
                <a:solidFill>
                  <a:schemeClr val="tx1"/>
                </a:solidFill>
                <a:latin typeface="Calibri" pitchFamily="34" charset="0"/>
                <a:ea typeface="Calibri" pitchFamily="34" charset="-122"/>
                <a:cs typeface="Calibri" pitchFamily="34" charset="-120"/>
              </a:rPr>
              <a:t>Nightshift est le fournisseur IA principal ; il sert nvidia/nemotron-3-ultra-550b-a55b, affiché sous chaque réponse.</a:t>
            </a:r>
            <a:endParaRPr lang="en-US" sz="1600" dirty="0"/>
          </a:p>
        </p:txBody>
      </p:sp>
      <p:sp>
        <p:nvSpPr>
          <p:cNvPr id="14" name="Statistique 1"/>
          <p:cNvSpPr/>
          <p:nvPr/>
        </p:nvSpPr>
        <p:spPr>
          <a:xfrm>
            <a:off x="7452360" y="1508760"/>
            <a:ext cx="4187952" cy="1325880"/>
          </a:xfrm>
          <a:prstGeom prst="roundRect">
            <a:avLst>
              <a:gd name="adj" fmla="val 8276"/>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15" name="Text 13"/>
          <p:cNvSpPr txBox="1"/>
          <p:nvPr/>
        </p:nvSpPr>
        <p:spPr>
          <a:xfrm>
            <a:off x="7680960" y="1618488"/>
            <a:ext cx="1737360" cy="1097280"/>
          </a:xfrm>
          <a:prstGeom prst="rect">
            <a:avLst/>
          </a:prstGeom>
          <a:noFill/>
          <a:ln/>
        </p:spPr>
        <p:txBody>
          <a:bodyPr wrap="square" lIns="0" tIns="0" rIns="0" bIns="0" rtlCol="0" anchor="ctr"/>
          <a:lstStyle/>
          <a:p>
            <a:pPr indent="0" marL="0">
              <a:buNone/>
            </a:pPr>
            <a:r>
              <a:rPr lang="en-US" sz="4800" b="1" dirty="0">
                <a:solidFill>
                  <a:schemeClr val="accent1"/>
                </a:solidFill>
                <a:latin typeface="Arial" pitchFamily="34" charset="0"/>
                <a:ea typeface="Arial" pitchFamily="34" charset="-122"/>
                <a:cs typeface="Arial" pitchFamily="34" charset="-120"/>
              </a:rPr>
              <a:t>0,98</a:t>
            </a:r>
            <a:endParaRPr lang="en-US" sz="4800" dirty="0"/>
          </a:p>
        </p:txBody>
      </p:sp>
      <p:sp>
        <p:nvSpPr>
          <p:cNvPr id="16" name="Text 14"/>
          <p:cNvSpPr txBox="1"/>
          <p:nvPr/>
        </p:nvSpPr>
        <p:spPr>
          <a:xfrm>
            <a:off x="9418320" y="1783080"/>
            <a:ext cx="2103120" cy="41148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intention exacte (top-1)</a:t>
            </a:r>
            <a:endParaRPr lang="en-US" sz="1500" dirty="0"/>
          </a:p>
        </p:txBody>
      </p:sp>
      <p:sp>
        <p:nvSpPr>
          <p:cNvPr id="17" name="Text 15"/>
          <p:cNvSpPr txBox="1"/>
          <p:nvPr/>
        </p:nvSpPr>
        <p:spPr>
          <a:xfrm>
            <a:off x="9418320" y="2221992"/>
            <a:ext cx="2103120" cy="365760"/>
          </a:xfrm>
          <a:prstGeom prst="rect">
            <a:avLst/>
          </a:prstGeom>
          <a:noFill/>
          <a:ln/>
        </p:spPr>
        <p:txBody>
          <a:bodyPr wrap="square" lIns="0" tIns="0" rIns="0" bIns="0" rtlCol="0" anchor="t"/>
          <a:lstStyle/>
          <a:p>
            <a:pPr indent="0" marL="0">
              <a:buNone/>
            </a:pPr>
            <a:r>
              <a:rPr lang="en-US" sz="1200" dirty="0">
                <a:solidFill>
                  <a:schemeClr val="accent6"/>
                </a:solidFill>
                <a:latin typeface="Calibri" pitchFamily="34" charset="0"/>
                <a:ea typeface="Calibri" pitchFamily="34" charset="-122"/>
                <a:cs typeface="Calibri" pitchFamily="34" charset="-120"/>
              </a:rPr>
              <a:t>plancher officiel 0,85</a:t>
            </a:r>
            <a:endParaRPr lang="en-US" sz="1200" dirty="0"/>
          </a:p>
        </p:txBody>
      </p:sp>
      <p:sp>
        <p:nvSpPr>
          <p:cNvPr id="18" name="Statistique 2"/>
          <p:cNvSpPr/>
          <p:nvPr/>
        </p:nvSpPr>
        <p:spPr>
          <a:xfrm>
            <a:off x="7452360" y="3017520"/>
            <a:ext cx="4187952" cy="1325880"/>
          </a:xfrm>
          <a:prstGeom prst="roundRect">
            <a:avLst>
              <a:gd name="adj" fmla="val 8276"/>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19" name="Text 17"/>
          <p:cNvSpPr txBox="1"/>
          <p:nvPr/>
        </p:nvSpPr>
        <p:spPr>
          <a:xfrm>
            <a:off x="7680960" y="3127248"/>
            <a:ext cx="1737360" cy="1097280"/>
          </a:xfrm>
          <a:prstGeom prst="rect">
            <a:avLst/>
          </a:prstGeom>
          <a:noFill/>
          <a:ln/>
        </p:spPr>
        <p:txBody>
          <a:bodyPr wrap="square" lIns="0" tIns="0" rIns="0" bIns="0" rtlCol="0" anchor="ctr"/>
          <a:lstStyle/>
          <a:p>
            <a:pPr indent="0" marL="0">
              <a:buNone/>
            </a:pPr>
            <a:r>
              <a:rPr lang="en-US" sz="4800" b="1" dirty="0">
                <a:solidFill>
                  <a:schemeClr val="accent1"/>
                </a:solidFill>
                <a:latin typeface="Arial" pitchFamily="34" charset="0"/>
                <a:ea typeface="Arial" pitchFamily="34" charset="-122"/>
                <a:cs typeface="Arial" pitchFamily="34" charset="-120"/>
              </a:rPr>
              <a:t>1,00</a:t>
            </a:r>
            <a:endParaRPr lang="en-US" sz="4800" dirty="0"/>
          </a:p>
        </p:txBody>
      </p:sp>
      <p:sp>
        <p:nvSpPr>
          <p:cNvPr id="20" name="Text 18"/>
          <p:cNvSpPr txBox="1"/>
          <p:nvPr/>
        </p:nvSpPr>
        <p:spPr>
          <a:xfrm>
            <a:off x="9418320" y="3291840"/>
            <a:ext cx="2103120" cy="41148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injections détectées</a:t>
            </a:r>
            <a:endParaRPr lang="en-US" sz="1500" dirty="0"/>
          </a:p>
        </p:txBody>
      </p:sp>
      <p:sp>
        <p:nvSpPr>
          <p:cNvPr id="21" name="Text 19"/>
          <p:cNvSpPr txBox="1"/>
          <p:nvPr/>
        </p:nvSpPr>
        <p:spPr>
          <a:xfrm>
            <a:off x="9418320" y="3730752"/>
            <a:ext cx="2103120" cy="365760"/>
          </a:xfrm>
          <a:prstGeom prst="rect">
            <a:avLst/>
          </a:prstGeom>
          <a:noFill/>
          <a:ln/>
        </p:spPr>
        <p:txBody>
          <a:bodyPr wrap="square" lIns="0" tIns="0" rIns="0" bIns="0" rtlCol="0" anchor="t"/>
          <a:lstStyle/>
          <a:p>
            <a:pPr indent="0" marL="0">
              <a:buNone/>
            </a:pPr>
            <a:r>
              <a:rPr lang="en-US" sz="1200" dirty="0">
                <a:solidFill>
                  <a:schemeClr val="accent6"/>
                </a:solidFill>
                <a:latin typeface="Calibri" pitchFamily="34" charset="0"/>
                <a:ea typeface="Calibri" pitchFamily="34" charset="-122"/>
                <a:cs typeface="Calibri" pitchFamily="34" charset="-120"/>
              </a:rPr>
              <a:t>précision et rappel</a:t>
            </a:r>
            <a:endParaRPr lang="en-US" sz="1200" dirty="0"/>
          </a:p>
        </p:txBody>
      </p:sp>
      <p:sp>
        <p:nvSpPr>
          <p:cNvPr id="22" name="Statistique 3"/>
          <p:cNvSpPr/>
          <p:nvPr/>
        </p:nvSpPr>
        <p:spPr>
          <a:xfrm>
            <a:off x="7452360" y="4526280"/>
            <a:ext cx="4187952" cy="1325880"/>
          </a:xfrm>
          <a:prstGeom prst="roundRect">
            <a:avLst>
              <a:gd name="adj" fmla="val 8276"/>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23" name="Text 21"/>
          <p:cNvSpPr txBox="1"/>
          <p:nvPr/>
        </p:nvSpPr>
        <p:spPr>
          <a:xfrm>
            <a:off x="7680960" y="4636008"/>
            <a:ext cx="1737360" cy="1097280"/>
          </a:xfrm>
          <a:prstGeom prst="rect">
            <a:avLst/>
          </a:prstGeom>
          <a:noFill/>
          <a:ln/>
        </p:spPr>
        <p:txBody>
          <a:bodyPr wrap="square" lIns="0" tIns="0" rIns="0" bIns="0" rtlCol="0" anchor="ctr"/>
          <a:lstStyle/>
          <a:p>
            <a:pPr indent="0" marL="0">
              <a:buNone/>
            </a:pPr>
            <a:r>
              <a:rPr lang="en-US" sz="4800" b="1" dirty="0">
                <a:solidFill>
                  <a:schemeClr val="accent1"/>
                </a:solidFill>
                <a:latin typeface="Arial" pitchFamily="34" charset="0"/>
                <a:ea typeface="Arial" pitchFamily="34" charset="-122"/>
                <a:cs typeface="Arial" pitchFamily="34" charset="-120"/>
              </a:rPr>
              <a:t>1,00</a:t>
            </a:r>
            <a:endParaRPr lang="en-US" sz="4800" dirty="0"/>
          </a:p>
        </p:txBody>
      </p:sp>
      <p:sp>
        <p:nvSpPr>
          <p:cNvPr id="24" name="Text 22"/>
          <p:cNvSpPr txBox="1"/>
          <p:nvPr/>
        </p:nvSpPr>
        <p:spPr>
          <a:xfrm>
            <a:off x="9418320" y="4800600"/>
            <a:ext cx="2103120" cy="41148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bon outil choisi</a:t>
            </a:r>
            <a:endParaRPr lang="en-US" sz="1500" dirty="0"/>
          </a:p>
        </p:txBody>
      </p:sp>
      <p:sp>
        <p:nvSpPr>
          <p:cNvPr id="25" name="Text 23"/>
          <p:cNvSpPr txBox="1"/>
          <p:nvPr/>
        </p:nvSpPr>
        <p:spPr>
          <a:xfrm>
            <a:off x="9418320" y="5239512"/>
            <a:ext cx="2103120" cy="365760"/>
          </a:xfrm>
          <a:prstGeom prst="rect">
            <a:avLst/>
          </a:prstGeom>
          <a:noFill/>
          <a:ln/>
        </p:spPr>
        <p:txBody>
          <a:bodyPr wrap="square" lIns="0" tIns="0" rIns="0" bIns="0" rtlCol="0" anchor="t"/>
          <a:lstStyle/>
          <a:p>
            <a:pPr indent="0" marL="0">
              <a:buNone/>
            </a:pPr>
            <a:r>
              <a:rPr lang="en-US" sz="1200" dirty="0">
                <a:solidFill>
                  <a:schemeClr val="accent6"/>
                </a:solidFill>
                <a:latin typeface="Calibri" pitchFamily="34" charset="0"/>
                <a:ea typeface="Calibri" pitchFamily="34" charset="-122"/>
                <a:cs typeface="Calibri" pitchFamily="34" charset="-120"/>
              </a:rPr>
              <a:t>plancher officiel 0,80</a:t>
            </a:r>
            <a:endParaRPr lang="en-US" sz="1200" dirty="0"/>
          </a:p>
        </p:txBody>
      </p:sp>
      <p:sp>
        <p:nvSpPr>
          <p:cNvPr id="26" name="Text 24"/>
          <p:cNvSpPr txBox="1"/>
          <p:nvPr/>
        </p:nvSpPr>
        <p:spPr>
          <a:xfrm>
            <a:off x="548640" y="5852160"/>
            <a:ext cx="11094415" cy="411480"/>
          </a:xfrm>
          <a:prstGeom prst="rect">
            <a:avLst/>
          </a:prstGeom>
          <a:noFill/>
          <a:ln/>
        </p:spPr>
        <p:txBody>
          <a:bodyPr wrap="square" lIns="0" tIns="0" rIns="0" bIns="0" rtlCol="0" anchor="t"/>
          <a:lstStyle/>
          <a:p>
            <a:pPr indent="0" marL="0">
              <a:buNone/>
            </a:pPr>
            <a:r>
              <a:rPr lang="en-US" sz="1200" i="1" dirty="0">
                <a:solidFill>
                  <a:schemeClr val="accent6"/>
                </a:solidFill>
                <a:latin typeface="Calibri" pitchFamily="34" charset="0"/>
                <a:ea typeface="Calibri" pitchFamily="34" charset="-122"/>
                <a:cs typeface="Calibri" pitchFamily="34" charset="-120"/>
              </a:rPr>
              <a:t>Évaluation sur les seuils officiels de Meterless (thresholds.yaml) : 59 intentions, 22 cas d'injection dont les 10 officiels, 6 cas limites.</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Ce qui rend notre usage unique</a:t>
            </a:r>
            <a:endParaRPr lang="en-US" sz="3400" dirty="0"/>
          </a:p>
        </p:txBody>
      </p:sp>
      <p:sp>
        <p:nvSpPr>
          <p:cNvPr id="3" name="Unique 1"/>
          <p:cNvSpPr/>
          <p:nvPr/>
        </p:nvSpPr>
        <p:spPr>
          <a:xfrm>
            <a:off x="548640" y="1508760"/>
            <a:ext cx="5422392" cy="2103120"/>
          </a:xfrm>
          <a:prstGeom prst="roundRect">
            <a:avLst>
              <a:gd name="adj" fmla="val 5217"/>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4" name="Unique 1 cercle"/>
          <p:cNvSpPr/>
          <p:nvPr/>
        </p:nvSpPr>
        <p:spPr>
          <a:xfrm>
            <a:off x="822960" y="1783080"/>
            <a:ext cx="777240" cy="777240"/>
          </a:xfrm>
          <a:prstGeom prst="ellipse">
            <a:avLst/>
          </a:prstGeom>
          <a:solidFill>
            <a:srgbClr val="C2562F"/>
          </a:solidFill>
          <a:ln w="12700">
            <a:solidFill>
              <a:srgbClr val="C2562F"/>
            </a:solidFill>
            <a:prstDash val="solid"/>
          </a:ln>
        </p:spPr>
      </p:sp>
      <p:pic>
        <p:nvPicPr>
          <p:cNvPr id="5" name="Unique 1 icône" descr="preencoded.png">    </p:cNvPr>
          <p:cNvPicPr>
            <a:picLocks noChangeAspect="1"/>
          </p:cNvPicPr>
          <p:nvPr/>
        </p:nvPicPr>
        <p:blipFill>
          <a:blip r:embed="rId1"/>
          <a:stretch>
            <a:fillRect/>
          </a:stretch>
        </p:blipFill>
        <p:spPr>
          <a:xfrm>
            <a:off x="1009498" y="1969618"/>
            <a:ext cx="404165" cy="404165"/>
          </a:xfrm>
          <a:prstGeom prst="rect">
            <a:avLst/>
          </a:prstGeom>
        </p:spPr>
      </p:pic>
      <p:sp>
        <p:nvSpPr>
          <p:cNvPr id="6" name="Text 3"/>
          <p:cNvSpPr txBox="1"/>
          <p:nvPr/>
        </p:nvSpPr>
        <p:spPr>
          <a:xfrm>
            <a:off x="1828800" y="1874520"/>
            <a:ext cx="3931920" cy="50292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Scout comme garde-fou réel</a:t>
            </a:r>
            <a:endParaRPr lang="en-US" sz="1900" dirty="0"/>
          </a:p>
        </p:txBody>
      </p:sp>
      <p:sp>
        <p:nvSpPr>
          <p:cNvPr id="7" name="Text 4"/>
          <p:cNvSpPr txBox="1"/>
          <p:nvPr/>
        </p:nvSpPr>
        <p:spPr>
          <a:xfrm>
            <a:off x="822960" y="2651760"/>
            <a:ext cx="4892040" cy="86868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Aucun outil sans contrat signé ; l'arnaque « envoie la caution par Orange Money » est bloquée avant tout appel au modèle.</a:t>
            </a:r>
            <a:endParaRPr lang="en-US" sz="1400" dirty="0"/>
          </a:p>
        </p:txBody>
      </p:sp>
      <p:sp>
        <p:nvSpPr>
          <p:cNvPr id="8" name="Unique 2"/>
          <p:cNvSpPr/>
          <p:nvPr/>
        </p:nvSpPr>
        <p:spPr>
          <a:xfrm>
            <a:off x="6217920" y="1508760"/>
            <a:ext cx="5422392" cy="2103120"/>
          </a:xfrm>
          <a:prstGeom prst="roundRect">
            <a:avLst>
              <a:gd name="adj" fmla="val 5217"/>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9" name="Unique 2 cercle"/>
          <p:cNvSpPr/>
          <p:nvPr/>
        </p:nvSpPr>
        <p:spPr>
          <a:xfrm>
            <a:off x="6492240" y="1783080"/>
            <a:ext cx="777240" cy="777240"/>
          </a:xfrm>
          <a:prstGeom prst="ellipse">
            <a:avLst/>
          </a:prstGeom>
          <a:solidFill>
            <a:srgbClr val="0F6B52"/>
          </a:solidFill>
          <a:ln w="12700">
            <a:solidFill>
              <a:srgbClr val="0F6B52"/>
            </a:solidFill>
            <a:prstDash val="solid"/>
          </a:ln>
        </p:spPr>
      </p:sp>
      <p:pic>
        <p:nvPicPr>
          <p:cNvPr id="10" name="Unique 2 icône" descr="preencoded.png">    </p:cNvPr>
          <p:cNvPicPr>
            <a:picLocks noChangeAspect="1"/>
          </p:cNvPicPr>
          <p:nvPr/>
        </p:nvPicPr>
        <p:blipFill>
          <a:blip r:embed="rId2"/>
          <a:stretch>
            <a:fillRect/>
          </a:stretch>
        </p:blipFill>
        <p:spPr>
          <a:xfrm>
            <a:off x="6678778" y="1969618"/>
            <a:ext cx="404165" cy="404165"/>
          </a:xfrm>
          <a:prstGeom prst="rect">
            <a:avLst/>
          </a:prstGeom>
        </p:spPr>
      </p:pic>
      <p:sp>
        <p:nvSpPr>
          <p:cNvPr id="11" name="Text 7"/>
          <p:cNvSpPr txBox="1"/>
          <p:nvPr/>
        </p:nvSpPr>
        <p:spPr>
          <a:xfrm>
            <a:off x="7498080" y="1874520"/>
            <a:ext cx="3931920" cy="50292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Zetaris sur une base vivante</a:t>
            </a:r>
            <a:endParaRPr lang="en-US" sz="1900" dirty="0"/>
          </a:p>
        </p:txBody>
      </p:sp>
      <p:sp>
        <p:nvSpPr>
          <p:cNvPr id="12" name="Text 8"/>
          <p:cNvSpPr txBox="1"/>
          <p:nvPr/>
        </p:nvSpPr>
        <p:spPr>
          <a:xfrm>
            <a:off x="6492240" y="2651760"/>
            <a:ext cx="4892040" cy="86868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Les annonces des propriétaires, validées, rejoignent la couche de données sans changer l'agent.</a:t>
            </a:r>
            <a:endParaRPr lang="en-US" sz="1400" dirty="0"/>
          </a:p>
        </p:txBody>
      </p:sp>
      <p:sp>
        <p:nvSpPr>
          <p:cNvPr id="13" name="Unique 3"/>
          <p:cNvSpPr/>
          <p:nvPr/>
        </p:nvSpPr>
        <p:spPr>
          <a:xfrm>
            <a:off x="548640" y="3840480"/>
            <a:ext cx="5422392" cy="2103120"/>
          </a:xfrm>
          <a:prstGeom prst="roundRect">
            <a:avLst>
              <a:gd name="adj" fmla="val 5217"/>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14" name="Unique 3 cercle"/>
          <p:cNvSpPr/>
          <p:nvPr/>
        </p:nvSpPr>
        <p:spPr>
          <a:xfrm>
            <a:off x="822960" y="4114800"/>
            <a:ext cx="777240" cy="777240"/>
          </a:xfrm>
          <a:prstGeom prst="ellipse">
            <a:avLst/>
          </a:prstGeom>
          <a:solidFill>
            <a:srgbClr val="0F6B52"/>
          </a:solidFill>
          <a:ln w="12700">
            <a:solidFill>
              <a:srgbClr val="0F6B52"/>
            </a:solidFill>
            <a:prstDash val="solid"/>
          </a:ln>
        </p:spPr>
      </p:sp>
      <p:pic>
        <p:nvPicPr>
          <p:cNvPr id="15" name="Unique 3 icône" descr="preencoded.png">    </p:cNvPr>
          <p:cNvPicPr>
            <a:picLocks noChangeAspect="1"/>
          </p:cNvPicPr>
          <p:nvPr/>
        </p:nvPicPr>
        <p:blipFill>
          <a:blip r:embed="rId3"/>
          <a:stretch>
            <a:fillRect/>
          </a:stretch>
        </p:blipFill>
        <p:spPr>
          <a:xfrm>
            <a:off x="1009498" y="4301338"/>
            <a:ext cx="404165" cy="404165"/>
          </a:xfrm>
          <a:prstGeom prst="rect">
            <a:avLst/>
          </a:prstGeom>
        </p:spPr>
      </p:pic>
      <p:sp>
        <p:nvSpPr>
          <p:cNvPr id="16" name="Text 11"/>
          <p:cNvSpPr txBox="1"/>
          <p:nvPr/>
        </p:nvSpPr>
        <p:spPr>
          <a:xfrm>
            <a:off x="1828800" y="4206240"/>
            <a:ext cx="3931920" cy="50292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Nemotron qui n'invente rien</a:t>
            </a:r>
            <a:endParaRPr lang="en-US" sz="1900" dirty="0"/>
          </a:p>
        </p:txBody>
      </p:sp>
      <p:sp>
        <p:nvSpPr>
          <p:cNvPr id="17" name="Text 12"/>
          <p:cNvSpPr txBox="1"/>
          <p:nvPr/>
        </p:nvSpPr>
        <p:spPr>
          <a:xfrm>
            <a:off x="822960" y="4983480"/>
            <a:ext cx="4892040" cy="86868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Il ne voit que des faits calculés ; quand une information manque, il le dit et conseille de la demander.</a:t>
            </a:r>
            <a:endParaRPr lang="en-US" sz="1400" dirty="0"/>
          </a:p>
        </p:txBody>
      </p:sp>
      <p:sp>
        <p:nvSpPr>
          <p:cNvPr id="18" name="Unique 4"/>
          <p:cNvSpPr/>
          <p:nvPr/>
        </p:nvSpPr>
        <p:spPr>
          <a:xfrm>
            <a:off x="6217920" y="3840480"/>
            <a:ext cx="5422392" cy="2103120"/>
          </a:xfrm>
          <a:prstGeom prst="roundRect">
            <a:avLst>
              <a:gd name="adj" fmla="val 5217"/>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19" name="Unique 4 cercle"/>
          <p:cNvSpPr/>
          <p:nvPr/>
        </p:nvSpPr>
        <p:spPr>
          <a:xfrm>
            <a:off x="6492240" y="4114800"/>
            <a:ext cx="777240" cy="777240"/>
          </a:xfrm>
          <a:prstGeom prst="ellipse">
            <a:avLst/>
          </a:prstGeom>
          <a:solidFill>
            <a:srgbClr val="0F6B52"/>
          </a:solidFill>
          <a:ln w="12700">
            <a:solidFill>
              <a:srgbClr val="0F6B52"/>
            </a:solidFill>
            <a:prstDash val="solid"/>
          </a:ln>
        </p:spPr>
      </p:sp>
      <p:pic>
        <p:nvPicPr>
          <p:cNvPr id="20" name="Unique 4 icône" descr="preencoded.png">    </p:cNvPr>
          <p:cNvPicPr>
            <a:picLocks noChangeAspect="1"/>
          </p:cNvPicPr>
          <p:nvPr/>
        </p:nvPicPr>
        <p:blipFill>
          <a:blip r:embed="rId4"/>
          <a:stretch>
            <a:fillRect/>
          </a:stretch>
        </p:blipFill>
        <p:spPr>
          <a:xfrm>
            <a:off x="6678778" y="4301338"/>
            <a:ext cx="404165" cy="404165"/>
          </a:xfrm>
          <a:prstGeom prst="rect">
            <a:avLst/>
          </a:prstGeom>
        </p:spPr>
      </p:pic>
      <p:sp>
        <p:nvSpPr>
          <p:cNvPr id="21" name="Text 15"/>
          <p:cNvSpPr txBox="1"/>
          <p:nvPr/>
        </p:nvSpPr>
        <p:spPr>
          <a:xfrm>
            <a:off x="7498080" y="4206240"/>
            <a:ext cx="3931920" cy="50292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Démo fiable</a:t>
            </a:r>
            <a:endParaRPr lang="en-US" sz="1900" dirty="0"/>
          </a:p>
        </p:txBody>
      </p:sp>
      <p:sp>
        <p:nvSpPr>
          <p:cNvPr id="22" name="Text 16"/>
          <p:cNvSpPr txBox="1"/>
          <p:nvPr/>
        </p:nvSpPr>
        <p:spPr>
          <a:xfrm>
            <a:off x="6492240" y="4983480"/>
            <a:ext cx="4892040" cy="86868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Tout vérifié en réel ; SAMPLE_MODE fait tourner le parcours sans aucun service externe.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Le produit en images</a:t>
            </a:r>
            <a:endParaRPr lang="en-US" sz="3400" dirty="0"/>
          </a:p>
        </p:txBody>
      </p:sp>
      <p:pic>
        <p:nvPicPr>
          <p:cNvPr id="3" name="Résultats de recherche" descr="Résultats de Kwatsur : carte d'annonce avec photo d'exemple étiquetée, loyer et équipements">    </p:cNvPr>
          <p:cNvPicPr>
            <a:picLocks noChangeAspect="1"/>
          </p:cNvPicPr>
          <p:nvPr/>
        </p:nvPicPr>
        <p:blipFill>
          <a:blip r:embed="rId1"/>
          <a:stretch>
            <a:fillRect/>
          </a:stretch>
        </p:blipFill>
        <p:spPr>
          <a:xfrm>
            <a:off x="1453896" y="1417320"/>
            <a:ext cx="4983480" cy="3931920"/>
          </a:xfrm>
          <a:prstGeom prst="rect">
            <a:avLst/>
          </a:prstGeom>
        </p:spPr>
      </p:pic>
      <p:pic>
        <p:nvPicPr>
          <p:cNvPr id="4" name="Illustration du salon" descr="Salon généré par IA pour une maison de Douala">    </p:cNvPr>
          <p:cNvPicPr>
            <a:picLocks noChangeAspect="1"/>
          </p:cNvPicPr>
          <p:nvPr/>
        </p:nvPicPr>
        <p:blipFill>
          <a:blip r:embed="rId2"/>
          <a:stretch>
            <a:fillRect/>
          </a:stretch>
        </p:blipFill>
        <p:spPr>
          <a:xfrm>
            <a:off x="6803136" y="1417320"/>
            <a:ext cx="3931920" cy="3931920"/>
          </a:xfrm>
          <a:prstGeom prst="rect">
            <a:avLst/>
          </a:prstGeom>
        </p:spPr>
      </p:pic>
      <p:sp>
        <p:nvSpPr>
          <p:cNvPr id="5" name="Text 1"/>
          <p:cNvSpPr txBox="1"/>
          <p:nvPr/>
        </p:nvSpPr>
        <p:spPr>
          <a:xfrm>
            <a:off x="1453896" y="5486400"/>
            <a:ext cx="4983480" cy="640080"/>
          </a:xfrm>
          <a:prstGeom prst="rect">
            <a:avLst/>
          </a:prstGeom>
          <a:noFill/>
          <a:ln/>
        </p:spPr>
        <p:txBody>
          <a:bodyPr wrap="square" lIns="0" tIns="0" rIns="0" bIns="0" rtlCol="0" anchor="t"/>
          <a:lstStyle/>
          <a:p>
            <a:pPr indent="0" marL="0">
              <a:buNone/>
            </a:pPr>
            <a:r>
              <a:rPr lang="en-US" sz="1300" dirty="0">
                <a:solidFill>
                  <a:schemeClr val="accent6"/>
                </a:solidFill>
                <a:latin typeface="Calibri" pitchFamily="34" charset="0"/>
                <a:ea typeface="Calibri" pitchFamily="34" charset="-122"/>
                <a:cs typeface="Calibri" pitchFamily="34" charset="-120"/>
              </a:rPr>
              <a:t>Résultats : photo d'exemple créditée, loyer, équipements ; une information inconnue reste « non renseignée ».</a:t>
            </a:r>
            <a:endParaRPr lang="en-US" sz="1300" dirty="0"/>
          </a:p>
        </p:txBody>
      </p:sp>
      <p:sp>
        <p:nvSpPr>
          <p:cNvPr id="6" name="Text 2"/>
          <p:cNvSpPr txBox="1"/>
          <p:nvPr/>
        </p:nvSpPr>
        <p:spPr>
          <a:xfrm>
            <a:off x="6803136" y="5486400"/>
            <a:ext cx="3931920" cy="640080"/>
          </a:xfrm>
          <a:prstGeom prst="rect">
            <a:avLst/>
          </a:prstGeom>
          <a:noFill/>
          <a:ln/>
        </p:spPr>
        <p:txBody>
          <a:bodyPr wrap="square" lIns="0" tIns="0" rIns="0" bIns="0" rtlCol="0" anchor="t"/>
          <a:lstStyle/>
          <a:p>
            <a:pPr indent="0" marL="0">
              <a:buNone/>
            </a:pPr>
            <a:r>
              <a:rPr lang="en-US" sz="1300" dirty="0">
                <a:solidFill>
                  <a:schemeClr val="accent6"/>
                </a:solidFill>
                <a:latin typeface="Calibri" pitchFamily="34" charset="0"/>
                <a:ea typeface="Calibri" pitchFamily="34" charset="-122"/>
                <a:cs typeface="Calibri" pitchFamily="34" charset="-120"/>
              </a:rPr>
              <a:t>Illustration IA d'un salon (Cloudflare FLUX), guidée par la vision et le contexte camerounais, toujours étiquetée.</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Et ensuite</a:t>
            </a:r>
            <a:endParaRPr lang="en-US" sz="3400" dirty="0"/>
          </a:p>
        </p:txBody>
      </p:sp>
      <p:sp>
        <p:nvSpPr>
          <p:cNvPr id="3" name="Suite 1"/>
          <p:cNvSpPr/>
          <p:nvPr/>
        </p:nvSpPr>
        <p:spPr>
          <a:xfrm>
            <a:off x="548640" y="1463040"/>
            <a:ext cx="5422392" cy="1325880"/>
          </a:xfrm>
          <a:prstGeom prst="roundRect">
            <a:avLst>
              <a:gd name="adj" fmla="val 8276"/>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4" name="Text 2"/>
          <p:cNvSpPr txBox="1"/>
          <p:nvPr/>
        </p:nvSpPr>
        <p:spPr>
          <a:xfrm>
            <a:off x="822960" y="1691640"/>
            <a:ext cx="640080" cy="822960"/>
          </a:xfrm>
          <a:prstGeom prst="rect">
            <a:avLst/>
          </a:prstGeom>
          <a:noFill/>
          <a:ln/>
        </p:spPr>
        <p:txBody>
          <a:bodyPr wrap="square" lIns="0" tIns="0" rIns="0" bIns="0" rtlCol="0" anchor="t"/>
          <a:lstStyle/>
          <a:p>
            <a:pPr indent="0" marL="0">
              <a:buNone/>
            </a:pPr>
            <a:r>
              <a:rPr lang="en-US" sz="3600" b="1" dirty="0">
                <a:solidFill>
                  <a:schemeClr val="accent2"/>
                </a:solidFill>
                <a:latin typeface="Arial" pitchFamily="34" charset="0"/>
                <a:ea typeface="Arial" pitchFamily="34" charset="-122"/>
                <a:cs typeface="Arial" pitchFamily="34" charset="-120"/>
              </a:rPr>
              <a:t>1</a:t>
            </a:r>
            <a:endParaRPr lang="en-US" sz="3600" dirty="0"/>
          </a:p>
        </p:txBody>
      </p:sp>
      <p:sp>
        <p:nvSpPr>
          <p:cNvPr id="5" name="Text 3"/>
          <p:cNvSpPr txBox="1"/>
          <p:nvPr/>
        </p:nvSpPr>
        <p:spPr>
          <a:xfrm>
            <a:off x="1554480" y="1664208"/>
            <a:ext cx="4206240" cy="41148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Vraies sources d'annonces</a:t>
            </a:r>
            <a:endParaRPr lang="en-US" sz="1800" dirty="0"/>
          </a:p>
        </p:txBody>
      </p:sp>
      <p:sp>
        <p:nvSpPr>
          <p:cNvPr id="6" name="Text 4"/>
          <p:cNvSpPr txBox="1"/>
          <p:nvPr/>
        </p:nvSpPr>
        <p:spPr>
          <a:xfrm>
            <a:off x="1554480" y="2121408"/>
            <a:ext cx="4206240" cy="54864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Agences et plateformes partenaires branchées dans Zetaris</a:t>
            </a:r>
            <a:endParaRPr lang="en-US" sz="1400" dirty="0"/>
          </a:p>
        </p:txBody>
      </p:sp>
      <p:sp>
        <p:nvSpPr>
          <p:cNvPr id="7" name="Suite 2"/>
          <p:cNvSpPr/>
          <p:nvPr/>
        </p:nvSpPr>
        <p:spPr>
          <a:xfrm>
            <a:off x="6217920" y="1463040"/>
            <a:ext cx="5422392" cy="1325880"/>
          </a:xfrm>
          <a:prstGeom prst="roundRect">
            <a:avLst>
              <a:gd name="adj" fmla="val 8276"/>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8" name="Text 6"/>
          <p:cNvSpPr txBox="1"/>
          <p:nvPr/>
        </p:nvSpPr>
        <p:spPr>
          <a:xfrm>
            <a:off x="6492240" y="1691640"/>
            <a:ext cx="640080" cy="822960"/>
          </a:xfrm>
          <a:prstGeom prst="rect">
            <a:avLst/>
          </a:prstGeom>
          <a:noFill/>
          <a:ln/>
        </p:spPr>
        <p:txBody>
          <a:bodyPr wrap="square" lIns="0" tIns="0" rIns="0" bIns="0" rtlCol="0" anchor="t"/>
          <a:lstStyle/>
          <a:p>
            <a:pPr indent="0" marL="0">
              <a:buNone/>
            </a:pPr>
            <a:r>
              <a:rPr lang="en-US" sz="3600" b="1" dirty="0">
                <a:solidFill>
                  <a:schemeClr val="accent2"/>
                </a:solidFill>
                <a:latin typeface="Arial" pitchFamily="34" charset="0"/>
                <a:ea typeface="Arial" pitchFamily="34" charset="-122"/>
                <a:cs typeface="Arial" pitchFamily="34" charset="-120"/>
              </a:rPr>
              <a:t>2</a:t>
            </a:r>
            <a:endParaRPr lang="en-US" sz="3600" dirty="0"/>
          </a:p>
        </p:txBody>
      </p:sp>
      <p:sp>
        <p:nvSpPr>
          <p:cNvPr id="9" name="Text 7"/>
          <p:cNvSpPr txBox="1"/>
          <p:nvPr/>
        </p:nvSpPr>
        <p:spPr>
          <a:xfrm>
            <a:off x="7223760" y="1664208"/>
            <a:ext cx="4206240" cy="41148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Mémoire entre sessions</a:t>
            </a:r>
            <a:endParaRPr lang="en-US" sz="1800" dirty="0"/>
          </a:p>
        </p:txBody>
      </p:sp>
      <p:sp>
        <p:nvSpPr>
          <p:cNvPr id="10" name="Text 8"/>
          <p:cNvSpPr txBox="1"/>
          <p:nvPr/>
        </p:nvSpPr>
        <p:spPr>
          <a:xfrm>
            <a:off x="7223760" y="2121408"/>
            <a:ext cx="4206240" cy="54864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Moteur Meterless H-MEM : retrouver ses préférences d'une visite à l'autre</a:t>
            </a:r>
            <a:endParaRPr lang="en-US" sz="1400" dirty="0"/>
          </a:p>
        </p:txBody>
      </p:sp>
      <p:sp>
        <p:nvSpPr>
          <p:cNvPr id="11" name="Suite 3"/>
          <p:cNvSpPr/>
          <p:nvPr/>
        </p:nvSpPr>
        <p:spPr>
          <a:xfrm>
            <a:off x="548640" y="3017520"/>
            <a:ext cx="5422392" cy="1325880"/>
          </a:xfrm>
          <a:prstGeom prst="roundRect">
            <a:avLst>
              <a:gd name="adj" fmla="val 8276"/>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12" name="Text 10"/>
          <p:cNvSpPr txBox="1"/>
          <p:nvPr/>
        </p:nvSpPr>
        <p:spPr>
          <a:xfrm>
            <a:off x="822960" y="3246120"/>
            <a:ext cx="640080" cy="822960"/>
          </a:xfrm>
          <a:prstGeom prst="rect">
            <a:avLst/>
          </a:prstGeom>
          <a:noFill/>
          <a:ln/>
        </p:spPr>
        <p:txBody>
          <a:bodyPr wrap="square" lIns="0" tIns="0" rIns="0" bIns="0" rtlCol="0" anchor="t"/>
          <a:lstStyle/>
          <a:p>
            <a:pPr indent="0" marL="0">
              <a:buNone/>
            </a:pPr>
            <a:r>
              <a:rPr lang="en-US" sz="3600" b="1" dirty="0">
                <a:solidFill>
                  <a:schemeClr val="accent2"/>
                </a:solidFill>
                <a:latin typeface="Arial" pitchFamily="34" charset="0"/>
                <a:ea typeface="Arial" pitchFamily="34" charset="-122"/>
                <a:cs typeface="Arial" pitchFamily="34" charset="-120"/>
              </a:rPr>
              <a:t>3</a:t>
            </a:r>
            <a:endParaRPr lang="en-US" sz="3600" dirty="0"/>
          </a:p>
        </p:txBody>
      </p:sp>
      <p:sp>
        <p:nvSpPr>
          <p:cNvPr id="13" name="Text 11"/>
          <p:cNvSpPr txBox="1"/>
          <p:nvPr/>
        </p:nvSpPr>
        <p:spPr>
          <a:xfrm>
            <a:off x="1554480" y="3218688"/>
            <a:ext cx="4206240" cy="41148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Agent vérificateur</a:t>
            </a:r>
            <a:endParaRPr lang="en-US" sz="1800" dirty="0"/>
          </a:p>
        </p:txBody>
      </p:sp>
      <p:sp>
        <p:nvSpPr>
          <p:cNvPr id="14" name="Text 12"/>
          <p:cNvSpPr txBox="1"/>
          <p:nvPr/>
        </p:nvSpPr>
        <p:spPr>
          <a:xfrm>
            <a:off x="1554480" y="3675888"/>
            <a:ext cx="4206240" cy="54864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Un second agent qui relit chaque explication avant envoi</a:t>
            </a:r>
            <a:endParaRPr lang="en-US" sz="1400" dirty="0"/>
          </a:p>
        </p:txBody>
      </p:sp>
      <p:sp>
        <p:nvSpPr>
          <p:cNvPr id="15" name="Suite 4"/>
          <p:cNvSpPr/>
          <p:nvPr/>
        </p:nvSpPr>
        <p:spPr>
          <a:xfrm>
            <a:off x="6217920" y="3017520"/>
            <a:ext cx="5422392" cy="1325880"/>
          </a:xfrm>
          <a:prstGeom prst="roundRect">
            <a:avLst>
              <a:gd name="adj" fmla="val 8276"/>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16" name="Text 14"/>
          <p:cNvSpPr txBox="1"/>
          <p:nvPr/>
        </p:nvSpPr>
        <p:spPr>
          <a:xfrm>
            <a:off x="6492240" y="3246120"/>
            <a:ext cx="640080" cy="822960"/>
          </a:xfrm>
          <a:prstGeom prst="rect">
            <a:avLst/>
          </a:prstGeom>
          <a:noFill/>
          <a:ln/>
        </p:spPr>
        <p:txBody>
          <a:bodyPr wrap="square" lIns="0" tIns="0" rIns="0" bIns="0" rtlCol="0" anchor="t"/>
          <a:lstStyle/>
          <a:p>
            <a:pPr indent="0" marL="0">
              <a:buNone/>
            </a:pPr>
            <a:r>
              <a:rPr lang="en-US" sz="3600" b="1" dirty="0">
                <a:solidFill>
                  <a:schemeClr val="accent2"/>
                </a:solidFill>
                <a:latin typeface="Arial" pitchFamily="34" charset="0"/>
                <a:ea typeface="Arial" pitchFamily="34" charset="-122"/>
                <a:cs typeface="Arial" pitchFamily="34" charset="-120"/>
              </a:rPr>
              <a:t>4</a:t>
            </a:r>
            <a:endParaRPr lang="en-US" sz="3600" dirty="0"/>
          </a:p>
        </p:txBody>
      </p:sp>
      <p:sp>
        <p:nvSpPr>
          <p:cNvPr id="17" name="Text 15"/>
          <p:cNvSpPr txBox="1"/>
          <p:nvPr/>
        </p:nvSpPr>
        <p:spPr>
          <a:xfrm>
            <a:off x="7223760" y="3218688"/>
            <a:ext cx="4206240" cy="41148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Confiance</a:t>
            </a:r>
            <a:endParaRPr lang="en-US" sz="1800" dirty="0"/>
          </a:p>
        </p:txBody>
      </p:sp>
      <p:sp>
        <p:nvSpPr>
          <p:cNvPr id="18" name="Text 16"/>
          <p:cNvSpPr txBox="1"/>
          <p:nvPr/>
        </p:nvSpPr>
        <p:spPr>
          <a:xfrm>
            <a:off x="7223760" y="3675888"/>
            <a:ext cx="4206240" cy="54864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Comptes, visites vérifiées, signalement des annonces suspectes</a:t>
            </a:r>
            <a:endParaRPr lang="en-US" sz="1400" dirty="0"/>
          </a:p>
        </p:txBody>
      </p:sp>
      <p:sp>
        <p:nvSpPr>
          <p:cNvPr id="19" name="Suite 5"/>
          <p:cNvSpPr/>
          <p:nvPr/>
        </p:nvSpPr>
        <p:spPr>
          <a:xfrm>
            <a:off x="548640" y="4572000"/>
            <a:ext cx="5422392" cy="1325880"/>
          </a:xfrm>
          <a:prstGeom prst="roundRect">
            <a:avLst>
              <a:gd name="adj" fmla="val 8276"/>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20" name="Text 18"/>
          <p:cNvSpPr txBox="1"/>
          <p:nvPr/>
        </p:nvSpPr>
        <p:spPr>
          <a:xfrm>
            <a:off x="822960" y="4800600"/>
            <a:ext cx="640080" cy="822960"/>
          </a:xfrm>
          <a:prstGeom prst="rect">
            <a:avLst/>
          </a:prstGeom>
          <a:noFill/>
          <a:ln/>
        </p:spPr>
        <p:txBody>
          <a:bodyPr wrap="square" lIns="0" tIns="0" rIns="0" bIns="0" rtlCol="0" anchor="t"/>
          <a:lstStyle/>
          <a:p>
            <a:pPr indent="0" marL="0">
              <a:buNone/>
            </a:pPr>
            <a:r>
              <a:rPr lang="en-US" sz="3600" b="1" dirty="0">
                <a:solidFill>
                  <a:schemeClr val="accent2"/>
                </a:solidFill>
                <a:latin typeface="Arial" pitchFamily="34" charset="0"/>
                <a:ea typeface="Arial" pitchFamily="34" charset="-122"/>
                <a:cs typeface="Arial" pitchFamily="34" charset="-120"/>
              </a:rPr>
              <a:t>5</a:t>
            </a:r>
            <a:endParaRPr lang="en-US" sz="3600" dirty="0"/>
          </a:p>
        </p:txBody>
      </p:sp>
      <p:sp>
        <p:nvSpPr>
          <p:cNvPr id="21" name="Text 19"/>
          <p:cNvSpPr txBox="1"/>
          <p:nvPr/>
        </p:nvSpPr>
        <p:spPr>
          <a:xfrm>
            <a:off x="1554480" y="4773168"/>
            <a:ext cx="4206240" cy="41148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Canaux</a:t>
            </a:r>
            <a:endParaRPr lang="en-US" sz="1800" dirty="0"/>
          </a:p>
        </p:txBody>
      </p:sp>
      <p:sp>
        <p:nvSpPr>
          <p:cNvPr id="22" name="Text 20"/>
          <p:cNvSpPr txBox="1"/>
          <p:nvPr/>
        </p:nvSpPr>
        <p:spPr>
          <a:xfrm>
            <a:off x="1554480" y="5230368"/>
            <a:ext cx="4206240" cy="54864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WhatsApp et SMS, là où se cherchent les logements au Cameroun</a:t>
            </a:r>
            <a:endParaRPr lang="en-US" sz="1400" dirty="0"/>
          </a:p>
        </p:txBody>
      </p:sp>
      <p:sp>
        <p:nvSpPr>
          <p:cNvPr id="23" name="Suite 6"/>
          <p:cNvSpPr/>
          <p:nvPr/>
        </p:nvSpPr>
        <p:spPr>
          <a:xfrm>
            <a:off x="6217920" y="4572000"/>
            <a:ext cx="5422392" cy="1325880"/>
          </a:xfrm>
          <a:prstGeom prst="roundRect">
            <a:avLst>
              <a:gd name="adj" fmla="val 8276"/>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24" name="Text 22"/>
          <p:cNvSpPr txBox="1"/>
          <p:nvPr/>
        </p:nvSpPr>
        <p:spPr>
          <a:xfrm>
            <a:off x="6492240" y="4800600"/>
            <a:ext cx="640080" cy="822960"/>
          </a:xfrm>
          <a:prstGeom prst="rect">
            <a:avLst/>
          </a:prstGeom>
          <a:noFill/>
          <a:ln/>
        </p:spPr>
        <p:txBody>
          <a:bodyPr wrap="square" lIns="0" tIns="0" rIns="0" bIns="0" rtlCol="0" anchor="t"/>
          <a:lstStyle/>
          <a:p>
            <a:pPr indent="0" marL="0">
              <a:buNone/>
            </a:pPr>
            <a:r>
              <a:rPr lang="en-US" sz="3600" b="1" dirty="0">
                <a:solidFill>
                  <a:schemeClr val="accent2"/>
                </a:solidFill>
                <a:latin typeface="Arial" pitchFamily="34" charset="0"/>
                <a:ea typeface="Arial" pitchFamily="34" charset="-122"/>
                <a:cs typeface="Arial" pitchFamily="34" charset="-120"/>
              </a:rPr>
              <a:t>6</a:t>
            </a:r>
            <a:endParaRPr lang="en-US" sz="3600" dirty="0"/>
          </a:p>
        </p:txBody>
      </p:sp>
      <p:sp>
        <p:nvSpPr>
          <p:cNvPr id="25" name="Text 23"/>
          <p:cNvSpPr txBox="1"/>
          <p:nvPr/>
        </p:nvSpPr>
        <p:spPr>
          <a:xfrm>
            <a:off x="7223760" y="4773168"/>
            <a:ext cx="4206240" cy="41148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Couverture</a:t>
            </a:r>
            <a:endParaRPr lang="en-US" sz="1800" dirty="0"/>
          </a:p>
        </p:txBody>
      </p:sp>
      <p:sp>
        <p:nvSpPr>
          <p:cNvPr id="26" name="Text 24"/>
          <p:cNvSpPr txBox="1"/>
          <p:nvPr/>
        </p:nvSpPr>
        <p:spPr>
          <a:xfrm>
            <a:off x="7223760" y="5230368"/>
            <a:ext cx="4206240" cy="54864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Autres villes (Bafoussam, Garoua, Kribi) et langue anglaise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1920240"/>
            <a:ext cx="8686800" cy="1280160"/>
          </a:xfrm>
          <a:prstGeom prst="rect">
            <a:avLst/>
          </a:prstGeom>
          <a:noFill/>
          <a:ln/>
        </p:spPr>
        <p:txBody>
          <a:bodyPr wrap="square" lIns="0" tIns="0" rIns="0" bIns="0" rtlCol="0" anchor="b"/>
          <a:lstStyle/>
          <a:p>
            <a:pPr algn="l" indent="0" marL="0">
              <a:buNone/>
            </a:pPr>
            <a:r>
              <a:rPr lang="en-US" sz="6000" b="1" dirty="0">
                <a:solidFill>
                  <a:schemeClr val="bg1"/>
                </a:solidFill>
                <a:latin typeface="Arial" pitchFamily="34" charset="0"/>
                <a:ea typeface="Arial" pitchFamily="34" charset="-122"/>
                <a:cs typeface="Arial" pitchFamily="34" charset="-120"/>
              </a:rPr>
              <a:t>Merci</a:t>
            </a:r>
            <a:endParaRPr lang="en-US" sz="6000" dirty="0"/>
          </a:p>
        </p:txBody>
      </p:sp>
      <p:sp>
        <p:nvSpPr>
          <p:cNvPr id="3" name="Text 0"/>
          <p:cNvSpPr/>
          <p:nvPr>
            <p:ph idx="101" type="body" hasCustomPrompt="1"/>
          </p:nvPr>
        </p:nvSpPr>
        <p:spPr>
          <a:xfrm>
            <a:off x="548640" y="3337560"/>
            <a:ext cx="8412480" cy="1463040"/>
          </a:xfrm>
          <a:prstGeom prst="rect">
            <a:avLst/>
          </a:prstGeom>
          <a:noFill/>
          <a:ln/>
        </p:spPr>
        <p:txBody>
          <a:bodyPr wrap="square" lIns="0" tIns="0" rIns="0" bIns="0" rtlCol="0" anchor="t"/>
          <a:lstStyle/>
          <a:p>
            <a:pPr indent="0" marL="0">
              <a:buNone/>
            </a:pPr>
            <a:r>
              <a:rPr lang="en-US" sz="2400" dirty="0">
                <a:solidFill>
                  <a:schemeClr val="accent3"/>
                </a:solidFill>
                <a:latin typeface="Calibri" pitchFamily="34" charset="0"/>
                <a:ea typeface="Calibri" pitchFamily="34" charset="-122"/>
                <a:cs typeface="Calibri" pitchFamily="34" charset="-120"/>
              </a:rPr>
              <a:t>Kwatsur cherche, vérifie et explique, sans jamais inventer.</a:t>
            </a:r>
            <a:endParaRPr lang="en-US" sz="2400" dirty="0"/>
          </a:p>
        </p:txBody>
      </p:sp>
      <p:sp>
        <p:nvSpPr>
          <p:cNvPr id="4" name="GitHub cercle"/>
          <p:cNvSpPr/>
          <p:nvPr/>
        </p:nvSpPr>
        <p:spPr>
          <a:xfrm>
            <a:off x="9692640" y="2011680"/>
            <a:ext cx="1828800" cy="1828800"/>
          </a:xfrm>
          <a:prstGeom prst="ellipse">
            <a:avLst/>
          </a:prstGeom>
          <a:solidFill>
            <a:srgbClr val="0A4A39"/>
          </a:solidFill>
          <a:ln w="12700">
            <a:solidFill>
              <a:srgbClr val="0A4A39"/>
            </a:solidFill>
            <a:prstDash val="solid"/>
          </a:ln>
        </p:spPr>
      </p:sp>
      <p:pic>
        <p:nvPicPr>
          <p:cNvPr id="5" name="GitHub icône" descr="preencoded.png">    </p:cNvPr>
          <p:cNvPicPr>
            <a:picLocks noChangeAspect="1"/>
          </p:cNvPicPr>
          <p:nvPr/>
        </p:nvPicPr>
        <p:blipFill>
          <a:blip r:embed="rId1"/>
          <a:stretch>
            <a:fillRect/>
          </a:stretch>
        </p:blipFill>
        <p:spPr>
          <a:xfrm>
            <a:off x="10131552" y="2450592"/>
            <a:ext cx="950976" cy="950976"/>
          </a:xfrm>
          <a:prstGeom prst="rect">
            <a:avLst/>
          </a:prstGeom>
        </p:spPr>
      </p:pic>
      <p:sp>
        <p:nvSpPr>
          <p:cNvPr id="6" name="Text 3"/>
          <p:cNvSpPr txBox="1"/>
          <p:nvPr/>
        </p:nvSpPr>
        <p:spPr>
          <a:xfrm>
            <a:off x="548640" y="5394960"/>
            <a:ext cx="10058400" cy="365760"/>
          </a:xfrm>
          <a:prstGeom prst="rect">
            <a:avLst/>
          </a:prstGeom>
          <a:noFill/>
          <a:ln/>
        </p:spPr>
        <p:txBody>
          <a:bodyPr wrap="square" lIns="0" tIns="0" rIns="0" bIns="0" rtlCol="0" anchor="t"/>
          <a:lstStyle/>
          <a:p>
            <a:pPr indent="0" marL="0">
              <a:buNone/>
            </a:pPr>
            <a:r>
              <a:rPr lang="en-US" sz="1800" b="1" dirty="0">
                <a:solidFill>
                  <a:schemeClr val="bg1"/>
                </a:solidFill>
                <a:latin typeface="Calibri" pitchFamily="34" charset="0"/>
                <a:ea typeface="Calibri" pitchFamily="34" charset="-122"/>
                <a:cs typeface="Calibri" pitchFamily="34" charset="-120"/>
              </a:rPr>
              <a:t>github.com/saoulforotheruse-tech/kwatsur</a:t>
            </a:r>
            <a:endParaRPr lang="en-US" sz="1800" dirty="0"/>
          </a:p>
        </p:txBody>
      </p:sp>
      <p:sp>
        <p:nvSpPr>
          <p:cNvPr id="7" name="Text 4"/>
          <p:cNvSpPr txBox="1"/>
          <p:nvPr/>
        </p:nvSpPr>
        <p:spPr>
          <a:xfrm>
            <a:off x="548640" y="5806440"/>
            <a:ext cx="10515600" cy="365760"/>
          </a:xfrm>
          <a:prstGeom prst="rect">
            <a:avLst/>
          </a:prstGeom>
          <a:noFill/>
          <a:ln/>
        </p:spPr>
        <p:txBody>
          <a:bodyPr wrap="square" lIns="0" tIns="0" rIns="0" bIns="0" rtlCol="0" anchor="t"/>
          <a:lstStyle/>
          <a:p>
            <a:pPr indent="0" marL="0">
              <a:buNone/>
            </a:pPr>
            <a:r>
              <a:rPr lang="en-US" sz="1400" dirty="0">
                <a:solidFill>
                  <a:schemeClr val="accent3"/>
                </a:solidFill>
                <a:latin typeface="Calibri" pitchFamily="34" charset="0"/>
                <a:ea typeface="Calibri" pitchFamily="34" charset="-122"/>
                <a:cs typeface="Calibri" pitchFamily="34" charset="-120"/>
              </a:rPr>
              <a:t>Démarrage : docker compose up --build  ·  repli sans service externe : SAMPLE_MODE=true</a:t>
            </a:r>
            <a:endParaRPr lang="en-US" sz="1400" dirty="0"/>
          </a:p>
        </p:txBody>
      </p:sp>
    </p:spTree>
  </p:cSld>
  <p:clrMapOvr>
    <a:masterClrMapping/>
  </p:clrMapOvr>
</p:sld>
</file>

<file path=ppt/theme/theme1.xml><?xml version="1.0" encoding="utf-8"?>
<a:theme xmlns:a="http://schemas.openxmlformats.org/drawingml/2006/main" name="Kwatsur">
  <a:themeElements>
    <a:clrScheme name="Kwatsur">
      <a:dk1>
        <a:srgbClr val="14231C"/>
      </a:dk1>
      <a:lt1>
        <a:srgbClr val="FFFFFF"/>
      </a:lt1>
      <a:dk2>
        <a:srgbClr val="0A4A39"/>
      </a:dk2>
      <a:lt2>
        <a:srgbClr val="EEF5F1"/>
      </a:lt2>
      <a:accent1>
        <a:srgbClr val="0F6B52"/>
      </a:accent1>
      <a:accent2>
        <a:srgbClr val="C2562F"/>
      </a:accent2>
      <a:accent3>
        <a:srgbClr val="D8EFE6"/>
      </a:accent3>
      <a:accent4>
        <a:srgbClr val="3D5348"/>
      </a:accent4>
      <a:accent5>
        <a:srgbClr val="E8B04B"/>
      </a:accent5>
      <a:accent6>
        <a:srgbClr val="6B7F74"/>
      </a:accent6>
      <a:hlink>
        <a:srgbClr val="0F6B52"/>
      </a:hlink>
      <a:folHlink>
        <a:srgbClr val="0A4A39"/>
      </a:folHlink>
    </a:clrScheme>
    <a:fontScheme name="Kwatsur">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Kwatsur — Open Agent Hackathon 2026</dc:title>
  <dc:subject>PptxGenJS Presentation</dc:subject>
  <dc:creator>Équipe Kwatsur</dc:creator>
  <cp:lastModifiedBy>Équipe Kwatsur</cp:lastModifiedBy>
  <cp:revision>1</cp:revision>
  <dcterms:created xsi:type="dcterms:W3CDTF">2026-10-27T14:17:20Z</dcterms:created>
  <dcterms:modified xsi:type="dcterms:W3CDTF">2026-10-27T14:17:20Z</dcterms:modified>
</cp:coreProperties>
</file>