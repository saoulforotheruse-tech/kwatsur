
<file path=[Content_Types].xml><?xml version="1.0" encoding="utf-8"?>
<ns0:Types xmlns:ns0="http://schemas.openxmlformats.org/package/2006/content-types">
  <ns0:Default Extension="xml" ContentType="application/xml"/>
  <ns0:Default Extension="rels" ContentType="application/vnd.openxmlformats-package.relationships+xml"/>
  <ns0:Default Extension="jpeg" ContentType="image/jpeg"/>
  <ns0:Default Extension="jpg" ContentType="image/jpg"/>
  <ns0:Default Extension="svg" ContentType="image/svg+xml"/>
  <ns0:Default Extension="png" ContentType="image/png"/>
  <ns0:Default Extension="gif" ContentType="image/gif"/>
  <ns0:Default Extension="m4v" ContentType="video/mp4"/>
  <ns0:Default Extension="mp4" ContentType="video/mp4"/>
  <ns0:Default Extension="vml" ContentType="application/vnd.openxmlformats-officedocument.vmlDrawing"/>
  <ns0:Default Extension="xlsx" ContentType="application/vnd.openxmlformats-officedocument.spreadsheetml.sheet"/>
  <ns0:Override PartName="/ppt/presentation.xml" ContentType="application/vnd.openxmlformats-officedocument.presentationml.presentation.main+xml"/>
  <ns0:Override PartName="/ppt/notesMasters/notesMaster1.xml" ContentType="application/vnd.openxmlformats-officedocument.presentationml.notesMaster+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Masters/slideMaster2.xml" ContentType="application/vnd.openxmlformats-officedocument.presentationml.slideMaster+xml"/>
  <ns0:Override PartName="/ppt/slides/slide2.xml" ContentType="application/vnd.openxmlformats-officedocument.presentationml.slide+xml"/>
  <ns0:Override PartName="/ppt/slideMasters/slideMaster3.xml" ContentType="application/vnd.openxmlformats-officedocument.presentationml.slideMaster+xml"/>
  <ns0:Override PartName="/ppt/slides/slide3.xml" ContentType="application/vnd.openxmlformats-officedocument.presentationml.slide+xml"/>
  <ns0:Override PartName="/ppt/slideMasters/slideMaster4.xml" ContentType="application/vnd.openxmlformats-officedocument.presentationml.slideMaster+xml"/>
  <ns0:Override PartName="/ppt/slides/slide4.xml" ContentType="application/vnd.openxmlformats-officedocument.presentationml.slide+xml"/>
  <ns0:Override PartName="/ppt/slideMasters/slideMaster5.xml" ContentType="application/vnd.openxmlformats-officedocument.presentationml.slideMaster+xml"/>
  <ns0:Override PartName="/ppt/slides/slide5.xml" ContentType="application/vnd.openxmlformats-officedocument.presentationml.slide+xml"/>
  <ns0:Override PartName="/ppt/slideMasters/slideMaster6.xml" ContentType="application/vnd.openxmlformats-officedocument.presentationml.slideMaster+xml"/>
  <ns0:Override PartName="/ppt/slides/slide6.xml" ContentType="application/vnd.openxmlformats-officedocument.presentationml.slide+xml"/>
  <ns0:Override PartName="/ppt/slideMasters/slideMaster7.xml" ContentType="application/vnd.openxmlformats-officedocument.presentationml.slideMaster+xml"/>
  <ns0:Override PartName="/ppt/slides/slide7.xml" ContentType="application/vnd.openxmlformats-officedocument.presentationml.slide+xml"/>
  <ns0:Override PartName="/ppt/slideMasters/slideMaster8.xml" ContentType="application/vnd.openxmlformats-officedocument.presentationml.slideMaster+xml"/>
  <ns0:Override PartName="/ppt/slides/slide8.xml" ContentType="application/vnd.openxmlformats-officedocument.presentationml.slide+xml"/>
  <ns0:Override PartName="/ppt/slideMasters/slideMaster9.xml" ContentType="application/vnd.openxmlformats-officedocument.presentationml.slideMaster+xml"/>
  <ns0:Override PartName="/ppt/slides/slide9.xml" ContentType="application/vnd.openxmlformats-officedocument.presentationml.slide+xml"/>
  <ns0:Override PartName="/ppt/slideMasters/slideMaster10.xml" ContentType="application/vnd.openxmlformats-officedocument.presentationml.slideMaster+xml"/>
  <ns0:Override PartName="/ppt/slides/slide10.xml" ContentType="application/vnd.openxmlformats-officedocument.presentationml.slide+xml"/>
  <ns0:Override PartName="/ppt/slideMasters/slideMaster11.xml" ContentType="application/vnd.openxmlformats-officedocument.presentationml.slideMaster+xml"/>
  <ns0:Override PartName="/ppt/slides/slide11.xml" ContentType="application/vnd.openxmlformats-officedocument.presentationml.slide+xml"/>
  <ns0:Override PartName="/ppt/presProps.xml" ContentType="application/vnd.openxmlformats-officedocument.presentationml.presProps+xml"/>
  <ns0:Override PartName="/ppt/viewProps.xml" ContentType="application/vnd.openxmlformats-officedocument.presentationml.viewProps+xml"/>
  <ns0:Override PartName="/ppt/theme/theme1.xml" ContentType="application/vnd.openxmlformats-officedocument.theme+xml"/>
  <ns0:Override PartName="/ppt/tableStyles.xml" ContentType="application/vnd.openxmlformats-officedocument.presentationml.tableStyles+xml"/>
  <ns0:Override PartName="/ppt/slideLayouts/slideLayout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notesSlides/notesSlide1.xml" ContentType="application/vnd.openxmlformats-officedocument.presentationml.notesSlide+xml"/>
  <ns0:Override PartName="/ppt/notesSlides/notesSlide2.xml" ContentType="application/vnd.openxmlformats-officedocument.presentationml.notesSlide+xml"/>
  <ns0:Override PartName="/ppt/notesSlides/notesSlide3.xml" ContentType="application/vnd.openxmlformats-officedocument.presentationml.notesSlide+xml"/>
  <ns0:Override PartName="/ppt/notesSlides/notesSlide4.xml" ContentType="application/vnd.openxmlformats-officedocument.presentationml.notesSlide+xml"/>
  <ns0:Override PartName="/ppt/notesSlides/notesSlide5.xml" ContentType="application/vnd.openxmlformats-officedocument.presentationml.notesSlide+xml"/>
  <ns0:Override PartName="/ppt/notesSlides/notesSlide6.xml" ContentType="application/vnd.openxmlformats-officedocument.presentationml.notesSlide+xml"/>
  <ns0:Override PartName="/ppt/notesSlides/notesSlide7.xml" ContentType="application/vnd.openxmlformats-officedocument.presentationml.notesSlide+xml"/>
  <ns0:Override PartName="/ppt/notesSlides/notesSlide8.xml" ContentType="application/vnd.openxmlformats-officedocument.presentationml.notesSlide+xml"/>
  <ns0:Override PartName="/ppt/notesSlides/notesSlide9.xml" ContentType="application/vnd.openxmlformats-officedocument.presentationml.notesSlide+xml"/>
  <ns0:Override PartName="/ppt/notesSlides/notesSlide10.xml" ContentType="application/vnd.openxmlformats-officedocument.presentationml.notesSlide+xml"/>
  <ns0:Override PartName="/ppt/notesSlides/notesSlide11.xml" ContentType="application/vnd.openxmlformats-officedocument.presentationml.notesSlide+xml"/>
  <ns0:Override PartName="/docProps/core.xml" ContentType="application/vnd.openxmlformats-package.core-properties+xml"/>
  <ns0:Override PartName="/docProps/app.xml" ContentType="application/vnd.openxmlformats-officedocument.extended-properties+xml"/>
  <ns0:Override PartName="/ppt/slides/slide12.xml" ContentType="application/vnd.openxmlformats-officedocument.presentationml.slide+xml"/>
  <ns0:Override PartName="/ppt/slides/slide13.xml" ContentType="application/vnd.openxmlformats-officedocument.presentationml.slide+xml"/>
</ns0: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ns3="http://schemas.microsoft.com/office/powerpoint/2010/main" xmlns:ns4="http://schemas.microsoft.com/office/powerpoint/2012/main" xmlns:p="http://schemas.openxmlformats.org/presentationml/2006/main" xmlns:r="http://schemas.openxmlformats.org/officeDocument/2006/relationships"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7" r:id="rId18"/>
    <p:sldId id="268" r:id="rId19"/>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ns3:sectionLst>
        <ns3:section name="Introduction" id="{d777ffe2-4fc0-facd-b855-994f5a44dd44}">
          <ns3:sldIdLst>
            <ns3:sldId id="256"/>
          </ns3:sldIdLst>
        </ns3:section>
        <ns3:section name="Problème et solution" id="{568fe976-ec41-65d9-2164-fda718844c8f}">
          <ns3:sldIdLst>
            <ns3:sldId id="257"/>
            <ns3:sldId id="258"/>
          </ns3:sldIdLst>
        </ns3:section>
        <ns3:section name="Architecture" id="{db9d9445-f8f8-9883-d6c5-428bdf651ea6}">
          <ns3:sldIdLst>
            <ns3:sldId id="259"/>
            <ns3:sldId id="260"/>
          </ns3:sldIdLst>
        </ns3:section>
        <ns3:section name="Technologies sponsors" id="{58713a76-65da-a024-2f4d-fd0c7b312ce2}">
          <ns3:sldIdLst>
            <ns3:sldId id="261"/>
            <ns3:sldId id="262"/>
            <ns3:sldId id="263"/>
          </ns3:sldIdLst>
        </ns3:section>
        <ns3:section name="Produit et suite" id="{058a1c2a-4551-191d-d071-6e273274b1b3}">
          <ns3:sldIdLst>
            <ns3:sldId id="264"/>
            <ns3:sldId id="265"/>
            <ns3:sldId id="266"/>
          </ns3:sldIdLst>
        </ns3:section>
      </ns3:sectionLst>
    </p:ext>
    <p:ext uri="{EFAFB233-063F-42B5-8137-9DF3F51BA10A}">
      <ns4: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slide" Target="slides/slide1.xml" /><ns0:Relationship Id="rId3" Type="http://schemas.openxmlformats.org/officeDocument/2006/relationships/slide" Target="slides/slide2.xml" /><ns0:Relationship Id="rId4" Type="http://schemas.openxmlformats.org/officeDocument/2006/relationships/slide" Target="slides/slide3.xml" /><ns0:Relationship Id="rId5" Type="http://schemas.openxmlformats.org/officeDocument/2006/relationships/slide" Target="slides/slide4.xml" /><ns0:Relationship Id="rId6" Type="http://schemas.openxmlformats.org/officeDocument/2006/relationships/slide" Target="slides/slide5.xml" /><ns0:Relationship Id="rId7" Type="http://schemas.openxmlformats.org/officeDocument/2006/relationships/slide" Target="slides/slide6.xml" /><ns0:Relationship Id="rId8" Type="http://schemas.openxmlformats.org/officeDocument/2006/relationships/slide" Target="slides/slide7.xml" /><ns0:Relationship Id="rId9" Type="http://schemas.openxmlformats.org/officeDocument/2006/relationships/slide" Target="slides/slide8.xml" /><ns0:Relationship Id="rId10" Type="http://schemas.openxmlformats.org/officeDocument/2006/relationships/slide" Target="slides/slide9.xml" /><ns0:Relationship Id="rId11" Type="http://schemas.openxmlformats.org/officeDocument/2006/relationships/slide" Target="slides/slide10.xml" /><ns0:Relationship Id="rId12" Type="http://schemas.openxmlformats.org/officeDocument/2006/relationships/slide" Target="slides/slide11.xml" /><ns0:Relationship Id="rId13" Type="http://schemas.openxmlformats.org/officeDocument/2006/relationships/notesMaster" Target="notesMasters/notesMaster1.xml" /><ns0:Relationship Id="rId14" Type="http://schemas.openxmlformats.org/officeDocument/2006/relationships/presProps" Target="presProps.xml" /><ns0:Relationship Id="rId15" Type="http://schemas.openxmlformats.org/officeDocument/2006/relationships/viewProps" Target="viewProps.xml" /><ns0:Relationship Id="rId16" Type="http://schemas.openxmlformats.org/officeDocument/2006/relationships/theme" Target="theme/theme1.xml" /><ns0:Relationship Id="rId17" Type="http://schemas.openxmlformats.org/officeDocument/2006/relationships/tableStyles" Target="tableStyles.xml" /><ns0:Relationship Id="rId18" Type="http://schemas.openxmlformats.org/officeDocument/2006/relationships/slide" Target="slides/slide12.xml" /><ns0:Relationship Id="rId19" Type="http://schemas.openxmlformats.org/officeDocument/2006/relationships/slide" Target="slides/slide13.xml" /></ns0: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Kwatsur est un agent conversationnel qui aide à trouver un logement à louer à Douala et Yaoundé. Il interroge les annonces via Zetaris, décide par du code déterministe, et explique avec NVIDIA Nemotron servi par Meterless Nightshift. Le moteur Meterless Scout Intent contrôle chaque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problème : des annonces éparpillées, souvent incomplètes, et un vrai risque d'arnaque. Nos utilisateurs : les personnes qui cherchent un logement, les propriétaires qui veulent publier, et les administrateurs qui valident.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solution : une conversation. L'agent comprend la demande, cherche, classe, signale ce qui est à vérifier, compare, montre une pièce et bloque les arnaques. Règle de conception : l'IA comprend et explique, le code décide. Aucune information inconnue n'est devinée.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message suit ce trajet. Scout décide et signe un contrat. Nemotron transforme la phrase en critères. Zetaris renvoie les annonces. Notre code filtre, classe et évalue les risques. Nemotron explique ces seuls faits. L'interface affiche tout, y compris la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couches du hackathon : Data avec Zetaris, Power avec Nightshift et Nemotron, Build avec le moteur Scout Intent. Autour : FastAPI, PostgreSQL, nginx, Cloudflare pour les images, et le navigateur pour la voix.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Zetaris est la seule porte d'accès aux annonces. Notre base est enregistrée dans Zetaris comme source fédérée, lue en lecture seule. Quand un administrateur valide l'annonce d'un propriétaire, elle devient visible via Zetaris immédiatement.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moteur Meterless implémenté est Scout Intent, en Python, d'après la spécification publique. Il décide, contrôle et signe avant chaque action. Les chiffres viennent de l'évaluation officielle : 0,98 d'intentions exactes, toutes les injections détectées sans faux positif, le bon outil à chaque fois. Nightshift est notre fournisseur IA principal et sert Nemotron 3 Ultra.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usage des sponsors est structurel, pas décoratif : Scout est le garde-fou de chaque action, Zetaris fédère une base qui s'enrichit, Nemotron explique sans inventer, et la démo reste fiable même sans services externes.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vues réelles du produit : les résultats avec une carte d'annonce et ses équipements, et une illustration de salon générée par IA, clairement étiquetée.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Prochaines étapes : brancher de vraies sources via Zetaris, ajouter la mémoire H-MEM entre sessions, un agent vérificateur qui relit les explications, des comptes et des visites vérifiées, WhatsApp et SMS, puis d'autres villes.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Le code, la documentation et les exemples réels sont sur GitHub. Le projet se lance avec Docker, et SAMPLE_MODE permet de le faire tourner sans aucun service externe.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W_DARK_TITLE">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8686800" cy="1280160"/>
          </a:xfrm>
          <a:prstGeom prst="rect">
            <a:avLst/>
          </a:prstGeom>
          <a:noFill/>
          <a:ln/>
        </p:spPr>
        <p:txBody>
          <a:bodyPr wrap="square" rtlCol="0"/>
          <a:lstStyle>
            <a:lvl1pPr algn="l" indent="0" marL="0">
              <a:buNone/>
              <a:defRPr lang="en-US" sz="6000" b="1" dirty="0">
                <a:solidFill>
                  <a:schemeClr val="bg1"/>
                </a:solidFill>
                <a:latin typeface="Arial" pitchFamily="34" charset="0"/>
                <a:ea typeface="Arial" pitchFamily="34" charset="-122"/>
                <a:cs typeface="Arial" pitchFamily="34" charset="-120"/>
              </a:defRPr>
            </a:lvl1pPr>
          </a:lstStyle>
          <a:p>
            <a:pPr algn="l" indent="0" marL="0">
              <a:buNone/>
            </a:pPr>
            <a:endParaRPr lang="en-US" sz="6000" dirty="0"/>
          </a:p>
        </p:txBody>
      </p:sp>
      <p:sp>
        <p:nvSpPr>
          <p:cNvPr id="3" name="Text 0"/>
          <p:cNvSpPr/>
          <p:nvPr>
            <p:ph idx="101" type="body" hasCustomPrompt="1"/>
          </p:nvPr>
        </p:nvSpPr>
        <p:spPr>
          <a:xfrm>
            <a:off x="548640" y="3337560"/>
            <a:ext cx="8412480" cy="1463040"/>
          </a:xfrm>
          <a:prstGeom prst="rect">
            <a:avLst/>
          </a:prstGeom>
          <a:noFill/>
          <a:ln/>
        </p:spPr>
        <p:txBody>
          <a:bodyPr wrap="square" rtlCol="0"/>
          <a:lstStyle>
            <a:lvl1pPr indent="0" marL="0">
              <a:buNone/>
              <a:defRPr lang="en-US" sz="2400" dirty="0">
                <a:solidFill>
                  <a:schemeClr val="accent3"/>
                </a:solidFill>
                <a:latin typeface="Calibri" pitchFamily="34" charset="0"/>
                <a:ea typeface="Calibri" pitchFamily="34" charset="-122"/>
                <a:cs typeface="Calibri" pitchFamily="34" charset="-120"/>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W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rtlCol="0"/>
          <a:lstStyle>
            <a:lvl1pPr algn="l" indent="0" marL="0">
              <a:buNone/>
              <a:defRPr lang="en-US" sz="3400" b="1" dirty="0">
                <a:solidFill>
                  <a:schemeClr val="tx1"/>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Kwatsur · Open Agent Hackathon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jp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ns0:Relationships xmlns:ns0="http://schemas.openxmlformats.org/package/2006/relationships"><ns0:Relationship Id="rId1" Type="http://schemas.openxmlformats.org/officeDocument/2006/relationships/image" Target="../media/capture-12.png" /><ns0:Relationship Id="rId3" Type="http://schemas.openxmlformats.org/officeDocument/2006/relationships/slideLayout" Target="../slideLayouts/slideLayout3.xml" /></ns0:Relationships>
</file>

<file path=ppt/slides/_rels/slide13.xml.rels><?xml version='1.0' encoding='utf-8'?>
<ns0:Relationships xmlns:ns0="http://schemas.openxmlformats.org/package/2006/relationships"><ns0:Relationship Id="rId1" Type="http://schemas.openxmlformats.org/officeDocument/2006/relationships/image" Target="../media/capture-13.png" /><ns0:Relationship Id="rId3" Type="http://schemas.openxmlformats.org/officeDocument/2006/relationships/slideLayout" Target="../slideLayouts/slideLayout3.xml" /></ns0: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8686800" cy="1280160"/>
          </a:xfrm>
          <a:prstGeom prst="rect">
            <a:avLst/>
          </a:prstGeom>
          <a:noFill/>
          <a:ln/>
        </p:spPr>
        <p:txBody>
          <a:bodyPr wrap="square" lIns="0" tIns="0" rIns="0" bIns="0" rtlCol="0" anchor="b"/>
          <a:lstStyle/>
          <a:p>
            <a:pPr algn="l" indent="0" marL="0">
              <a:buNone/>
            </a:pPr>
            <a:r>
              <a:rPr lang="en-US" sz="6000" b="1" dirty="0">
                <a:solidFill>
                  <a:schemeClr val="bg1"/>
                </a:solidFill>
                <a:latin typeface="Arial" pitchFamily="34" charset="0"/>
                <a:ea typeface="Arial" pitchFamily="34" charset="-122"/>
                <a:cs typeface="Arial" pitchFamily="34" charset="-120"/>
              </a:rPr>
              <a:t>Kwatsur</a:t>
            </a:r>
            <a:endParaRPr lang="en-US" sz="6000" dirty="0"/>
          </a:p>
        </p:txBody>
      </p:sp>
      <p:sp>
        <p:nvSpPr>
          <p:cNvPr id="3" name="Text 0"/>
          <p:cNvSpPr/>
          <p:nvPr>
            <p:ph idx="101" type="body" hasCustomPrompt="1"/>
          </p:nvPr>
        </p:nvSpPr>
        <p:spPr>
          <a:xfrm>
            <a:off x="548640" y="3337560"/>
            <a:ext cx="8412480" cy="1463040"/>
          </a:xfrm>
          <a:prstGeom prst="rect">
            <a:avLst/>
          </a:prstGeom>
          <a:noFill/>
          <a:ln/>
        </p:spPr>
        <p:txBody>
          <a:bodyPr wrap="square" lIns="0" tIns="0" rIns="0" bIns="0" rtlCol="0" anchor="t"/>
          <a:lstStyle/>
          <a:p>
            <a:pPr indent="0" marL="0">
              <a:buNone/>
            </a:pPr>
            <a:r>
              <a:rPr lang="en-US" sz="2400" dirty="0">
                <a:solidFill>
                  <a:schemeClr val="accent3"/>
                </a:solidFill>
                <a:latin typeface="Calibri" pitchFamily="34" charset="0"/>
                <a:ea typeface="Calibri" pitchFamily="34" charset="-122"/>
                <a:cs typeface="Calibri" pitchFamily="34" charset="-120"/>
              </a:rPr>
              <a:t>L'agent qui cherche, vérifie et explique les logements à louer au Cameroun</a:t>
            </a:r>
            <a:endParaRPr lang="en-US" sz="2400" dirty="0"/>
          </a:p>
        </p:txBody>
      </p:sp>
      <p:sp>
        <p:nvSpPr>
          <p:cNvPr id="4" name="Logo maison cercle"/>
          <p:cNvSpPr/>
          <p:nvPr/>
        </p:nvSpPr>
        <p:spPr>
          <a:xfrm>
            <a:off x="9692640" y="2011680"/>
            <a:ext cx="1828800" cy="1828800"/>
          </a:xfrm>
          <a:prstGeom prst="ellipse">
            <a:avLst/>
          </a:prstGeom>
          <a:solidFill>
            <a:srgbClr val="0A4A39"/>
          </a:solidFill>
          <a:ln w="12700">
            <a:solidFill>
              <a:srgbClr val="0A4A39"/>
            </a:solidFill>
            <a:prstDash val="solid"/>
          </a:ln>
        </p:spPr>
      </p:sp>
      <p:pic>
        <p:nvPicPr>
          <p:cNvPr id="5" name="Logo maison icône" descr="preencoded.png">    </p:cNvPr>
          <p:cNvPicPr>
            <a:picLocks noChangeAspect="1"/>
          </p:cNvPicPr>
          <p:nvPr/>
        </p:nvPicPr>
        <p:blipFill>
          <a:blip r:embed="rId1"/>
          <a:stretch>
            <a:fillRect/>
          </a:stretch>
        </p:blipFill>
        <p:spPr>
          <a:xfrm>
            <a:off x="10131552" y="2450592"/>
            <a:ext cx="950976" cy="950976"/>
          </a:xfrm>
          <a:prstGeom prst="rect">
            <a:avLst/>
          </a:prstGeom>
        </p:spPr>
      </p:pic>
      <p:sp>
        <p:nvSpPr>
          <p:cNvPr id="6" name="Text 3"/>
          <p:cNvSpPr txBox="1"/>
          <p:nvPr/>
        </p:nvSpPr>
        <p:spPr>
          <a:xfrm>
            <a:off x="548640" y="5394960"/>
            <a:ext cx="10058400" cy="36576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Open Agent Hackathon 2026  ·  Piste : The Agent That Can Explain Why</a:t>
            </a:r>
            <a:endParaRPr lang="en-US" sz="1600" dirty="0"/>
          </a:p>
        </p:txBody>
      </p:sp>
      <p:sp>
        <p:nvSpPr>
          <p:cNvPr id="7" name="Text 4"/>
          <p:cNvSpPr txBox="1"/>
          <p:nvPr/>
        </p:nvSpPr>
        <p:spPr>
          <a:xfrm>
            <a:off x="548640" y="5806440"/>
            <a:ext cx="10058400" cy="36576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Zetaris  ·  Meterless Scout Intent &amp; Nightshift  ·  NVIDIA Nemotron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Se loger au Cameroun : un parcours risqué</a:t>
            </a:r>
            <a:endParaRPr lang="en-US" sz="3400" dirty="0"/>
          </a:p>
        </p:txBody>
      </p:sp>
      <p:sp>
        <p:nvSpPr>
          <p:cNvPr id="3" name="Problème 1"/>
          <p:cNvSpPr/>
          <p:nvPr/>
        </p:nvSpPr>
        <p:spPr>
          <a:xfrm>
            <a:off x="548640" y="1508760"/>
            <a:ext cx="6675120" cy="1280160"/>
          </a:xfrm>
          <a:prstGeom prst="roundRect">
            <a:avLst>
              <a:gd name="adj" fmla="val 8571"/>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4" name="Problème 1 cercle"/>
          <p:cNvSpPr/>
          <p:nvPr/>
        </p:nvSpPr>
        <p:spPr>
          <a:xfrm>
            <a:off x="777240" y="1737360"/>
            <a:ext cx="822960" cy="822960"/>
          </a:xfrm>
          <a:prstGeom prst="ellipse">
            <a:avLst/>
          </a:prstGeom>
          <a:solidFill>
            <a:srgbClr val="C2562F"/>
          </a:solidFill>
          <a:ln w="12700">
            <a:solidFill>
              <a:srgbClr val="C2562F"/>
            </a:solidFill>
            <a:prstDash val="solid"/>
          </a:ln>
        </p:spPr>
      </p:sp>
      <p:pic>
        <p:nvPicPr>
          <p:cNvPr id="5" name="Problème 1 icône" descr="preencoded.png">    </p:cNvPr>
          <p:cNvPicPr>
            <a:picLocks noChangeAspect="1"/>
          </p:cNvPicPr>
          <p:nvPr/>
        </p:nvPicPr>
        <p:blipFill>
          <a:blip r:embed="rId1"/>
          <a:stretch>
            <a:fillRect/>
          </a:stretch>
        </p:blipFill>
        <p:spPr>
          <a:xfrm>
            <a:off x="974750" y="1934870"/>
            <a:ext cx="427939" cy="427939"/>
          </a:xfrm>
          <a:prstGeom prst="rect">
            <a:avLst/>
          </a:prstGeom>
        </p:spPr>
      </p:pic>
      <p:sp>
        <p:nvSpPr>
          <p:cNvPr id="6" name="Text 3"/>
          <p:cNvSpPr txBox="1"/>
          <p:nvPr/>
        </p:nvSpPr>
        <p:spPr>
          <a:xfrm>
            <a:off x="1828800" y="1691640"/>
            <a:ext cx="521208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Annonces dispersées</a:t>
            </a:r>
            <a:endParaRPr lang="en-US" sz="2000" dirty="0"/>
          </a:p>
        </p:txBody>
      </p:sp>
      <p:sp>
        <p:nvSpPr>
          <p:cNvPr id="7" name="Text 4"/>
          <p:cNvSpPr txBox="1"/>
          <p:nvPr/>
        </p:nvSpPr>
        <p:spPr>
          <a:xfrm>
            <a:off x="1828800" y="2130552"/>
            <a:ext cx="5212080" cy="548640"/>
          </a:xfrm>
          <a:prstGeom prst="rect">
            <a:avLst/>
          </a:prstGeom>
          <a:noFill/>
          <a:ln/>
        </p:spPr>
        <p:txBody>
          <a:bodyPr wrap="square" lIns="0" tIns="0" rIns="0" bIns="0" rtlCol="0" anchor="t"/>
          <a:lstStyle/>
          <a:p>
            <a:pPr indent="0" marL="0">
              <a:buNone/>
            </a:pPr>
            <a:r>
              <a:rPr lang="en-US" sz="1500" dirty="0">
                <a:solidFill>
                  <a:schemeClr val="accent4"/>
                </a:solidFill>
                <a:latin typeface="Calibri" pitchFamily="34" charset="0"/>
                <a:ea typeface="Calibri" pitchFamily="34" charset="-122"/>
                <a:cs typeface="Calibri" pitchFamily="34" charset="-120"/>
              </a:rPr>
              <a:t>Groupes WhatsApp, Facebook, affiches, intermédiaires : aucune vue d'ensemble.</a:t>
            </a:r>
            <a:endParaRPr lang="en-US" sz="1500" dirty="0"/>
          </a:p>
        </p:txBody>
      </p:sp>
      <p:sp>
        <p:nvSpPr>
          <p:cNvPr id="8" name="Problème 2"/>
          <p:cNvSpPr/>
          <p:nvPr/>
        </p:nvSpPr>
        <p:spPr>
          <a:xfrm>
            <a:off x="548640" y="3017520"/>
            <a:ext cx="6675120" cy="1280160"/>
          </a:xfrm>
          <a:prstGeom prst="roundRect">
            <a:avLst>
              <a:gd name="adj" fmla="val 8571"/>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9" name="Problème 2 cercle"/>
          <p:cNvSpPr/>
          <p:nvPr/>
        </p:nvSpPr>
        <p:spPr>
          <a:xfrm>
            <a:off x="777240" y="3246120"/>
            <a:ext cx="822960" cy="822960"/>
          </a:xfrm>
          <a:prstGeom prst="ellipse">
            <a:avLst/>
          </a:prstGeom>
          <a:solidFill>
            <a:srgbClr val="C2562F"/>
          </a:solidFill>
          <a:ln w="12700">
            <a:solidFill>
              <a:srgbClr val="C2562F"/>
            </a:solidFill>
            <a:prstDash val="solid"/>
          </a:ln>
        </p:spPr>
      </p:sp>
      <p:pic>
        <p:nvPicPr>
          <p:cNvPr id="10" name="Problème 2 icône" descr="preencoded.png">    </p:cNvPr>
          <p:cNvPicPr>
            <a:picLocks noChangeAspect="1"/>
          </p:cNvPicPr>
          <p:nvPr/>
        </p:nvPicPr>
        <p:blipFill>
          <a:blip r:embed="rId2"/>
          <a:stretch>
            <a:fillRect/>
          </a:stretch>
        </p:blipFill>
        <p:spPr>
          <a:xfrm>
            <a:off x="974750" y="3443630"/>
            <a:ext cx="427939" cy="427939"/>
          </a:xfrm>
          <a:prstGeom prst="rect">
            <a:avLst/>
          </a:prstGeom>
        </p:spPr>
      </p:pic>
      <p:sp>
        <p:nvSpPr>
          <p:cNvPr id="11" name="Text 7"/>
          <p:cNvSpPr txBox="1"/>
          <p:nvPr/>
        </p:nvSpPr>
        <p:spPr>
          <a:xfrm>
            <a:off x="1828800" y="3200400"/>
            <a:ext cx="521208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Informations manquantes</a:t>
            </a:r>
            <a:endParaRPr lang="en-US" sz="2000" dirty="0"/>
          </a:p>
        </p:txBody>
      </p:sp>
      <p:sp>
        <p:nvSpPr>
          <p:cNvPr id="12" name="Text 8"/>
          <p:cNvSpPr txBox="1"/>
          <p:nvPr/>
        </p:nvSpPr>
        <p:spPr>
          <a:xfrm>
            <a:off x="1828800" y="3639312"/>
            <a:ext cx="5212080" cy="548640"/>
          </a:xfrm>
          <a:prstGeom prst="rect">
            <a:avLst/>
          </a:prstGeom>
          <a:noFill/>
          <a:ln/>
        </p:spPr>
        <p:txBody>
          <a:bodyPr wrap="square" lIns="0" tIns="0" rIns="0" bIns="0" rtlCol="0" anchor="t"/>
          <a:lstStyle/>
          <a:p>
            <a:pPr indent="0" marL="0">
              <a:buNone/>
            </a:pPr>
            <a:r>
              <a:rPr lang="en-US" sz="1500" dirty="0">
                <a:solidFill>
                  <a:schemeClr val="accent4"/>
                </a:solidFill>
                <a:latin typeface="Calibri" pitchFamily="34" charset="0"/>
                <a:ea typeface="Calibri" pitchFamily="34" charset="-122"/>
                <a:cs typeface="Calibri" pitchFamily="34" charset="-120"/>
              </a:rPr>
              <a:t>Eau, électricité, état, disponibilité : souvent absents ou périmés.</a:t>
            </a:r>
            <a:endParaRPr lang="en-US" sz="1500" dirty="0"/>
          </a:p>
        </p:txBody>
      </p:sp>
      <p:sp>
        <p:nvSpPr>
          <p:cNvPr id="13" name="Problème 3"/>
          <p:cNvSpPr/>
          <p:nvPr/>
        </p:nvSpPr>
        <p:spPr>
          <a:xfrm>
            <a:off x="548640" y="4526280"/>
            <a:ext cx="6675120" cy="1280160"/>
          </a:xfrm>
          <a:prstGeom prst="roundRect">
            <a:avLst>
              <a:gd name="adj" fmla="val 8571"/>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4" name="Problème 3 cercle"/>
          <p:cNvSpPr/>
          <p:nvPr/>
        </p:nvSpPr>
        <p:spPr>
          <a:xfrm>
            <a:off x="777240" y="4754880"/>
            <a:ext cx="822960" cy="822960"/>
          </a:xfrm>
          <a:prstGeom prst="ellipse">
            <a:avLst/>
          </a:prstGeom>
          <a:solidFill>
            <a:srgbClr val="C2562F"/>
          </a:solidFill>
          <a:ln w="12700">
            <a:solidFill>
              <a:srgbClr val="C2562F"/>
            </a:solidFill>
            <a:prstDash val="solid"/>
          </a:ln>
        </p:spPr>
      </p:sp>
      <p:pic>
        <p:nvPicPr>
          <p:cNvPr id="15" name="Problème 3 icône" descr="preencoded.png">    </p:cNvPr>
          <p:cNvPicPr>
            <a:picLocks noChangeAspect="1"/>
          </p:cNvPicPr>
          <p:nvPr/>
        </p:nvPicPr>
        <p:blipFill>
          <a:blip r:embed="rId3"/>
          <a:stretch>
            <a:fillRect/>
          </a:stretch>
        </p:blipFill>
        <p:spPr>
          <a:xfrm>
            <a:off x="974750" y="4952390"/>
            <a:ext cx="427939" cy="427939"/>
          </a:xfrm>
          <a:prstGeom prst="rect">
            <a:avLst/>
          </a:prstGeom>
        </p:spPr>
      </p:pic>
      <p:sp>
        <p:nvSpPr>
          <p:cNvPr id="16" name="Text 11"/>
          <p:cNvSpPr txBox="1"/>
          <p:nvPr/>
        </p:nvSpPr>
        <p:spPr>
          <a:xfrm>
            <a:off x="1828800" y="4709160"/>
            <a:ext cx="521208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Arnaques</a:t>
            </a:r>
            <a:endParaRPr lang="en-US" sz="2000" dirty="0"/>
          </a:p>
        </p:txBody>
      </p:sp>
      <p:sp>
        <p:nvSpPr>
          <p:cNvPr id="17" name="Text 12"/>
          <p:cNvSpPr txBox="1"/>
          <p:nvPr/>
        </p:nvSpPr>
        <p:spPr>
          <a:xfrm>
            <a:off x="1828800" y="5148072"/>
            <a:ext cx="5212080" cy="548640"/>
          </a:xfrm>
          <a:prstGeom prst="rect">
            <a:avLst/>
          </a:prstGeom>
          <a:noFill/>
          <a:ln/>
        </p:spPr>
        <p:txBody>
          <a:bodyPr wrap="square" lIns="0" tIns="0" rIns="0" bIns="0" rtlCol="0" anchor="t"/>
          <a:lstStyle/>
          <a:p>
            <a:pPr indent="0" marL="0">
              <a:buNone/>
            </a:pPr>
            <a:r>
              <a:rPr lang="en-US" sz="1500" dirty="0">
                <a:solidFill>
                  <a:schemeClr val="accent4"/>
                </a:solidFill>
                <a:latin typeface="Calibri" pitchFamily="34" charset="0"/>
                <a:ea typeface="Calibri" pitchFamily="34" charset="-122"/>
                <a:cs typeface="Calibri" pitchFamily="34" charset="-120"/>
              </a:rPr>
              <a:t>Avance ou caution demandée avant toute visite, faux bailleurs.</a:t>
            </a:r>
            <a:endParaRPr lang="en-US" sz="1500" dirty="0"/>
          </a:p>
        </p:txBody>
      </p:sp>
      <p:sp>
        <p:nvSpPr>
          <p:cNvPr id="18" name="Utilisateurs cibles"/>
          <p:cNvSpPr/>
          <p:nvPr/>
        </p:nvSpPr>
        <p:spPr>
          <a:xfrm>
            <a:off x="7680960" y="1508760"/>
            <a:ext cx="3959352" cy="4297680"/>
          </a:xfrm>
          <a:prstGeom prst="roundRect">
            <a:avLst>
              <a:gd name="adj" fmla="val 2771"/>
            </a:avLst>
          </a:prstGeom>
          <a:solidFill>
            <a:srgbClr val="0A4A39"/>
          </a:solidFill>
          <a:ln w="12700">
            <a:solidFill>
              <a:srgbClr val="0A4A39"/>
            </a:solidFill>
            <a:prstDash val="solid"/>
          </a:ln>
          <a:effectLst>
            <a:outerShdw sx="100000" sy="100000" kx="0" ky="0" algn="bl" rotWithShape="0" blurRad="101600" dist="25400" dir="5400000">
              <a:srgbClr val="14231C">
                <a:alpha val="12000"/>
              </a:srgbClr>
            </a:outerShdw>
          </a:effectLst>
        </p:spPr>
      </p:sp>
      <p:sp>
        <p:nvSpPr>
          <p:cNvPr id="19" name="Text 14"/>
          <p:cNvSpPr txBox="1"/>
          <p:nvPr/>
        </p:nvSpPr>
        <p:spPr>
          <a:xfrm>
            <a:off x="8001000" y="1737360"/>
            <a:ext cx="3383280" cy="45720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Pour qui ?</a:t>
            </a:r>
            <a:endParaRPr lang="en-US" sz="2200" dirty="0"/>
          </a:p>
        </p:txBody>
      </p:sp>
      <p:sp>
        <p:nvSpPr>
          <p:cNvPr id="20" name="Text 15"/>
          <p:cNvSpPr txBox="1"/>
          <p:nvPr/>
        </p:nvSpPr>
        <p:spPr>
          <a:xfrm>
            <a:off x="8001000" y="2331720"/>
            <a:ext cx="3383280" cy="329184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Locataires</a:t>
            </a:r>
            <a:endParaRPr lang="en-US" sz="1600" dirty="0"/>
          </a:p>
          <a:p>
            <a:pPr indent="0" marL="0">
              <a:buNone/>
            </a:pPr>
            <a:r>
              <a:rPr lang="en-US" sz="1600" dirty="0">
                <a:solidFill>
                  <a:schemeClr val="accent3"/>
                </a:solidFill>
                <a:latin typeface="Calibri" pitchFamily="34" charset="0"/>
                <a:ea typeface="Calibri" pitchFamily="34" charset="-122"/>
                <a:cs typeface="Calibri" pitchFamily="34" charset="-120"/>
              </a:rPr>
              <a:t>étudiants, jeunes actifs et familles à Douala et Yaoundé</a:t>
            </a:r>
            <a:endParaRPr lang="en-US" sz="1600" dirty="0"/>
          </a:p>
          <a:p>
            <a:pPr indent="0" marL="0">
              <a:buNone/>
            </a:pPr>
            <a:r>
              <a:rPr lang="en-US" sz="800" dirty="0">
                <a:solidFill>
                  <a:schemeClr val="tx1"/>
                </a:solidFill>
                <a:latin typeface="Calibri" pitchFamily="34" charset="0"/>
                <a:ea typeface="Calibri" pitchFamily="34" charset="-122"/>
                <a:cs typeface="Calibri" pitchFamily="34" charset="-120"/>
              </a:rPr>
              <a:t> </a:t>
            </a:r>
            <a:endParaRPr lang="en-US" sz="1600" dirty="0"/>
          </a:p>
          <a:p>
            <a:pPr indent="0" marL="0">
              <a:buNone/>
            </a:pPr>
            <a:r>
              <a:rPr lang="en-US" sz="1600" b="1" dirty="0">
                <a:solidFill>
                  <a:schemeClr val="bg1"/>
                </a:solidFill>
                <a:latin typeface="Calibri" pitchFamily="34" charset="0"/>
                <a:ea typeface="Calibri" pitchFamily="34" charset="-122"/>
                <a:cs typeface="Calibri" pitchFamily="34" charset="-120"/>
              </a:rPr>
              <a:t>Propriétaires</a:t>
            </a:r>
            <a:endParaRPr lang="en-US" sz="1600" dirty="0"/>
          </a:p>
          <a:p>
            <a:pPr indent="0" marL="0">
              <a:buNone/>
            </a:pPr>
            <a:r>
              <a:rPr lang="en-US" sz="1600" dirty="0">
                <a:solidFill>
                  <a:schemeClr val="accent3"/>
                </a:solidFill>
                <a:latin typeface="Calibri" pitchFamily="34" charset="0"/>
                <a:ea typeface="Calibri" pitchFamily="34" charset="-122"/>
                <a:cs typeface="Calibri" pitchFamily="34" charset="-120"/>
              </a:rPr>
              <a:t>qui veulent publier sans intermédiaire, avec validation</a:t>
            </a:r>
            <a:endParaRPr lang="en-US" sz="1600" dirty="0"/>
          </a:p>
          <a:p>
            <a:pPr indent="0" marL="0">
              <a:buNone/>
            </a:pPr>
            <a:r>
              <a:rPr lang="en-US" sz="800" dirty="0">
                <a:solidFill>
                  <a:schemeClr val="tx1"/>
                </a:solidFill>
                <a:latin typeface="Calibri" pitchFamily="34" charset="0"/>
                <a:ea typeface="Calibri" pitchFamily="34" charset="-122"/>
                <a:cs typeface="Calibri" pitchFamily="34" charset="-120"/>
              </a:rPr>
              <a:t> </a:t>
            </a:r>
            <a:endParaRPr lang="en-US" sz="1600" dirty="0"/>
          </a:p>
          <a:p>
            <a:pPr indent="0" marL="0">
              <a:buNone/>
            </a:pPr>
            <a:r>
              <a:rPr lang="en-US" sz="1600" b="1" dirty="0">
                <a:solidFill>
                  <a:schemeClr val="bg1"/>
                </a:solidFill>
                <a:latin typeface="Calibri" pitchFamily="34" charset="0"/>
                <a:ea typeface="Calibri" pitchFamily="34" charset="-122"/>
                <a:cs typeface="Calibri" pitchFamily="34" charset="-120"/>
              </a:rPr>
              <a:t>Administrateurs</a:t>
            </a:r>
            <a:endParaRPr lang="en-US" sz="1600" dirty="0"/>
          </a:p>
          <a:p>
            <a:pPr indent="0" marL="0">
              <a:buNone/>
            </a:pPr>
            <a:r>
              <a:rPr lang="en-US" sz="1600" dirty="0">
                <a:solidFill>
                  <a:schemeClr val="accent3"/>
                </a:solidFill>
                <a:latin typeface="Calibri" pitchFamily="34" charset="0"/>
                <a:ea typeface="Calibri" pitchFamily="34" charset="-122"/>
                <a:cs typeface="Calibri" pitchFamily="34" charset="-120"/>
              </a:rPr>
              <a:t>qui valident les annonces avant publication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ns3="http://schemas.microsoft.com/office/mac/drawingml/2011/main" xmlns:p="http://schemas.openxmlformats.org/presentationml/2006/main" xmlns:r="http://schemas.openxmlformats.org/officeDocument/2006/relationships">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Une conversation qui fait vraiment le travail</a:t>
            </a:r>
            <a:endParaRPr lang="en-US" sz="3400" dirty="0"/>
          </a:p>
        </p:txBody>
      </p:sp>
      <p:sp>
        <p:nvSpPr>
          <p:cNvPr id="3" name="Fonction 1 cercle"/>
          <p:cNvSpPr/>
          <p:nvPr/>
        </p:nvSpPr>
        <p:spPr>
          <a:xfrm>
            <a:off x="548640" y="1463040"/>
            <a:ext cx="566928" cy="566928"/>
          </a:xfrm>
          <a:prstGeom prst="ellipse">
            <a:avLst/>
          </a:prstGeom>
          <a:solidFill>
            <a:srgbClr val="0F6B52"/>
          </a:solidFill>
          <a:ln w="12700">
            <a:solidFill>
              <a:srgbClr val="0F6B52"/>
            </a:solidFill>
            <a:prstDash val="solid"/>
          </a:ln>
        </p:spPr>
      </p:sp>
      <p:pic>
        <p:nvPicPr>
          <p:cNvPr id="4" name="Fonction 1 icône" descr="preencoded.png">    </p:cNvPr>
          <p:cNvPicPr>
            <a:picLocks noChangeAspect="1"/>
          </p:cNvPicPr>
          <p:nvPr/>
        </p:nvPicPr>
        <p:blipFill>
          <a:blip r:embed="rId1"/>
          <a:stretch>
            <a:fillRect/>
          </a:stretch>
        </p:blipFill>
        <p:spPr>
          <a:xfrm>
            <a:off x="684703" y="1599103"/>
            <a:ext cx="294803" cy="294803"/>
          </a:xfrm>
          <a:prstGeom prst="rect">
            <a:avLst/>
          </a:prstGeom>
        </p:spPr>
      </p:pic>
      <p:sp>
        <p:nvSpPr>
          <p:cNvPr id="5" name="Text 2"/>
          <p:cNvSpPr txBox="1"/>
          <p:nvPr/>
        </p:nvSpPr>
        <p:spPr>
          <a:xfrm>
            <a:off x="1325880" y="1536192"/>
            <a:ext cx="4480560" cy="4572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Demande en français, au clavier ou à la voix</a:t>
            </a:r>
            <a:endParaRPr lang="en-US" sz="1600" dirty="0"/>
          </a:p>
        </p:txBody>
      </p:sp>
      <p:sp>
        <p:nvSpPr>
          <p:cNvPr id="6" name="Fonction 2 cercle"/>
          <p:cNvSpPr/>
          <p:nvPr/>
        </p:nvSpPr>
        <p:spPr>
          <a:xfrm>
            <a:off x="548640" y="2249424"/>
            <a:ext cx="566928" cy="566928"/>
          </a:xfrm>
          <a:prstGeom prst="ellipse">
            <a:avLst/>
          </a:prstGeom>
          <a:solidFill>
            <a:srgbClr val="0F6B52"/>
          </a:solidFill>
          <a:ln w="12700">
            <a:solidFill>
              <a:srgbClr val="0F6B52"/>
            </a:solidFill>
            <a:prstDash val="solid"/>
          </a:ln>
        </p:spPr>
      </p:sp>
      <p:pic>
        <p:nvPicPr>
          <p:cNvPr id="7" name="Fonction 2 icône" descr="preencoded.png">    </p:cNvPr>
          <p:cNvPicPr>
            <a:picLocks noChangeAspect="1"/>
          </p:cNvPicPr>
          <p:nvPr/>
        </p:nvPicPr>
        <p:blipFill>
          <a:blip r:embed="rId2"/>
          <a:stretch>
            <a:fillRect/>
          </a:stretch>
        </p:blipFill>
        <p:spPr>
          <a:xfrm>
            <a:off x="684703" y="2385487"/>
            <a:ext cx="294803" cy="294803"/>
          </a:xfrm>
          <a:prstGeom prst="rect">
            <a:avLst/>
          </a:prstGeom>
        </p:spPr>
      </p:pic>
      <p:sp>
        <p:nvSpPr>
          <p:cNvPr id="8" name="Text 4"/>
          <p:cNvSpPr txBox="1"/>
          <p:nvPr/>
        </p:nvSpPr>
        <p:spPr>
          <a:xfrm>
            <a:off x="1325880" y="2322576"/>
            <a:ext cx="4480560" cy="4572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Résultats classés, expliqués, points à vérifier</a:t>
            </a:r>
            <a:endParaRPr lang="en-US" sz="1600" dirty="0"/>
          </a:p>
        </p:txBody>
      </p:sp>
      <p:sp>
        <p:nvSpPr>
          <p:cNvPr id="9" name="Fonction 3 cercle"/>
          <p:cNvSpPr/>
          <p:nvPr/>
        </p:nvSpPr>
        <p:spPr>
          <a:xfrm>
            <a:off x="548640" y="3035808"/>
            <a:ext cx="566928" cy="566928"/>
          </a:xfrm>
          <a:prstGeom prst="ellipse">
            <a:avLst/>
          </a:prstGeom>
          <a:solidFill>
            <a:srgbClr val="0F6B52"/>
          </a:solidFill>
          <a:ln w="12700">
            <a:solidFill>
              <a:srgbClr val="0F6B52"/>
            </a:solidFill>
            <a:prstDash val="solid"/>
          </a:ln>
        </p:spPr>
      </p:sp>
      <p:pic>
        <p:nvPicPr>
          <p:cNvPr id="10" name="Fonction 3 icône" descr="preencoded.png">    </p:cNvPr>
          <p:cNvPicPr>
            <a:picLocks noChangeAspect="1"/>
          </p:cNvPicPr>
          <p:nvPr/>
        </p:nvPicPr>
        <p:blipFill>
          <a:blip r:embed="rId3"/>
          <a:stretch>
            <a:fillRect/>
          </a:stretch>
        </p:blipFill>
        <p:spPr>
          <a:xfrm>
            <a:off x="684703" y="3171871"/>
            <a:ext cx="294803" cy="294803"/>
          </a:xfrm>
          <a:prstGeom prst="rect">
            <a:avLst/>
          </a:prstGeom>
        </p:spPr>
      </p:pic>
      <p:sp>
        <p:nvSpPr>
          <p:cNvPr id="11" name="Text 6"/>
          <p:cNvSpPr txBox="1"/>
          <p:nvPr/>
        </p:nvSpPr>
        <p:spPr>
          <a:xfrm>
            <a:off x="1325880" y="3108960"/>
            <a:ext cx="4480560" cy="4572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Résultats et comparaison dans un panneau repliable</a:t>
            </a:r>
            <a:endParaRPr lang="en-US" sz="1600" dirty="0"/>
          </a:p>
        </p:txBody>
      </p:sp>
      <p:sp>
        <p:nvSpPr>
          <p:cNvPr id="12" name="Fonction 4 cercle"/>
          <p:cNvSpPr/>
          <p:nvPr/>
        </p:nvSpPr>
        <p:spPr>
          <a:xfrm>
            <a:off x="548640" y="3822192"/>
            <a:ext cx="566928" cy="566928"/>
          </a:xfrm>
          <a:prstGeom prst="ellipse">
            <a:avLst/>
          </a:prstGeom>
          <a:solidFill>
            <a:srgbClr val="0F6B52"/>
          </a:solidFill>
          <a:ln w="12700">
            <a:solidFill>
              <a:srgbClr val="0F6B52"/>
            </a:solidFill>
            <a:prstDash val="solid"/>
          </a:ln>
        </p:spPr>
      </p:sp>
      <p:pic>
        <p:nvPicPr>
          <p:cNvPr id="13" name="Fonction 4 icône" descr="preencoded.png">    </p:cNvPr>
          <p:cNvPicPr>
            <a:picLocks noChangeAspect="1"/>
          </p:cNvPicPr>
          <p:nvPr/>
        </p:nvPicPr>
        <p:blipFill>
          <a:blip r:embed="rId4"/>
          <a:stretch>
            <a:fillRect/>
          </a:stretch>
        </p:blipFill>
        <p:spPr>
          <a:xfrm>
            <a:off x="684703" y="3958255"/>
            <a:ext cx="294803" cy="294803"/>
          </a:xfrm>
          <a:prstGeom prst="rect">
            <a:avLst/>
          </a:prstGeom>
        </p:spPr>
      </p:pic>
      <p:sp>
        <p:nvSpPr>
          <p:cNvPr id="14" name="Text 8"/>
          <p:cNvSpPr txBox="1"/>
          <p:nvPr/>
        </p:nvSpPr>
        <p:spPr>
          <a:xfrm>
            <a:off x="1325880" y="3895344"/>
            <a:ext cx="4480560" cy="4572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Images sur demande : photo, exemple crédité ou IA</a:t>
            </a:r>
            <a:endParaRPr lang="en-US" sz="1600" dirty="0"/>
          </a:p>
        </p:txBody>
      </p:sp>
      <p:sp>
        <p:nvSpPr>
          <p:cNvPr id="15" name="Fonction 5 cercle"/>
          <p:cNvSpPr/>
          <p:nvPr/>
        </p:nvSpPr>
        <p:spPr>
          <a:xfrm>
            <a:off x="548640" y="4608576"/>
            <a:ext cx="566928" cy="566928"/>
          </a:xfrm>
          <a:prstGeom prst="ellipse">
            <a:avLst/>
          </a:prstGeom>
          <a:solidFill>
            <a:srgbClr val="0F6B52"/>
          </a:solidFill>
          <a:ln w="12700">
            <a:solidFill>
              <a:srgbClr val="0F6B52"/>
            </a:solidFill>
            <a:prstDash val="solid"/>
          </a:ln>
        </p:spPr>
      </p:sp>
      <p:pic>
        <p:nvPicPr>
          <p:cNvPr id="16" name="Fonction 5 icône" descr="preencoded.png">    </p:cNvPr>
          <p:cNvPicPr>
            <a:picLocks noChangeAspect="1"/>
          </p:cNvPicPr>
          <p:nvPr/>
        </p:nvPicPr>
        <p:blipFill>
          <a:blip r:embed="rId5"/>
          <a:stretch>
            <a:fillRect/>
          </a:stretch>
        </p:blipFill>
        <p:spPr>
          <a:xfrm>
            <a:off x="684703" y="4744639"/>
            <a:ext cx="294803" cy="294803"/>
          </a:xfrm>
          <a:prstGeom prst="rect">
            <a:avLst/>
          </a:prstGeom>
        </p:spPr>
      </p:pic>
      <p:sp>
        <p:nvSpPr>
          <p:cNvPr id="17" name="Text 10"/>
          <p:cNvSpPr txBox="1"/>
          <p:nvPr/>
        </p:nvSpPr>
        <p:spPr>
          <a:xfrm>
            <a:off x="1325880" y="4681728"/>
            <a:ext cx="4480560" cy="4572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Proposition persistée, puis décision administrateur</a:t>
            </a:r>
            <a:endParaRPr lang="en-US" sz="1600" dirty="0"/>
          </a:p>
        </p:txBody>
      </p:sp>
      <p:sp>
        <p:nvSpPr>
          <p:cNvPr id="18" name="Fonction 6 cercle"/>
          <p:cNvSpPr/>
          <p:nvPr/>
        </p:nvSpPr>
        <p:spPr>
          <a:xfrm>
            <a:off x="548640" y="5394960"/>
            <a:ext cx="566928" cy="566928"/>
          </a:xfrm>
          <a:prstGeom prst="ellipse">
            <a:avLst/>
          </a:prstGeom>
          <a:solidFill>
            <a:srgbClr val="0F6B52"/>
          </a:solidFill>
          <a:ln w="12700">
            <a:solidFill>
              <a:srgbClr val="0F6B52"/>
            </a:solidFill>
            <a:prstDash val="solid"/>
          </a:ln>
        </p:spPr>
      </p:sp>
      <p:pic>
        <p:nvPicPr>
          <p:cNvPr id="19" name="Fonction 6 icône" descr="preencoded.png">    </p:cNvPr>
          <p:cNvPicPr>
            <a:picLocks noChangeAspect="1"/>
          </p:cNvPicPr>
          <p:nvPr/>
        </p:nvPicPr>
        <p:blipFill>
          <a:blip r:embed="rId6"/>
          <a:stretch>
            <a:fillRect/>
          </a:stretch>
        </p:blipFill>
        <p:spPr>
          <a:xfrm>
            <a:off x="684703" y="5531023"/>
            <a:ext cx="294803" cy="294803"/>
          </a:xfrm>
          <a:prstGeom prst="rect">
            <a:avLst/>
          </a:prstGeom>
        </p:spPr>
      </p:pic>
      <p:sp>
        <p:nvSpPr>
          <p:cNvPr id="20" name="Text 12"/>
          <p:cNvSpPr txBox="1"/>
          <p:nvPr/>
        </p:nvSpPr>
        <p:spPr>
          <a:xfrm>
            <a:off x="1325880" y="5468112"/>
            <a:ext cx="4480560" cy="4572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Arnaques au paiement et injections bloquées</a:t>
            </a:r>
            <a:endParaRPr lang="en-US" sz="1600" dirty="0"/>
          </a:p>
        </p:txBody>
      </p:sp>
      <p:pic>
        <p:nvPicPr>
          <p:cNvPr id="21" name="Capture du chat" descr="Capture de Kwatsur : réponse rédigée par Nemotron via Meterless, trace Scout et refus d'un paiement">    </p:cNvPr>
          <p:cNvPicPr>
            <a:picLocks noChangeAspect="1"/>
          </p:cNvPicPr>
          <p:nvPr/>
        </p:nvPicPr>
        <p:blipFill>
          <a:blip r:embed="rId7"/>
          <a:stretch>
            <a:fillRect/>
          </a:stretch>
        </p:blipFill>
        <p:spPr>
          <a:xfrm>
            <a:off x="5989320" y="1417320"/>
            <a:ext cx="5650992" cy="3017520"/>
          </a:xfrm>
          <a:prstGeom prst="rect">
            <a:avLst/>
          </a:prstGeom>
        </p:spPr>
      </p:pic>
      <p:sp>
        <p:nvSpPr>
          <p:cNvPr id="22" name="Text 13"/>
          <p:cNvSpPr txBox="1"/>
          <p:nvPr/>
        </p:nvSpPr>
        <p:spPr>
          <a:xfrm>
            <a:off x="5989320" y="4526280"/>
            <a:ext cx="5650992" cy="548640"/>
          </a:xfrm>
          <a:prstGeom prst="rect">
            <a:avLst/>
          </a:prstGeom>
          <a:noFill/>
          <a:ln/>
        </p:spPr>
        <p:txBody>
          <a:bodyPr wrap="square" lIns="0" tIns="0" rIns="0" bIns="0" rtlCol="0" anchor="t"/>
          <a:lstStyle/>
          <a:p>
            <a:pPr indent="0" marL="0">
              <a:buNone/>
            </a:pPr>
            <a:r>
              <a:rPr lang="en-US" sz="1200" i="1" dirty="0">
                <a:solidFill>
                  <a:schemeClr val="accent6"/>
                </a:solidFill>
                <a:latin typeface="Calibri" pitchFamily="34" charset="0"/>
                <a:ea typeface="Calibri" pitchFamily="34" charset="-122"/>
                <a:cs typeface="Calibri" pitchFamily="34" charset="-120"/>
              </a:rPr>
              <a:t>Capture historique : recherche et garde Scout. Les images du chat sont désormais uniquement sur demande.</a:t>
            </a:r>
            <a:endParaRPr lang="en-US" sz="1200" dirty="0"/>
          </a:p>
        </p:txBody>
      </p:sp>
      <p:sp>
        <p:nvSpPr>
          <p:cNvPr id="23" name="Règle d'or"/>
          <p:cNvSpPr/>
          <p:nvPr/>
        </p:nvSpPr>
        <p:spPr>
          <a:xfrm>
            <a:off x="5989320" y="5212080"/>
            <a:ext cx="5650992" cy="868680"/>
          </a:xfrm>
          <a:prstGeom prst="roundRect">
            <a:avLst>
              <a:gd name="adj" fmla="val 12632"/>
            </a:avLst>
          </a:prstGeom>
          <a:solidFill>
            <a:srgbClr val="D8EFE6"/>
          </a:solidFill>
          <a:ln w="12700">
            <a:solidFill>
              <a:srgbClr val="D8EFE6"/>
            </a:solidFill>
            <a:prstDash val="solid"/>
          </a:ln>
          <a:effectLst>
            <a:outerShdw sx="100000" sy="100000" kx="0" ky="0" algn="bl" rotWithShape="0" blurRad="101600" dist="25400" dir="5400000">
              <a:srgbClr val="14231C">
                <a:alpha val="12000"/>
              </a:srgbClr>
            </a:outerShdw>
          </a:effectLst>
        </p:spPr>
      </p:sp>
      <p:sp>
        <p:nvSpPr>
          <p:cNvPr id="24" name="Text 15"/>
          <p:cNvSpPr txBox="1"/>
          <p:nvPr/>
        </p:nvSpPr>
        <p:spPr>
          <a:xfrm>
            <a:off x="6217920" y="5349240"/>
            <a:ext cx="5212080" cy="59436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L'IA comprend et explique. Le code décide.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ns3:wrappingTextBoxFlag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ns2="http://schemas.microsoft.com/office/mac/drawingml/2011/main"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Le trajet d'un message</a:t>
            </a:r>
            <a:endParaRPr lang="en-US" sz="3400" dirty="0"/>
          </a:p>
        </p:txBody>
      </p:sp>
      <p:sp>
        <p:nvSpPr>
          <p:cNvPr id="3" name="Étape 1"/>
          <p:cNvSpPr/>
          <p:nvPr/>
        </p:nvSpPr>
        <p:spPr>
          <a:xfrm>
            <a:off x="548640" y="1828800"/>
            <a:ext cx="1700784" cy="2286000"/>
          </a:xfrm>
          <a:prstGeom prst="roundRect">
            <a:avLst>
              <a:gd name="adj" fmla="val 6452"/>
            </a:avLst>
          </a:prstGeom>
          <a:solidFill>
            <a:srgbClr val="C2562F"/>
          </a:solidFill>
          <a:ln w="12700">
            <a:solidFill>
              <a:srgbClr val="C2562F"/>
            </a:solidFill>
            <a:prstDash val="solid"/>
          </a:ln>
          <a:effectLst>
            <a:outerShdw sx="100000" sy="100000" kx="0" ky="0" algn="bl" rotWithShape="0" blurRad="101600" dist="25400" dir="5400000">
              <a:srgbClr val="14231C">
                <a:alpha val="12000"/>
              </a:srgbClr>
            </a:outerShdw>
          </a:effectLst>
        </p:spPr>
      </p:sp>
      <p:sp>
        <p:nvSpPr>
          <p:cNvPr id="4" name="Text 2"/>
          <p:cNvSpPr txBox="1"/>
          <p:nvPr/>
        </p:nvSpPr>
        <p:spPr>
          <a:xfrm>
            <a:off x="731520" y="1965960"/>
            <a:ext cx="914400" cy="54864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1</a:t>
            </a:r>
            <a:endParaRPr lang="en-US" sz="2800" dirty="0"/>
          </a:p>
        </p:txBody>
      </p:sp>
      <p:sp>
        <p:nvSpPr>
          <p:cNvPr id="5" name="Text 3"/>
          <p:cNvSpPr txBox="1"/>
          <p:nvPr/>
        </p:nvSpPr>
        <p:spPr>
          <a:xfrm>
            <a:off x="731520" y="2606040"/>
            <a:ext cx="1380744" cy="45720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Scout Intent</a:t>
            </a:r>
            <a:endParaRPr lang="en-US" sz="1700" dirty="0"/>
          </a:p>
        </p:txBody>
      </p:sp>
      <p:sp>
        <p:nvSpPr>
          <p:cNvPr id="6" name="Text 4"/>
          <p:cNvSpPr txBox="1"/>
          <p:nvPr/>
        </p:nvSpPr>
        <p:spPr>
          <a:xfrm>
            <a:off x="731520" y="3108960"/>
            <a:ext cx="1380744" cy="9144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Garde, contrat ; routage simplifié par défaut</a:t>
            </a:r>
            <a:endParaRPr lang="en-US" sz="1300" dirty="0"/>
          </a:p>
        </p:txBody>
      </p:sp>
      <p:sp>
        <p:nvSpPr>
          <p:cNvPr id="7" name="Flèche 1"/>
          <p:cNvSpPr/>
          <p:nvPr/>
        </p:nvSpPr>
        <p:spPr>
          <a:xfrm rot="5400000">
            <a:off x="2256099" y="2880360"/>
            <a:ext cx="201168" cy="164592"/>
          </a:xfrm>
          <a:prstGeom prst="triangle">
            <a:avLst/>
          </a:prstGeom>
          <a:solidFill>
            <a:srgbClr val="6B7F74"/>
          </a:solidFill>
          <a:ln w="12700">
            <a:solidFill>
              <a:srgbClr val="6B7F74"/>
            </a:solidFill>
            <a:prstDash val="solid"/>
          </a:ln>
        </p:spPr>
      </p:sp>
      <p:sp>
        <p:nvSpPr>
          <p:cNvPr id="8" name="Étape 2"/>
          <p:cNvSpPr/>
          <p:nvPr/>
        </p:nvSpPr>
        <p:spPr>
          <a:xfrm>
            <a:off x="2427366" y="1828800"/>
            <a:ext cx="1700784" cy="2286000"/>
          </a:xfrm>
          <a:prstGeom prst="roundRect">
            <a:avLst>
              <a:gd name="adj" fmla="val 6452"/>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9" name="Text 7"/>
          <p:cNvSpPr txBox="1"/>
          <p:nvPr/>
        </p:nvSpPr>
        <p:spPr>
          <a:xfrm>
            <a:off x="2610246" y="1965960"/>
            <a:ext cx="914400" cy="54864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2</a:t>
            </a:r>
            <a:endParaRPr lang="en-US" sz="2800" dirty="0"/>
          </a:p>
        </p:txBody>
      </p:sp>
      <p:sp>
        <p:nvSpPr>
          <p:cNvPr id="10" name="Text 8"/>
          <p:cNvSpPr txBox="1"/>
          <p:nvPr/>
        </p:nvSpPr>
        <p:spPr>
          <a:xfrm>
            <a:off x="2610246" y="2606040"/>
            <a:ext cx="1380744" cy="45720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Nemotron</a:t>
            </a:r>
            <a:endParaRPr lang="en-US" sz="1700" dirty="0"/>
          </a:p>
        </p:txBody>
      </p:sp>
      <p:sp>
        <p:nvSpPr>
          <p:cNvPr id="11" name="Text 9"/>
          <p:cNvSpPr txBox="1"/>
          <p:nvPr/>
        </p:nvSpPr>
        <p:spPr>
          <a:xfrm>
            <a:off x="2610246" y="3108960"/>
            <a:ext cx="1380744" cy="9144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Phrase → critères JSON validés</a:t>
            </a:r>
            <a:endParaRPr lang="en-US" sz="1300" dirty="0"/>
          </a:p>
        </p:txBody>
      </p:sp>
      <p:sp>
        <p:nvSpPr>
          <p:cNvPr id="12" name="Flèche 2"/>
          <p:cNvSpPr/>
          <p:nvPr/>
        </p:nvSpPr>
        <p:spPr>
          <a:xfrm rot="5400000">
            <a:off x="4134825" y="2880360"/>
            <a:ext cx="201168" cy="164592"/>
          </a:xfrm>
          <a:prstGeom prst="triangle">
            <a:avLst/>
          </a:prstGeom>
          <a:solidFill>
            <a:srgbClr val="6B7F74"/>
          </a:solidFill>
          <a:ln w="12700">
            <a:solidFill>
              <a:srgbClr val="6B7F74"/>
            </a:solidFill>
            <a:prstDash val="solid"/>
          </a:ln>
        </p:spPr>
      </p:sp>
      <p:sp>
        <p:nvSpPr>
          <p:cNvPr id="13" name="Étape 3"/>
          <p:cNvSpPr/>
          <p:nvPr/>
        </p:nvSpPr>
        <p:spPr>
          <a:xfrm>
            <a:off x="4306092" y="1828800"/>
            <a:ext cx="1700784" cy="2286000"/>
          </a:xfrm>
          <a:prstGeom prst="roundRect">
            <a:avLst>
              <a:gd name="adj" fmla="val 6452"/>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14" name="Text 12"/>
          <p:cNvSpPr txBox="1"/>
          <p:nvPr/>
        </p:nvSpPr>
        <p:spPr>
          <a:xfrm>
            <a:off x="4488972" y="1965960"/>
            <a:ext cx="914400" cy="54864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3</a:t>
            </a:r>
            <a:endParaRPr lang="en-US" sz="2800" dirty="0"/>
          </a:p>
        </p:txBody>
      </p:sp>
      <p:sp>
        <p:nvSpPr>
          <p:cNvPr id="15" name="Text 13"/>
          <p:cNvSpPr txBox="1"/>
          <p:nvPr/>
        </p:nvSpPr>
        <p:spPr>
          <a:xfrm>
            <a:off x="4488972" y="2606040"/>
            <a:ext cx="1380744" cy="45720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Zetaris</a:t>
            </a:r>
            <a:endParaRPr lang="en-US" sz="1700" dirty="0"/>
          </a:p>
        </p:txBody>
      </p:sp>
      <p:sp>
        <p:nvSpPr>
          <p:cNvPr id="16" name="Text 14"/>
          <p:cNvSpPr txBox="1"/>
          <p:nvPr/>
        </p:nvSpPr>
        <p:spPr>
          <a:xfrm>
            <a:off x="4488972" y="3108960"/>
            <a:ext cx="1380744" cy="9144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SQL via API ; repli PostgreSQL annoncé</a:t>
            </a:r>
            <a:endParaRPr lang="en-US" sz="1300" dirty="0"/>
          </a:p>
        </p:txBody>
      </p:sp>
      <p:sp>
        <p:nvSpPr>
          <p:cNvPr id="17" name="Flèche 3"/>
          <p:cNvSpPr/>
          <p:nvPr/>
        </p:nvSpPr>
        <p:spPr>
          <a:xfrm rot="5400000">
            <a:off x="6013552" y="2880360"/>
            <a:ext cx="201168" cy="164592"/>
          </a:xfrm>
          <a:prstGeom prst="triangle">
            <a:avLst/>
          </a:prstGeom>
          <a:solidFill>
            <a:srgbClr val="6B7F74"/>
          </a:solidFill>
          <a:ln w="12700">
            <a:solidFill>
              <a:srgbClr val="6B7F74"/>
            </a:solidFill>
            <a:prstDash val="solid"/>
          </a:ln>
        </p:spPr>
      </p:sp>
      <p:sp>
        <p:nvSpPr>
          <p:cNvPr id="18" name="Étape 4"/>
          <p:cNvSpPr/>
          <p:nvPr/>
        </p:nvSpPr>
        <p:spPr>
          <a:xfrm>
            <a:off x="6184819" y="1828800"/>
            <a:ext cx="1700784" cy="2286000"/>
          </a:xfrm>
          <a:prstGeom prst="roundRect">
            <a:avLst>
              <a:gd name="adj" fmla="val 6452"/>
            </a:avLst>
          </a:prstGeom>
          <a:solidFill>
            <a:srgbClr val="0A4A39"/>
          </a:solidFill>
          <a:ln w="12700">
            <a:solidFill>
              <a:srgbClr val="0A4A39"/>
            </a:solidFill>
            <a:prstDash val="solid"/>
          </a:ln>
          <a:effectLst>
            <a:outerShdw sx="100000" sy="100000" kx="0" ky="0" algn="bl" rotWithShape="0" blurRad="101600" dist="25400" dir="5400000">
              <a:srgbClr val="14231C">
                <a:alpha val="12000"/>
              </a:srgbClr>
            </a:outerShdw>
          </a:effectLst>
        </p:spPr>
      </p:sp>
      <p:sp>
        <p:nvSpPr>
          <p:cNvPr id="19" name="Text 17"/>
          <p:cNvSpPr txBox="1"/>
          <p:nvPr/>
        </p:nvSpPr>
        <p:spPr>
          <a:xfrm>
            <a:off x="6367699" y="1965960"/>
            <a:ext cx="914400" cy="54864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4</a:t>
            </a:r>
            <a:endParaRPr lang="en-US" sz="2800" dirty="0"/>
          </a:p>
        </p:txBody>
      </p:sp>
      <p:sp>
        <p:nvSpPr>
          <p:cNvPr id="20" name="Text 18"/>
          <p:cNvSpPr txBox="1"/>
          <p:nvPr/>
        </p:nvSpPr>
        <p:spPr>
          <a:xfrm>
            <a:off x="6367699" y="2606040"/>
            <a:ext cx="1380744" cy="45720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Code Kwatsur</a:t>
            </a:r>
            <a:endParaRPr lang="en-US" sz="1700" dirty="0"/>
          </a:p>
        </p:txBody>
      </p:sp>
      <p:sp>
        <p:nvSpPr>
          <p:cNvPr id="21" name="Text 19"/>
          <p:cNvSpPr txBox="1"/>
          <p:nvPr/>
        </p:nvSpPr>
        <p:spPr>
          <a:xfrm>
            <a:off x="6367699" y="3108960"/>
            <a:ext cx="1380744" cy="9144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Filtres, classement, risques</a:t>
            </a:r>
            <a:endParaRPr lang="en-US" sz="1300" dirty="0"/>
          </a:p>
        </p:txBody>
      </p:sp>
      <p:sp>
        <p:nvSpPr>
          <p:cNvPr id="22" name="Flèche 4"/>
          <p:cNvSpPr/>
          <p:nvPr/>
        </p:nvSpPr>
        <p:spPr>
          <a:xfrm rot="5400000">
            <a:off x="7892278" y="2880360"/>
            <a:ext cx="201168" cy="164592"/>
          </a:xfrm>
          <a:prstGeom prst="triangle">
            <a:avLst/>
          </a:prstGeom>
          <a:solidFill>
            <a:srgbClr val="6B7F74"/>
          </a:solidFill>
          <a:ln w="12700">
            <a:solidFill>
              <a:srgbClr val="6B7F74"/>
            </a:solidFill>
            <a:prstDash val="solid"/>
          </a:ln>
        </p:spPr>
      </p:sp>
      <p:sp>
        <p:nvSpPr>
          <p:cNvPr id="23" name="Étape 5"/>
          <p:cNvSpPr/>
          <p:nvPr/>
        </p:nvSpPr>
        <p:spPr>
          <a:xfrm>
            <a:off x="8063545" y="1828800"/>
            <a:ext cx="1700784" cy="2286000"/>
          </a:xfrm>
          <a:prstGeom prst="roundRect">
            <a:avLst>
              <a:gd name="adj" fmla="val 6452"/>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24" name="Text 22"/>
          <p:cNvSpPr txBox="1"/>
          <p:nvPr/>
        </p:nvSpPr>
        <p:spPr>
          <a:xfrm>
            <a:off x="8246425" y="1965960"/>
            <a:ext cx="914400" cy="54864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5</a:t>
            </a:r>
            <a:endParaRPr lang="en-US" sz="2800" dirty="0"/>
          </a:p>
        </p:txBody>
      </p:sp>
      <p:sp>
        <p:nvSpPr>
          <p:cNvPr id="25" name="Text 23"/>
          <p:cNvSpPr txBox="1"/>
          <p:nvPr/>
        </p:nvSpPr>
        <p:spPr>
          <a:xfrm>
            <a:off x="8246425" y="2606040"/>
            <a:ext cx="1380744" cy="45720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Nemotron</a:t>
            </a:r>
            <a:endParaRPr lang="en-US" sz="1700" dirty="0"/>
          </a:p>
        </p:txBody>
      </p:sp>
      <p:sp>
        <p:nvSpPr>
          <p:cNvPr id="26" name="Text 24"/>
          <p:cNvSpPr txBox="1"/>
          <p:nvPr/>
        </p:nvSpPr>
        <p:spPr>
          <a:xfrm>
            <a:off x="8246425" y="3108960"/>
            <a:ext cx="1380744" cy="9144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Explication à partir des faits</a:t>
            </a:r>
            <a:endParaRPr lang="en-US" sz="1300" dirty="0"/>
          </a:p>
        </p:txBody>
      </p:sp>
      <p:sp>
        <p:nvSpPr>
          <p:cNvPr id="27" name="Flèche 5"/>
          <p:cNvSpPr/>
          <p:nvPr/>
        </p:nvSpPr>
        <p:spPr>
          <a:xfrm rot="5400000">
            <a:off x="9771004" y="2880360"/>
            <a:ext cx="201168" cy="164592"/>
          </a:xfrm>
          <a:prstGeom prst="triangle">
            <a:avLst/>
          </a:prstGeom>
          <a:solidFill>
            <a:srgbClr val="6B7F74"/>
          </a:solidFill>
          <a:ln w="12700">
            <a:solidFill>
              <a:srgbClr val="6B7F74"/>
            </a:solidFill>
            <a:prstDash val="solid"/>
          </a:ln>
        </p:spPr>
      </p:sp>
      <p:sp>
        <p:nvSpPr>
          <p:cNvPr id="28" name="Étape 6"/>
          <p:cNvSpPr/>
          <p:nvPr/>
        </p:nvSpPr>
        <p:spPr>
          <a:xfrm>
            <a:off x="9942271" y="1828800"/>
            <a:ext cx="1700784" cy="2286000"/>
          </a:xfrm>
          <a:prstGeom prst="roundRect">
            <a:avLst>
              <a:gd name="adj" fmla="val 6452"/>
            </a:avLst>
          </a:prstGeom>
          <a:solidFill>
            <a:srgbClr val="0A4A39"/>
          </a:solidFill>
          <a:ln w="12700">
            <a:solidFill>
              <a:srgbClr val="0A4A39"/>
            </a:solidFill>
            <a:prstDash val="solid"/>
          </a:ln>
          <a:effectLst>
            <a:outerShdw sx="100000" sy="100000" kx="0" ky="0" algn="bl" rotWithShape="0" blurRad="101600" dist="25400" dir="5400000">
              <a:srgbClr val="14231C">
                <a:alpha val="12000"/>
              </a:srgbClr>
            </a:outerShdw>
          </a:effectLst>
        </p:spPr>
      </p:sp>
      <p:sp>
        <p:nvSpPr>
          <p:cNvPr id="29" name="Text 27"/>
          <p:cNvSpPr txBox="1"/>
          <p:nvPr/>
        </p:nvSpPr>
        <p:spPr>
          <a:xfrm>
            <a:off x="10125151" y="1965960"/>
            <a:ext cx="914400" cy="54864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6</a:t>
            </a:r>
            <a:endParaRPr lang="en-US" sz="2800" dirty="0"/>
          </a:p>
        </p:txBody>
      </p:sp>
      <p:sp>
        <p:nvSpPr>
          <p:cNvPr id="30" name="Text 28"/>
          <p:cNvSpPr txBox="1"/>
          <p:nvPr/>
        </p:nvSpPr>
        <p:spPr>
          <a:xfrm>
            <a:off x="10125151" y="2606040"/>
            <a:ext cx="1380744" cy="457200"/>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Interface</a:t>
            </a:r>
            <a:endParaRPr lang="en-US" sz="1700" dirty="0"/>
          </a:p>
        </p:txBody>
      </p:sp>
      <p:sp>
        <p:nvSpPr>
          <p:cNvPr id="31" name="Text 29"/>
          <p:cNvSpPr txBox="1"/>
          <p:nvPr/>
        </p:nvSpPr>
        <p:spPr>
          <a:xfrm>
            <a:off x="10125151" y="3108960"/>
            <a:ext cx="1380744" cy="9144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Cartes repliables, images demandées, voix</a:t>
            </a:r>
            <a:endParaRPr lang="en-US" sz="1300" dirty="0"/>
          </a:p>
        </p:txBody>
      </p:sp>
      <p:sp>
        <p:nvSpPr>
          <p:cNvPr id="32" name="Garanties"/>
          <p:cNvSpPr/>
          <p:nvPr/>
        </p:nvSpPr>
        <p:spPr>
          <a:xfrm>
            <a:off x="548640" y="4526280"/>
            <a:ext cx="11094415" cy="1463040"/>
          </a:xfrm>
          <a:prstGeom prst="roundRect">
            <a:avLst>
              <a:gd name="adj" fmla="val 7500"/>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33" name="Text 31"/>
          <p:cNvSpPr txBox="1"/>
          <p:nvPr/>
        </p:nvSpPr>
        <p:spPr>
          <a:xfrm>
            <a:off x="822960" y="4681728"/>
            <a:ext cx="10545775" cy="118872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Sans contrat Scout valide, aucun outil n'agit : contrat signé (HMAC), valable 5 min, vérifié par chaque outil.</a:t>
            </a:r>
            <a:endParaRPr lang="en-US" sz="1500" dirty="0"/>
          </a:p>
          <a:p>
            <a:pPr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La réponse expose sa provenance : modèle ou gabarit, source réellement utilisée, trace Scout si applicable.</a:t>
            </a:r>
            <a:endParaRPr lang="en-US" sz="1500" dirty="0"/>
          </a:p>
          <a:p>
            <a:pPr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Inconnu ≠ non : une information absente reste « non renseignée » et est signalée « à vérifier ».</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ns2:wrappingTextBoxFlag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ns3="http://schemas.microsoft.com/office/mac/drawingml/2011/main" xmlns:p="http://schemas.openxmlformats.org/presentationml/2006/main" xmlns:r="http://schemas.openxmlformats.org/officeDocument/2006/relationships">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La pile technique</a:t>
            </a:r>
            <a:endParaRPr lang="en-US" sz="3400" dirty="0"/>
          </a:p>
        </p:txBody>
      </p:sp>
      <p:sp>
        <p:nvSpPr>
          <p:cNvPr id="3" name="Pile Data"/>
          <p:cNvSpPr/>
          <p:nvPr/>
        </p:nvSpPr>
        <p:spPr>
          <a:xfrm>
            <a:off x="548640" y="1508760"/>
            <a:ext cx="3538728"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4" name="Pile Data cercle"/>
          <p:cNvSpPr/>
          <p:nvPr/>
        </p:nvSpPr>
        <p:spPr>
          <a:xfrm>
            <a:off x="822960" y="1783080"/>
            <a:ext cx="731520" cy="731520"/>
          </a:xfrm>
          <a:prstGeom prst="ellipse">
            <a:avLst/>
          </a:prstGeom>
          <a:solidFill>
            <a:srgbClr val="0F6B52"/>
          </a:solidFill>
          <a:ln w="12700">
            <a:solidFill>
              <a:srgbClr val="0F6B52"/>
            </a:solidFill>
            <a:prstDash val="solid"/>
          </a:ln>
        </p:spPr>
      </p:sp>
      <p:pic>
        <p:nvPicPr>
          <p:cNvPr id="5" name="Pile Data icône" descr="preencoded.png">    </p:cNvPr>
          <p:cNvPicPr>
            <a:picLocks noChangeAspect="1"/>
          </p:cNvPicPr>
          <p:nvPr/>
        </p:nvPicPr>
        <p:blipFill>
          <a:blip r:embed="rId1"/>
          <a:stretch>
            <a:fillRect/>
          </a:stretch>
        </p:blipFill>
        <p:spPr>
          <a:xfrm>
            <a:off x="998525" y="1958645"/>
            <a:ext cx="380390" cy="380390"/>
          </a:xfrm>
          <a:prstGeom prst="rect">
            <a:avLst/>
          </a:prstGeom>
        </p:spPr>
      </p:pic>
      <p:sp>
        <p:nvSpPr>
          <p:cNvPr id="6" name="Text 3"/>
          <p:cNvSpPr txBox="1"/>
          <p:nvPr/>
        </p:nvSpPr>
        <p:spPr>
          <a:xfrm>
            <a:off x="1737360" y="1892808"/>
            <a:ext cx="219456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Data</a:t>
            </a:r>
            <a:endParaRPr lang="en-US" sz="2000" dirty="0"/>
          </a:p>
        </p:txBody>
      </p:sp>
      <p:sp>
        <p:nvSpPr>
          <p:cNvPr id="7" name="Text 4"/>
          <p:cNvSpPr txBox="1"/>
          <p:nvPr/>
        </p:nvSpPr>
        <p:spPr>
          <a:xfrm>
            <a:off x="822960" y="2651760"/>
            <a:ext cx="301752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Zetaris 2.4.3 (local, Docker) · fédère la base PostgreSQL de Kwatsur</a:t>
            </a:r>
            <a:endParaRPr lang="en-US" sz="1400" dirty="0"/>
          </a:p>
        </p:txBody>
      </p:sp>
      <p:sp>
        <p:nvSpPr>
          <p:cNvPr id="8" name="Pile Power"/>
          <p:cNvSpPr/>
          <p:nvPr/>
        </p:nvSpPr>
        <p:spPr>
          <a:xfrm>
            <a:off x="4325112" y="1508760"/>
            <a:ext cx="3538728"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9" name="Pile Power cercle"/>
          <p:cNvSpPr/>
          <p:nvPr/>
        </p:nvSpPr>
        <p:spPr>
          <a:xfrm>
            <a:off x="4599432" y="1783080"/>
            <a:ext cx="731520" cy="731520"/>
          </a:xfrm>
          <a:prstGeom prst="ellipse">
            <a:avLst/>
          </a:prstGeom>
          <a:solidFill>
            <a:srgbClr val="0F6B52"/>
          </a:solidFill>
          <a:ln w="12700">
            <a:solidFill>
              <a:srgbClr val="0F6B52"/>
            </a:solidFill>
            <a:prstDash val="solid"/>
          </a:ln>
        </p:spPr>
      </p:sp>
      <p:pic>
        <p:nvPicPr>
          <p:cNvPr id="10" name="Pile Power icône" descr="preencoded.png">    </p:cNvPr>
          <p:cNvPicPr>
            <a:picLocks noChangeAspect="1"/>
          </p:cNvPicPr>
          <p:nvPr/>
        </p:nvPicPr>
        <p:blipFill>
          <a:blip r:embed="rId2"/>
          <a:stretch>
            <a:fillRect/>
          </a:stretch>
        </p:blipFill>
        <p:spPr>
          <a:xfrm>
            <a:off x="4774997" y="1958645"/>
            <a:ext cx="380390" cy="380390"/>
          </a:xfrm>
          <a:prstGeom prst="rect">
            <a:avLst/>
          </a:prstGeom>
        </p:spPr>
      </p:pic>
      <p:sp>
        <p:nvSpPr>
          <p:cNvPr id="11" name="Text 7"/>
          <p:cNvSpPr txBox="1"/>
          <p:nvPr/>
        </p:nvSpPr>
        <p:spPr>
          <a:xfrm>
            <a:off x="5513832" y="1892808"/>
            <a:ext cx="219456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Power</a:t>
            </a:r>
            <a:endParaRPr lang="en-US" sz="2000" dirty="0"/>
          </a:p>
        </p:txBody>
      </p:sp>
      <p:sp>
        <p:nvSpPr>
          <p:cNvPr id="12" name="Text 8"/>
          <p:cNvSpPr txBox="1"/>
          <p:nvPr/>
        </p:nvSpPr>
        <p:spPr>
          <a:xfrm>
            <a:off x="4599432" y="2651760"/>
            <a:ext cx="301752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Meterless Nightshift · NVIDIA Nemotron 3 Ultra 550B (épinglé)</a:t>
            </a:r>
            <a:endParaRPr lang="en-US" sz="1400" dirty="0"/>
          </a:p>
        </p:txBody>
      </p:sp>
      <p:sp>
        <p:nvSpPr>
          <p:cNvPr id="13" name="Pile Build"/>
          <p:cNvSpPr/>
          <p:nvPr/>
        </p:nvSpPr>
        <p:spPr>
          <a:xfrm>
            <a:off x="8101584" y="1508760"/>
            <a:ext cx="3538728"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4" name="Pile Build cercle"/>
          <p:cNvSpPr/>
          <p:nvPr/>
        </p:nvSpPr>
        <p:spPr>
          <a:xfrm>
            <a:off x="8375904" y="1783080"/>
            <a:ext cx="731520" cy="731520"/>
          </a:xfrm>
          <a:prstGeom prst="ellipse">
            <a:avLst/>
          </a:prstGeom>
          <a:solidFill>
            <a:srgbClr val="0F6B52"/>
          </a:solidFill>
          <a:ln w="12700">
            <a:solidFill>
              <a:srgbClr val="0F6B52"/>
            </a:solidFill>
            <a:prstDash val="solid"/>
          </a:ln>
        </p:spPr>
      </p:sp>
      <p:pic>
        <p:nvPicPr>
          <p:cNvPr id="15" name="Pile Build icône" descr="preencoded.png">    </p:cNvPr>
          <p:cNvPicPr>
            <a:picLocks noChangeAspect="1"/>
          </p:cNvPicPr>
          <p:nvPr/>
        </p:nvPicPr>
        <p:blipFill>
          <a:blip r:embed="rId3"/>
          <a:stretch>
            <a:fillRect/>
          </a:stretch>
        </p:blipFill>
        <p:spPr>
          <a:xfrm>
            <a:off x="8551469" y="1958645"/>
            <a:ext cx="380390" cy="380390"/>
          </a:xfrm>
          <a:prstGeom prst="rect">
            <a:avLst/>
          </a:prstGeom>
        </p:spPr>
      </p:pic>
      <p:sp>
        <p:nvSpPr>
          <p:cNvPr id="16" name="Text 11"/>
          <p:cNvSpPr txBox="1"/>
          <p:nvPr/>
        </p:nvSpPr>
        <p:spPr>
          <a:xfrm>
            <a:off x="9290304" y="1892808"/>
            <a:ext cx="219456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Build</a:t>
            </a:r>
            <a:endParaRPr lang="en-US" sz="2000" dirty="0"/>
          </a:p>
        </p:txBody>
      </p:sp>
      <p:sp>
        <p:nvSpPr>
          <p:cNvPr id="17" name="Text 12"/>
          <p:cNvSpPr txBox="1"/>
          <p:nvPr/>
        </p:nvSpPr>
        <p:spPr>
          <a:xfrm>
            <a:off x="8375904" y="2651760"/>
            <a:ext cx="301752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Scout Intent (Python) · Cursor et Claude Code · 214 réussis, 2 ignorés</a:t>
            </a:r>
            <a:endParaRPr lang="en-US" sz="1400" dirty="0"/>
          </a:p>
        </p:txBody>
      </p:sp>
      <p:sp>
        <p:nvSpPr>
          <p:cNvPr id="18" name="Pile Application"/>
          <p:cNvSpPr/>
          <p:nvPr/>
        </p:nvSpPr>
        <p:spPr>
          <a:xfrm>
            <a:off x="548640" y="3886200"/>
            <a:ext cx="3538728"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9" name="Pile Application cercle"/>
          <p:cNvSpPr/>
          <p:nvPr/>
        </p:nvSpPr>
        <p:spPr>
          <a:xfrm>
            <a:off x="822960" y="4160520"/>
            <a:ext cx="731520" cy="731520"/>
          </a:xfrm>
          <a:prstGeom prst="ellipse">
            <a:avLst/>
          </a:prstGeom>
          <a:solidFill>
            <a:srgbClr val="3D5348"/>
          </a:solidFill>
          <a:ln w="12700">
            <a:solidFill>
              <a:srgbClr val="3D5348"/>
            </a:solidFill>
            <a:prstDash val="solid"/>
          </a:ln>
        </p:spPr>
      </p:sp>
      <p:pic>
        <p:nvPicPr>
          <p:cNvPr id="20" name="Pile Application icône" descr="preencoded.png">    </p:cNvPr>
          <p:cNvPicPr>
            <a:picLocks noChangeAspect="1"/>
          </p:cNvPicPr>
          <p:nvPr/>
        </p:nvPicPr>
        <p:blipFill>
          <a:blip r:embed="rId4"/>
          <a:stretch>
            <a:fillRect/>
          </a:stretch>
        </p:blipFill>
        <p:spPr>
          <a:xfrm>
            <a:off x="998525" y="4336085"/>
            <a:ext cx="380390" cy="380390"/>
          </a:xfrm>
          <a:prstGeom prst="rect">
            <a:avLst/>
          </a:prstGeom>
        </p:spPr>
      </p:pic>
      <p:sp>
        <p:nvSpPr>
          <p:cNvPr id="21" name="Text 15"/>
          <p:cNvSpPr txBox="1"/>
          <p:nvPr/>
        </p:nvSpPr>
        <p:spPr>
          <a:xfrm>
            <a:off x="1737360" y="4270248"/>
            <a:ext cx="219456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Application</a:t>
            </a:r>
            <a:endParaRPr lang="en-US" sz="2000" dirty="0"/>
          </a:p>
        </p:txBody>
      </p:sp>
      <p:sp>
        <p:nvSpPr>
          <p:cNvPr id="22" name="Text 16"/>
          <p:cNvSpPr txBox="1"/>
          <p:nvPr/>
        </p:nvSpPr>
        <p:spPr>
          <a:xfrm>
            <a:off x="822960" y="5029200"/>
            <a:ext cx="301752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FastAPI · PostgreSQL 16 · Alembic · nginx · JavaScript sans framework</a:t>
            </a:r>
            <a:endParaRPr lang="en-US" sz="1400" dirty="0"/>
          </a:p>
        </p:txBody>
      </p:sp>
      <p:sp>
        <p:nvSpPr>
          <p:cNvPr id="23" name="Pile Images"/>
          <p:cNvSpPr/>
          <p:nvPr/>
        </p:nvSpPr>
        <p:spPr>
          <a:xfrm>
            <a:off x="4325112" y="3886200"/>
            <a:ext cx="3538728"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24" name="Pile Images cercle"/>
          <p:cNvSpPr/>
          <p:nvPr/>
        </p:nvSpPr>
        <p:spPr>
          <a:xfrm>
            <a:off x="4599432" y="4160520"/>
            <a:ext cx="731520" cy="731520"/>
          </a:xfrm>
          <a:prstGeom prst="ellipse">
            <a:avLst/>
          </a:prstGeom>
          <a:solidFill>
            <a:srgbClr val="3D5348"/>
          </a:solidFill>
          <a:ln w="12700">
            <a:solidFill>
              <a:srgbClr val="3D5348"/>
            </a:solidFill>
            <a:prstDash val="solid"/>
          </a:ln>
        </p:spPr>
      </p:sp>
      <p:pic>
        <p:nvPicPr>
          <p:cNvPr id="25" name="Pile Images icône" descr="preencoded.png">    </p:cNvPr>
          <p:cNvPicPr>
            <a:picLocks noChangeAspect="1"/>
          </p:cNvPicPr>
          <p:nvPr/>
        </p:nvPicPr>
        <p:blipFill>
          <a:blip r:embed="rId5"/>
          <a:stretch>
            <a:fillRect/>
          </a:stretch>
        </p:blipFill>
        <p:spPr>
          <a:xfrm>
            <a:off x="4774997" y="4336085"/>
            <a:ext cx="380390" cy="380390"/>
          </a:xfrm>
          <a:prstGeom prst="rect">
            <a:avLst/>
          </a:prstGeom>
        </p:spPr>
      </p:pic>
      <p:sp>
        <p:nvSpPr>
          <p:cNvPr id="26" name="Text 19"/>
          <p:cNvSpPr txBox="1"/>
          <p:nvPr/>
        </p:nvSpPr>
        <p:spPr>
          <a:xfrm>
            <a:off x="5513832" y="4270248"/>
            <a:ext cx="219456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Images</a:t>
            </a:r>
            <a:endParaRPr lang="en-US" sz="2000" dirty="0"/>
          </a:p>
        </p:txBody>
      </p:sp>
      <p:sp>
        <p:nvSpPr>
          <p:cNvPr id="27" name="Text 20"/>
          <p:cNvSpPr txBox="1"/>
          <p:nvPr/>
        </p:nvSpPr>
        <p:spPr>
          <a:xfrm>
            <a:off x="4599432" y="5029200"/>
            <a:ext cx="301752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Cloudflare Workers AI : FLUX.1 schnell (génération), LLaVA (vision)</a:t>
            </a:r>
            <a:endParaRPr lang="en-US" sz="1400" dirty="0"/>
          </a:p>
        </p:txBody>
      </p:sp>
      <p:sp>
        <p:nvSpPr>
          <p:cNvPr id="28" name="Pile Déploiement"/>
          <p:cNvSpPr/>
          <p:nvPr/>
        </p:nvSpPr>
        <p:spPr>
          <a:xfrm>
            <a:off x="8101584" y="3886200"/>
            <a:ext cx="3538728"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29" name="Pile Déploiement cercle"/>
          <p:cNvSpPr/>
          <p:nvPr/>
        </p:nvSpPr>
        <p:spPr>
          <a:xfrm>
            <a:off x="8375904" y="4160520"/>
            <a:ext cx="731520" cy="731520"/>
          </a:xfrm>
          <a:prstGeom prst="ellipse">
            <a:avLst/>
          </a:prstGeom>
          <a:solidFill>
            <a:srgbClr val="3D5348"/>
          </a:solidFill>
          <a:ln w="12700">
            <a:solidFill>
              <a:srgbClr val="3D5348"/>
            </a:solidFill>
            <a:prstDash val="solid"/>
          </a:ln>
        </p:spPr>
      </p:sp>
      <p:pic>
        <p:nvPicPr>
          <p:cNvPr id="30" name="Pile Déploiement icône" descr="preencoded.png">    </p:cNvPr>
          <p:cNvPicPr>
            <a:picLocks noChangeAspect="1"/>
          </p:cNvPicPr>
          <p:nvPr/>
        </p:nvPicPr>
        <p:blipFill>
          <a:blip r:embed="rId6"/>
          <a:stretch>
            <a:fillRect/>
          </a:stretch>
        </p:blipFill>
        <p:spPr>
          <a:xfrm>
            <a:off x="8551469" y="4336085"/>
            <a:ext cx="380390" cy="380390"/>
          </a:xfrm>
          <a:prstGeom prst="rect">
            <a:avLst/>
          </a:prstGeom>
        </p:spPr>
      </p:pic>
      <p:sp>
        <p:nvSpPr>
          <p:cNvPr id="31" name="Text 23"/>
          <p:cNvSpPr txBox="1"/>
          <p:nvPr/>
        </p:nvSpPr>
        <p:spPr>
          <a:xfrm>
            <a:off x="9290304" y="4270248"/>
            <a:ext cx="219456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Déploiement</a:t>
            </a:r>
            <a:endParaRPr lang="en-US" sz="2000" dirty="0"/>
          </a:p>
        </p:txBody>
      </p:sp>
      <p:sp>
        <p:nvSpPr>
          <p:cNvPr id="32" name="Text 24"/>
          <p:cNvSpPr txBox="1"/>
          <p:nvPr/>
        </p:nvSpPr>
        <p:spPr>
          <a:xfrm>
            <a:off x="8375904" y="5029200"/>
            <a:ext cx="301752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Docker Compose dans WSL · Web Speech (voix) · SAMPLE_MODE de repli</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ns3:wrappingTextBoxFlag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ns2="http://schemas.microsoft.com/office/mac/drawingml/2011/main"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Zetaris, couche de données de l'agent</a:t>
            </a:r>
            <a:endParaRPr lang="en-US" sz="3400" dirty="0"/>
          </a:p>
        </p:txBody>
      </p:sp>
      <p:sp>
        <p:nvSpPr>
          <p:cNvPr id="3" name="Zetaris 1"/>
          <p:cNvSpPr/>
          <p:nvPr/>
        </p:nvSpPr>
        <p:spPr>
          <a:xfrm>
            <a:off x="548640" y="1600200"/>
            <a:ext cx="2514600" cy="1371600"/>
          </a:xfrm>
          <a:prstGeom prst="roundRect">
            <a:avLst>
              <a:gd name="adj" fmla="val 8000"/>
            </a:avLst>
          </a:prstGeom>
          <a:solidFill>
            <a:srgbClr val="0A4A39"/>
          </a:solidFill>
          <a:ln w="12700">
            <a:solidFill>
              <a:srgbClr val="0A4A39"/>
            </a:solidFill>
            <a:prstDash val="solid"/>
          </a:ln>
          <a:effectLst>
            <a:outerShdw sx="100000" sy="100000" kx="0" ky="0" algn="bl" rotWithShape="0" blurRad="101600" dist="25400" dir="5400000">
              <a:srgbClr val="14231C">
                <a:alpha val="12000"/>
              </a:srgbClr>
            </a:outerShdw>
          </a:effectLst>
        </p:spPr>
      </p:sp>
      <p:sp>
        <p:nvSpPr>
          <p:cNvPr id="4" name="Text 2"/>
          <p:cNvSpPr txBox="1"/>
          <p:nvPr/>
        </p:nvSpPr>
        <p:spPr>
          <a:xfrm>
            <a:off x="731520" y="1783080"/>
            <a:ext cx="2194560" cy="45720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Agent Kwatsur</a:t>
            </a:r>
            <a:endParaRPr lang="en-US" sz="1800" dirty="0"/>
          </a:p>
        </p:txBody>
      </p:sp>
      <p:sp>
        <p:nvSpPr>
          <p:cNvPr id="5" name="Text 3"/>
          <p:cNvSpPr txBox="1"/>
          <p:nvPr/>
        </p:nvSpPr>
        <p:spPr>
          <a:xfrm>
            <a:off x="731520" y="2286000"/>
            <a:ext cx="2194560" cy="54864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source configurée</a:t>
            </a:r>
            <a:endParaRPr lang="en-US" sz="1300" dirty="0"/>
          </a:p>
        </p:txBody>
      </p:sp>
      <p:sp>
        <p:nvSpPr>
          <p:cNvPr id="6" name="Zetaris flèche 1"/>
          <p:cNvSpPr/>
          <p:nvPr/>
        </p:nvSpPr>
        <p:spPr>
          <a:xfrm rot="5400000">
            <a:off x="3145536" y="2185416"/>
            <a:ext cx="201168" cy="164592"/>
          </a:xfrm>
          <a:prstGeom prst="triangle">
            <a:avLst/>
          </a:prstGeom>
          <a:solidFill>
            <a:srgbClr val="6B7F74"/>
          </a:solidFill>
          <a:ln w="12700">
            <a:solidFill>
              <a:srgbClr val="6B7F74"/>
            </a:solidFill>
            <a:prstDash val="solid"/>
          </a:ln>
        </p:spPr>
      </p:sp>
      <p:sp>
        <p:nvSpPr>
          <p:cNvPr id="7" name="Zetaris 2"/>
          <p:cNvSpPr/>
          <p:nvPr/>
        </p:nvSpPr>
        <p:spPr>
          <a:xfrm>
            <a:off x="3383280" y="1600200"/>
            <a:ext cx="2514600" cy="1371600"/>
          </a:xfrm>
          <a:prstGeom prst="roundRect">
            <a:avLst>
              <a:gd name="adj" fmla="val 8000"/>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8" name="Text 6"/>
          <p:cNvSpPr txBox="1"/>
          <p:nvPr/>
        </p:nvSpPr>
        <p:spPr>
          <a:xfrm>
            <a:off x="3566160" y="1783080"/>
            <a:ext cx="2194560" cy="45720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Zetaris</a:t>
            </a:r>
            <a:endParaRPr lang="en-US" sz="1800" dirty="0"/>
          </a:p>
        </p:txBody>
      </p:sp>
      <p:sp>
        <p:nvSpPr>
          <p:cNvPr id="9" name="Text 7"/>
          <p:cNvSpPr txBox="1"/>
          <p:nvPr/>
        </p:nvSpPr>
        <p:spPr>
          <a:xfrm>
            <a:off x="3566160" y="2286000"/>
            <a:ext cx="2194560" cy="54864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POST /sql-editor/sqls/run</a:t>
            </a:r>
            <a:endParaRPr lang="en-US" sz="1300" dirty="0"/>
          </a:p>
        </p:txBody>
      </p:sp>
      <p:sp>
        <p:nvSpPr>
          <p:cNvPr id="10" name="Zetaris flèche 2"/>
          <p:cNvSpPr/>
          <p:nvPr/>
        </p:nvSpPr>
        <p:spPr>
          <a:xfrm rot="5400000">
            <a:off x="5980176" y="2185416"/>
            <a:ext cx="201168" cy="164592"/>
          </a:xfrm>
          <a:prstGeom prst="triangle">
            <a:avLst/>
          </a:prstGeom>
          <a:solidFill>
            <a:srgbClr val="6B7F74"/>
          </a:solidFill>
          <a:ln w="12700">
            <a:solidFill>
              <a:srgbClr val="6B7F74"/>
            </a:solidFill>
            <a:prstDash val="solid"/>
          </a:ln>
        </p:spPr>
      </p:sp>
      <p:sp>
        <p:nvSpPr>
          <p:cNvPr id="11" name="Zetaris 3"/>
          <p:cNvSpPr/>
          <p:nvPr/>
        </p:nvSpPr>
        <p:spPr>
          <a:xfrm>
            <a:off x="6217920" y="1600200"/>
            <a:ext cx="2514600" cy="1371600"/>
          </a:xfrm>
          <a:prstGeom prst="roundRect">
            <a:avLst>
              <a:gd name="adj" fmla="val 8000"/>
            </a:avLst>
          </a:prstGeom>
          <a:solidFill>
            <a:srgbClr val="3D5348"/>
          </a:solidFill>
          <a:ln w="12700">
            <a:solidFill>
              <a:srgbClr val="3D5348"/>
            </a:solidFill>
            <a:prstDash val="solid"/>
          </a:ln>
          <a:effectLst>
            <a:outerShdw sx="100000" sy="100000" kx="0" ky="0" algn="bl" rotWithShape="0" blurRad="101600" dist="25400" dir="5400000">
              <a:srgbClr val="14231C">
                <a:alpha val="12000"/>
              </a:srgbClr>
            </a:outerShdw>
          </a:effectLst>
        </p:spPr>
      </p:sp>
      <p:sp>
        <p:nvSpPr>
          <p:cNvPr id="12" name="Text 10"/>
          <p:cNvSpPr txBox="1"/>
          <p:nvPr/>
        </p:nvSpPr>
        <p:spPr>
          <a:xfrm>
            <a:off x="6400800" y="1783080"/>
            <a:ext cx="2194560" cy="45720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Source kwatsur_pg</a:t>
            </a:r>
            <a:endParaRPr lang="en-US" sz="1800" dirty="0"/>
          </a:p>
        </p:txBody>
      </p:sp>
      <p:sp>
        <p:nvSpPr>
          <p:cNvPr id="13" name="Text 11"/>
          <p:cNvSpPr txBox="1"/>
          <p:nvPr/>
        </p:nvSpPr>
        <p:spPr>
          <a:xfrm>
            <a:off x="6400800" y="2286000"/>
            <a:ext cx="2194560" cy="54864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rôle en lecture seule</a:t>
            </a:r>
            <a:endParaRPr lang="en-US" sz="1300" dirty="0"/>
          </a:p>
        </p:txBody>
      </p:sp>
      <p:sp>
        <p:nvSpPr>
          <p:cNvPr id="14" name="Zetaris flèche 3"/>
          <p:cNvSpPr/>
          <p:nvPr/>
        </p:nvSpPr>
        <p:spPr>
          <a:xfrm rot="5400000">
            <a:off x="8814816" y="2185416"/>
            <a:ext cx="201168" cy="164592"/>
          </a:xfrm>
          <a:prstGeom prst="triangle">
            <a:avLst/>
          </a:prstGeom>
          <a:solidFill>
            <a:srgbClr val="6B7F74"/>
          </a:solidFill>
          <a:ln w="12700">
            <a:solidFill>
              <a:srgbClr val="6B7F74"/>
            </a:solidFill>
            <a:prstDash val="solid"/>
          </a:ln>
        </p:spPr>
      </p:sp>
      <p:sp>
        <p:nvSpPr>
          <p:cNvPr id="15" name="Zetaris 4"/>
          <p:cNvSpPr/>
          <p:nvPr/>
        </p:nvSpPr>
        <p:spPr>
          <a:xfrm>
            <a:off x="9052560" y="1600200"/>
            <a:ext cx="2514600" cy="1371600"/>
          </a:xfrm>
          <a:prstGeom prst="roundRect">
            <a:avLst>
              <a:gd name="adj" fmla="val 8000"/>
            </a:avLst>
          </a:prstGeom>
          <a:solidFill>
            <a:srgbClr val="C2562F"/>
          </a:solidFill>
          <a:ln w="12700">
            <a:solidFill>
              <a:srgbClr val="C2562F"/>
            </a:solidFill>
            <a:prstDash val="solid"/>
          </a:ln>
          <a:effectLst>
            <a:outerShdw sx="100000" sy="100000" kx="0" ky="0" algn="bl" rotWithShape="0" blurRad="101600" dist="25400" dir="5400000">
              <a:srgbClr val="14231C">
                <a:alpha val="12000"/>
              </a:srgbClr>
            </a:outerShdw>
          </a:effectLst>
        </p:spPr>
      </p:sp>
      <p:sp>
        <p:nvSpPr>
          <p:cNvPr id="16" name="Text 14"/>
          <p:cNvSpPr txBox="1"/>
          <p:nvPr/>
        </p:nvSpPr>
        <p:spPr>
          <a:xfrm>
            <a:off x="9235440" y="1783080"/>
            <a:ext cx="2194560" cy="45720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Vue zetaris_listings</a:t>
            </a:r>
            <a:endParaRPr lang="en-US" sz="1800" dirty="0"/>
          </a:p>
        </p:txBody>
      </p:sp>
      <p:sp>
        <p:nvSpPr>
          <p:cNvPr id="17" name="Text 15"/>
          <p:cNvSpPr txBox="1"/>
          <p:nvPr/>
        </p:nvSpPr>
        <p:spPr>
          <a:xfrm>
            <a:off x="9235440" y="2286000"/>
            <a:ext cx="2194560" cy="54864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annonces + validées</a:t>
            </a:r>
            <a:endParaRPr lang="en-US" sz="1300" dirty="0"/>
          </a:p>
        </p:txBody>
      </p:sp>
      <p:sp>
        <p:nvSpPr>
          <p:cNvPr id="18" name="Text 16"/>
          <p:cNvSpPr txBox="1"/>
          <p:nvPr/>
        </p:nvSpPr>
        <p:spPr>
          <a:xfrm>
            <a:off x="548640" y="3337560"/>
            <a:ext cx="11094415"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Source principale configurée : chat et filtres interrogent Zetaris, ou PostgreSQL en repli visible.</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La base de Kwatsur est fédérée comme source (CREATE DATASOURCE), lue par un rôle limité à une vue.</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Une approbation publie dans PostgreSQL ; la vue fédérée expose les annonces approuvées.</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Demain : agences et API partenaires ajoutées dans Zetaris, sans changer le code de l'agent.</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Preuves historiques HTTP 200. Derniers essais : erreur Zetaris, repli PostgreSQL annoncé.</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ns2:wrappingTextBoxFlag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ns2="http://schemas.microsoft.com/office/mac/drawingml/2011/main"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Meterless : Scout Intent et Nightshift</a:t>
            </a:r>
            <a:endParaRPr lang="en-US" sz="3400" dirty="0"/>
          </a:p>
        </p:txBody>
      </p:sp>
      <p:sp>
        <p:nvSpPr>
          <p:cNvPr id="3" name="Étape Scout Sense"/>
          <p:cNvSpPr/>
          <p:nvPr/>
        </p:nvSpPr>
        <p:spPr>
          <a:xfrm>
            <a:off x="548640" y="1508760"/>
            <a:ext cx="1188720" cy="566928"/>
          </a:xfrm>
          <a:prstGeom prst="roundRect">
            <a:avLst>
              <a:gd name="adj" fmla="val 19355"/>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4" name="Text 2"/>
          <p:cNvSpPr txBox="1"/>
          <p:nvPr/>
        </p:nvSpPr>
        <p:spPr>
          <a:xfrm>
            <a:off x="548640" y="1508760"/>
            <a:ext cx="1188720"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Sense</a:t>
            </a:r>
            <a:endParaRPr lang="en-US" sz="1400" dirty="0"/>
          </a:p>
        </p:txBody>
      </p:sp>
      <p:sp>
        <p:nvSpPr>
          <p:cNvPr id="5" name="Étape Scout Interpret"/>
          <p:cNvSpPr/>
          <p:nvPr/>
        </p:nvSpPr>
        <p:spPr>
          <a:xfrm>
            <a:off x="1847088" y="1508760"/>
            <a:ext cx="1188720" cy="566928"/>
          </a:xfrm>
          <a:prstGeom prst="roundRect">
            <a:avLst>
              <a:gd name="adj" fmla="val 19355"/>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6" name="Text 4"/>
          <p:cNvSpPr txBox="1"/>
          <p:nvPr/>
        </p:nvSpPr>
        <p:spPr>
          <a:xfrm>
            <a:off x="1847088" y="1508760"/>
            <a:ext cx="1188720"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Interpret</a:t>
            </a:r>
            <a:endParaRPr lang="en-US" sz="1400" dirty="0"/>
          </a:p>
        </p:txBody>
      </p:sp>
      <p:sp>
        <p:nvSpPr>
          <p:cNvPr id="7" name="Étape Scout Guard"/>
          <p:cNvSpPr/>
          <p:nvPr/>
        </p:nvSpPr>
        <p:spPr>
          <a:xfrm>
            <a:off x="3145536" y="1508760"/>
            <a:ext cx="1188720" cy="566928"/>
          </a:xfrm>
          <a:prstGeom prst="roundRect">
            <a:avLst>
              <a:gd name="adj" fmla="val 19355"/>
            </a:avLst>
          </a:prstGeom>
          <a:solidFill>
            <a:srgbClr val="C2562F"/>
          </a:solidFill>
          <a:ln w="12700">
            <a:solidFill>
              <a:srgbClr val="C2562F"/>
            </a:solidFill>
            <a:prstDash val="solid"/>
          </a:ln>
          <a:effectLst>
            <a:outerShdw sx="100000" sy="100000" kx="0" ky="0" algn="bl" rotWithShape="0" blurRad="101600" dist="25400" dir="5400000">
              <a:srgbClr val="14231C">
                <a:alpha val="12000"/>
              </a:srgbClr>
            </a:outerShdw>
          </a:effectLst>
        </p:spPr>
      </p:sp>
      <p:sp>
        <p:nvSpPr>
          <p:cNvPr id="8" name="Text 6"/>
          <p:cNvSpPr txBox="1"/>
          <p:nvPr/>
        </p:nvSpPr>
        <p:spPr>
          <a:xfrm>
            <a:off x="3145536" y="1508760"/>
            <a:ext cx="1188720"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Guard</a:t>
            </a:r>
            <a:endParaRPr lang="en-US" sz="1400" dirty="0"/>
          </a:p>
        </p:txBody>
      </p:sp>
      <p:sp>
        <p:nvSpPr>
          <p:cNvPr id="9" name="Étape Scout Route"/>
          <p:cNvSpPr/>
          <p:nvPr/>
        </p:nvSpPr>
        <p:spPr>
          <a:xfrm>
            <a:off x="4443984" y="1508760"/>
            <a:ext cx="1188720" cy="566928"/>
          </a:xfrm>
          <a:prstGeom prst="roundRect">
            <a:avLst>
              <a:gd name="adj" fmla="val 19355"/>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10" name="Text 8"/>
          <p:cNvSpPr txBox="1"/>
          <p:nvPr/>
        </p:nvSpPr>
        <p:spPr>
          <a:xfrm>
            <a:off x="4443984" y="1508760"/>
            <a:ext cx="1188720"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Route</a:t>
            </a:r>
            <a:endParaRPr lang="en-US" sz="1400" dirty="0"/>
          </a:p>
        </p:txBody>
      </p:sp>
      <p:sp>
        <p:nvSpPr>
          <p:cNvPr id="11" name="Étape Scout Recommend"/>
          <p:cNvSpPr/>
          <p:nvPr/>
        </p:nvSpPr>
        <p:spPr>
          <a:xfrm>
            <a:off x="5742432" y="1508760"/>
            <a:ext cx="1188720" cy="566928"/>
          </a:xfrm>
          <a:prstGeom prst="roundRect">
            <a:avLst>
              <a:gd name="adj" fmla="val 19355"/>
            </a:avLst>
          </a:prstGeom>
          <a:solidFill>
            <a:srgbClr val="0F6B52"/>
          </a:solidFill>
          <a:ln w="12700">
            <a:solidFill>
              <a:srgbClr val="0F6B52"/>
            </a:solidFill>
            <a:prstDash val="solid"/>
          </a:ln>
          <a:effectLst>
            <a:outerShdw sx="100000" sy="100000" kx="0" ky="0" algn="bl" rotWithShape="0" blurRad="101600" dist="25400" dir="5400000">
              <a:srgbClr val="14231C">
                <a:alpha val="12000"/>
              </a:srgbClr>
            </a:outerShdw>
          </a:effectLst>
        </p:spPr>
      </p:sp>
      <p:sp>
        <p:nvSpPr>
          <p:cNvPr id="12" name="Text 10"/>
          <p:cNvSpPr txBox="1"/>
          <p:nvPr/>
        </p:nvSpPr>
        <p:spPr>
          <a:xfrm>
            <a:off x="5742432" y="1508760"/>
            <a:ext cx="1188720"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Recommend</a:t>
            </a:r>
            <a:endParaRPr lang="en-US" sz="1400" dirty="0"/>
          </a:p>
        </p:txBody>
      </p:sp>
      <p:sp>
        <p:nvSpPr>
          <p:cNvPr id="13" name="Text 11"/>
          <p:cNvSpPr txBox="1"/>
          <p:nvPr/>
        </p:nvSpPr>
        <p:spPr>
          <a:xfrm>
            <a:off x="548640" y="2331720"/>
            <a:ext cx="6400800"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Défaut : routage simplifié, recherche fractionnée, dépôt et images explicites. Comparaison/contact chat : activer Scout complet.</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Contrat signé (HMAC, 5 min) vérifié par chaque outil ; contrats falsifiés ou expirés refusés (tests).</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Nightshift est le fournisseur IA principal ; il sert nvidia/nemotron-3-ultra-550b-a55b, affiché sous chaque réponse.</a:t>
            </a:r>
            <a:endParaRPr lang="en-US" sz="1600" dirty="0"/>
          </a:p>
        </p:txBody>
      </p:sp>
      <p:sp>
        <p:nvSpPr>
          <p:cNvPr id="14" name="Statistique 1"/>
          <p:cNvSpPr/>
          <p:nvPr/>
        </p:nvSpPr>
        <p:spPr>
          <a:xfrm>
            <a:off x="7452360" y="1508760"/>
            <a:ext cx="418795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5" name="Text 13"/>
          <p:cNvSpPr txBox="1"/>
          <p:nvPr/>
        </p:nvSpPr>
        <p:spPr>
          <a:xfrm>
            <a:off x="7680960" y="1618488"/>
            <a:ext cx="1737360" cy="109728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0,98</a:t>
            </a:r>
            <a:endParaRPr lang="en-US" sz="4800" dirty="0"/>
          </a:p>
        </p:txBody>
      </p:sp>
      <p:sp>
        <p:nvSpPr>
          <p:cNvPr id="16" name="Text 14"/>
          <p:cNvSpPr txBox="1"/>
          <p:nvPr/>
        </p:nvSpPr>
        <p:spPr>
          <a:xfrm>
            <a:off x="9418320" y="1783080"/>
            <a:ext cx="2103120" cy="41148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intention exacte (top-1)</a:t>
            </a:r>
            <a:endParaRPr lang="en-US" sz="1500" dirty="0"/>
          </a:p>
        </p:txBody>
      </p:sp>
      <p:sp>
        <p:nvSpPr>
          <p:cNvPr id="17" name="Text 15"/>
          <p:cNvSpPr txBox="1"/>
          <p:nvPr/>
        </p:nvSpPr>
        <p:spPr>
          <a:xfrm>
            <a:off x="9418320" y="2221992"/>
            <a:ext cx="2103120" cy="36576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plancher officiel 0,85</a:t>
            </a:r>
            <a:endParaRPr lang="en-US" sz="1200" dirty="0"/>
          </a:p>
        </p:txBody>
      </p:sp>
      <p:sp>
        <p:nvSpPr>
          <p:cNvPr id="18" name="Statistique 2"/>
          <p:cNvSpPr/>
          <p:nvPr/>
        </p:nvSpPr>
        <p:spPr>
          <a:xfrm>
            <a:off x="7452360" y="3017520"/>
            <a:ext cx="418795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9" name="Text 17"/>
          <p:cNvSpPr txBox="1"/>
          <p:nvPr/>
        </p:nvSpPr>
        <p:spPr>
          <a:xfrm>
            <a:off x="7680960" y="3127248"/>
            <a:ext cx="1737360" cy="109728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1,00</a:t>
            </a:r>
            <a:endParaRPr lang="en-US" sz="4800" dirty="0"/>
          </a:p>
        </p:txBody>
      </p:sp>
      <p:sp>
        <p:nvSpPr>
          <p:cNvPr id="20" name="Text 18"/>
          <p:cNvSpPr txBox="1"/>
          <p:nvPr/>
        </p:nvSpPr>
        <p:spPr>
          <a:xfrm>
            <a:off x="9418320" y="3291840"/>
            <a:ext cx="2103120" cy="41148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injections détectées</a:t>
            </a:r>
            <a:endParaRPr lang="en-US" sz="1500" dirty="0"/>
          </a:p>
        </p:txBody>
      </p:sp>
      <p:sp>
        <p:nvSpPr>
          <p:cNvPr id="21" name="Text 19"/>
          <p:cNvSpPr txBox="1"/>
          <p:nvPr/>
        </p:nvSpPr>
        <p:spPr>
          <a:xfrm>
            <a:off x="9418320" y="3730752"/>
            <a:ext cx="2103120" cy="36576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précision et rappel</a:t>
            </a:r>
            <a:endParaRPr lang="en-US" sz="1200" dirty="0"/>
          </a:p>
        </p:txBody>
      </p:sp>
      <p:sp>
        <p:nvSpPr>
          <p:cNvPr id="22" name="Statistique 3"/>
          <p:cNvSpPr/>
          <p:nvPr/>
        </p:nvSpPr>
        <p:spPr>
          <a:xfrm>
            <a:off x="7452360" y="4526280"/>
            <a:ext cx="418795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23" name="Text 21"/>
          <p:cNvSpPr txBox="1"/>
          <p:nvPr/>
        </p:nvSpPr>
        <p:spPr>
          <a:xfrm>
            <a:off x="7680960" y="4636008"/>
            <a:ext cx="1737360" cy="109728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1,00</a:t>
            </a:r>
            <a:endParaRPr lang="en-US" sz="4800" dirty="0"/>
          </a:p>
        </p:txBody>
      </p:sp>
      <p:sp>
        <p:nvSpPr>
          <p:cNvPr id="24" name="Text 22"/>
          <p:cNvSpPr txBox="1"/>
          <p:nvPr/>
        </p:nvSpPr>
        <p:spPr>
          <a:xfrm>
            <a:off x="9418320" y="4800600"/>
            <a:ext cx="2103120" cy="41148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bon outil choisi</a:t>
            </a:r>
            <a:endParaRPr lang="en-US" sz="1500" dirty="0"/>
          </a:p>
        </p:txBody>
      </p:sp>
      <p:sp>
        <p:nvSpPr>
          <p:cNvPr id="25" name="Text 23"/>
          <p:cNvSpPr txBox="1"/>
          <p:nvPr/>
        </p:nvSpPr>
        <p:spPr>
          <a:xfrm>
            <a:off x="9418320" y="5239512"/>
            <a:ext cx="2103120" cy="36576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plancher officiel 0,80</a:t>
            </a:r>
            <a:endParaRPr lang="en-US" sz="1200" dirty="0"/>
          </a:p>
        </p:txBody>
      </p:sp>
      <p:sp>
        <p:nvSpPr>
          <p:cNvPr id="26" name="Text 24"/>
          <p:cNvSpPr txBox="1"/>
          <p:nvPr/>
        </p:nvSpPr>
        <p:spPr>
          <a:xfrm>
            <a:off x="548640" y="5852160"/>
            <a:ext cx="11094415" cy="411480"/>
          </a:xfrm>
          <a:prstGeom prst="rect">
            <a:avLst/>
          </a:prstGeom>
          <a:noFill/>
          <a:ln/>
        </p:spPr>
        <p:txBody>
          <a:bodyPr wrap="square" lIns="0" tIns="0" rIns="0" bIns="0" rtlCol="0" anchor="t"/>
          <a:lstStyle/>
          <a:p>
            <a:pPr indent="0" marL="0">
              <a:buNone/>
            </a:pPr>
            <a:r>
              <a:rPr lang="en-US" sz="1200" i="1" dirty="0">
                <a:solidFill>
                  <a:schemeClr val="accent6"/>
                </a:solidFill>
                <a:latin typeface="Calibri" pitchFamily="34" charset="0"/>
                <a:ea typeface="Calibri" pitchFamily="34" charset="-122"/>
                <a:cs typeface="Calibri" pitchFamily="34" charset="-120"/>
              </a:rPr>
              <a:t>Mesures historiques du mode Scout complet : 59 intentions, 22 injections, 6 cas limites ; seuils officiels Meterless.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ns2:wrappingTextBoxFlag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ns3="http://schemas.microsoft.com/office/mac/drawingml/2011/main" xmlns:p="http://schemas.openxmlformats.org/presentationml/2006/main" xmlns:r="http://schemas.openxmlformats.org/officeDocument/2006/relationships">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Images maîtrisées et propositions modérées</a:t>
            </a:r>
            <a:endParaRPr lang="en-US" sz="3400" dirty="0"/>
          </a:p>
        </p:txBody>
      </p:sp>
      <p:sp>
        <p:nvSpPr>
          <p:cNvPr id="3" name="Unique 1"/>
          <p:cNvSpPr/>
          <p:nvPr/>
        </p:nvSpPr>
        <p:spPr>
          <a:xfrm>
            <a:off x="548640" y="1508760"/>
            <a:ext cx="5422392"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4" name="Unique 1 cercle"/>
          <p:cNvSpPr/>
          <p:nvPr/>
        </p:nvSpPr>
        <p:spPr>
          <a:xfrm>
            <a:off x="822960" y="1783080"/>
            <a:ext cx="777240" cy="777240"/>
          </a:xfrm>
          <a:prstGeom prst="ellipse">
            <a:avLst/>
          </a:prstGeom>
          <a:solidFill>
            <a:srgbClr val="C2562F"/>
          </a:solidFill>
          <a:ln w="12700">
            <a:solidFill>
              <a:srgbClr val="C2562F"/>
            </a:solidFill>
            <a:prstDash val="solid"/>
          </a:ln>
        </p:spPr>
      </p:sp>
      <p:pic>
        <p:nvPicPr>
          <p:cNvPr id="5" name="Unique 1 icône" descr="preencoded.png">    </p:cNvPr>
          <p:cNvPicPr>
            <a:picLocks noChangeAspect="1"/>
          </p:cNvPicPr>
          <p:nvPr/>
        </p:nvPicPr>
        <p:blipFill>
          <a:blip r:embed="rId1"/>
          <a:stretch>
            <a:fillRect/>
          </a:stretch>
        </p:blipFill>
        <p:spPr>
          <a:xfrm>
            <a:off x="1009498" y="1969618"/>
            <a:ext cx="404165" cy="404165"/>
          </a:xfrm>
          <a:prstGeom prst="rect">
            <a:avLst/>
          </a:prstGeom>
        </p:spPr>
      </p:pic>
      <p:sp>
        <p:nvSpPr>
          <p:cNvPr id="6" name="Text 3"/>
          <p:cNvSpPr txBox="1"/>
          <p:nvPr/>
        </p:nvSpPr>
        <p:spPr>
          <a:xfrm>
            <a:off x="1828800" y="1874520"/>
            <a:ext cx="3931920" cy="50292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Images uniquement sur demande</a:t>
            </a:r>
            <a:endParaRPr lang="en-US" sz="1900" dirty="0"/>
          </a:p>
        </p:txBody>
      </p:sp>
      <p:sp>
        <p:nvSpPr>
          <p:cNvPr id="7" name="Text 4"/>
          <p:cNvSpPr txBox="1"/>
          <p:nvPr/>
        </p:nvSpPr>
        <p:spPr>
          <a:xfrm>
            <a:off x="822960" y="2651760"/>
            <a:ext cx="489204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Cible nommée respectée ; ambiguïté : clarification. Photo propriétaire, exemple crédité, illustration réutilisée, puis génération.</a:t>
            </a:r>
            <a:endParaRPr lang="en-US" sz="1400" dirty="0"/>
          </a:p>
        </p:txBody>
      </p:sp>
      <p:sp>
        <p:nvSpPr>
          <p:cNvPr id="8" name="Unique 2"/>
          <p:cNvSpPr/>
          <p:nvPr/>
        </p:nvSpPr>
        <p:spPr>
          <a:xfrm>
            <a:off x="6217920" y="1508760"/>
            <a:ext cx="5422392"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9" name="Unique 2 cercle"/>
          <p:cNvSpPr/>
          <p:nvPr/>
        </p:nvSpPr>
        <p:spPr>
          <a:xfrm>
            <a:off x="6492240" y="1783080"/>
            <a:ext cx="777240" cy="777240"/>
          </a:xfrm>
          <a:prstGeom prst="ellipse">
            <a:avLst/>
          </a:prstGeom>
          <a:solidFill>
            <a:srgbClr val="0F6B52"/>
          </a:solidFill>
          <a:ln w="12700">
            <a:solidFill>
              <a:srgbClr val="0F6B52"/>
            </a:solidFill>
            <a:prstDash val="solid"/>
          </a:ln>
        </p:spPr>
      </p:sp>
      <p:pic>
        <p:nvPicPr>
          <p:cNvPr id="10" name="Unique 2 icône" descr="preencoded.png">    </p:cNvPr>
          <p:cNvPicPr>
            <a:picLocks noChangeAspect="1"/>
          </p:cNvPicPr>
          <p:nvPr/>
        </p:nvPicPr>
        <p:blipFill>
          <a:blip r:embed="rId2"/>
          <a:stretch>
            <a:fillRect/>
          </a:stretch>
        </p:blipFill>
        <p:spPr>
          <a:xfrm>
            <a:off x="6678778" y="1969618"/>
            <a:ext cx="404165" cy="404165"/>
          </a:xfrm>
          <a:prstGeom prst="rect">
            <a:avLst/>
          </a:prstGeom>
        </p:spPr>
      </p:pic>
      <p:sp>
        <p:nvSpPr>
          <p:cNvPr id="11" name="Text 7"/>
          <p:cNvSpPr txBox="1"/>
          <p:nvPr/>
        </p:nvSpPr>
        <p:spPr>
          <a:xfrm>
            <a:off x="7498080" y="1874520"/>
            <a:ext cx="3931920" cy="50292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Contexte camerounais</a:t>
            </a:r>
            <a:endParaRPr lang="en-US" sz="1900" dirty="0"/>
          </a:p>
        </p:txBody>
      </p:sp>
      <p:sp>
        <p:nvSpPr>
          <p:cNvPr id="12" name="Text 8"/>
          <p:cNvSpPr txBox="1"/>
          <p:nvPr/>
        </p:nvSpPr>
        <p:spPr>
          <a:xfrm>
            <a:off x="6492240" y="2651760"/>
            <a:ext cx="489204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Prompt documentaire Douala/Yaoundé, faits prioritaires, 2048 caractères. Illustration IA étiquetée ; aucune authenticité garantie.</a:t>
            </a:r>
            <a:endParaRPr lang="en-US" sz="1400" dirty="0"/>
          </a:p>
        </p:txBody>
      </p:sp>
      <p:sp>
        <p:nvSpPr>
          <p:cNvPr id="13" name="Unique 3"/>
          <p:cNvSpPr/>
          <p:nvPr/>
        </p:nvSpPr>
        <p:spPr>
          <a:xfrm>
            <a:off x="548640" y="3840480"/>
            <a:ext cx="5422392"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4" name="Unique 3 cercle"/>
          <p:cNvSpPr/>
          <p:nvPr/>
        </p:nvSpPr>
        <p:spPr>
          <a:xfrm>
            <a:off x="822960" y="4114800"/>
            <a:ext cx="777240" cy="777240"/>
          </a:xfrm>
          <a:prstGeom prst="ellipse">
            <a:avLst/>
          </a:prstGeom>
          <a:solidFill>
            <a:srgbClr val="0F6B52"/>
          </a:solidFill>
          <a:ln w="12700">
            <a:solidFill>
              <a:srgbClr val="0F6B52"/>
            </a:solidFill>
            <a:prstDash val="solid"/>
          </a:ln>
        </p:spPr>
      </p:sp>
      <p:pic>
        <p:nvPicPr>
          <p:cNvPr id="15" name="Unique 3 icône" descr="preencoded.png">    </p:cNvPr>
          <p:cNvPicPr>
            <a:picLocks noChangeAspect="1"/>
          </p:cNvPicPr>
          <p:nvPr/>
        </p:nvPicPr>
        <p:blipFill>
          <a:blip r:embed="rId3"/>
          <a:stretch>
            <a:fillRect/>
          </a:stretch>
        </p:blipFill>
        <p:spPr>
          <a:xfrm>
            <a:off x="1009498" y="4301338"/>
            <a:ext cx="404165" cy="404165"/>
          </a:xfrm>
          <a:prstGeom prst="rect">
            <a:avLst/>
          </a:prstGeom>
        </p:spPr>
      </p:pic>
      <p:sp>
        <p:nvSpPr>
          <p:cNvPr id="16" name="Text 11"/>
          <p:cNvSpPr txBox="1"/>
          <p:nvPr/>
        </p:nvSpPr>
        <p:spPr>
          <a:xfrm>
            <a:off x="1828800" y="4206240"/>
            <a:ext cx="3931920" cy="50292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Dépôt en attente</a:t>
            </a:r>
            <a:endParaRPr lang="en-US" sz="1900" dirty="0"/>
          </a:p>
        </p:txBody>
      </p:sp>
      <p:sp>
        <p:nvSpPr>
          <p:cNvPr id="17" name="Text 12"/>
          <p:cNvSpPr txBox="1"/>
          <p:nvPr/>
        </p:nvSpPr>
        <p:spPr>
          <a:xfrm>
            <a:off x="822960" y="4983480"/>
            <a:ext cx="489204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Brouillon puis confirmation : pending en base. Admin authentifié : détails, photos, note, approbation ou refus, filtres et déconnexion.</a:t>
            </a:r>
            <a:endParaRPr lang="en-US" sz="1400" dirty="0"/>
          </a:p>
        </p:txBody>
      </p:sp>
      <p:sp>
        <p:nvSpPr>
          <p:cNvPr id="18" name="Unique 4"/>
          <p:cNvSpPr/>
          <p:nvPr/>
        </p:nvSpPr>
        <p:spPr>
          <a:xfrm>
            <a:off x="6217920" y="3840480"/>
            <a:ext cx="5422392" cy="2103120"/>
          </a:xfrm>
          <a:prstGeom prst="roundRect">
            <a:avLst>
              <a:gd name="adj" fmla="val 5217"/>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9" name="Unique 4 cercle"/>
          <p:cNvSpPr/>
          <p:nvPr/>
        </p:nvSpPr>
        <p:spPr>
          <a:xfrm>
            <a:off x="6492240" y="4114800"/>
            <a:ext cx="777240" cy="777240"/>
          </a:xfrm>
          <a:prstGeom prst="ellipse">
            <a:avLst/>
          </a:prstGeom>
          <a:solidFill>
            <a:srgbClr val="0F6B52"/>
          </a:solidFill>
          <a:ln w="12700">
            <a:solidFill>
              <a:srgbClr val="0F6B52"/>
            </a:solidFill>
            <a:prstDash val="solid"/>
          </a:ln>
        </p:spPr>
      </p:sp>
      <p:pic>
        <p:nvPicPr>
          <p:cNvPr id="20" name="Unique 4 icône" descr="preencoded.png">    </p:cNvPr>
          <p:cNvPicPr>
            <a:picLocks noChangeAspect="1"/>
          </p:cNvPicPr>
          <p:nvPr/>
        </p:nvPicPr>
        <p:blipFill>
          <a:blip r:embed="rId4"/>
          <a:stretch>
            <a:fillRect/>
          </a:stretch>
        </p:blipFill>
        <p:spPr>
          <a:xfrm>
            <a:off x="6678778" y="4301338"/>
            <a:ext cx="404165" cy="404165"/>
          </a:xfrm>
          <a:prstGeom prst="rect">
            <a:avLst/>
          </a:prstGeom>
        </p:spPr>
      </p:pic>
      <p:sp>
        <p:nvSpPr>
          <p:cNvPr id="21" name="Text 15"/>
          <p:cNvSpPr txBox="1"/>
          <p:nvPr/>
        </p:nvSpPr>
        <p:spPr>
          <a:xfrm>
            <a:off x="7498080" y="4206240"/>
            <a:ext cx="3931920" cy="50292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Vérifications distinguées</a:t>
            </a:r>
            <a:endParaRPr lang="en-US" sz="1900" dirty="0"/>
          </a:p>
        </p:txBody>
      </p:sp>
      <p:sp>
        <p:nvSpPr>
          <p:cNvPr id="22" name="Text 16"/>
          <p:cNvSpPr txBox="1"/>
          <p:nvPr/>
        </p:nvSpPr>
        <p:spPr>
          <a:xfrm>
            <a:off x="6492240" y="4983480"/>
            <a:ext cx="4892040" cy="8686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Dépôt et refus testés en réel ; approbation et photos hors réseau. 214 tests réussis, 2 ignorés. Quota global UTC ; réutilisation gratuite.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ns3:wrappingTextBoxFlag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ns3="http://schemas.microsoft.com/office/mac/drawingml/2011/main" xmlns:p="http://schemas.openxmlformats.org/presentationml/2006/main" xmlns:r="http://schemas.openxmlformats.org/officeDocument/2006/relationships">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Recherche et images : captures historiques</a:t>
            </a:r>
            <a:endParaRPr lang="en-US" sz="3400" dirty="0"/>
          </a:p>
        </p:txBody>
      </p:sp>
      <p:pic>
        <p:nvPicPr>
          <p:cNvPr id="3" name="Résultats de recherche" descr="Résultats de Kwatsur : carte d'annonce avec photo d'exemple étiquetée, loyer et équipements">    </p:cNvPr>
          <p:cNvPicPr>
            <a:picLocks noChangeAspect="1"/>
          </p:cNvPicPr>
          <p:nvPr/>
        </p:nvPicPr>
        <p:blipFill>
          <a:blip r:embed="rId1"/>
          <a:stretch>
            <a:fillRect/>
          </a:stretch>
        </p:blipFill>
        <p:spPr>
          <a:xfrm>
            <a:off x="1453896" y="1417320"/>
            <a:ext cx="4983480" cy="3931920"/>
          </a:xfrm>
          <a:prstGeom prst="rect">
            <a:avLst/>
          </a:prstGeom>
        </p:spPr>
      </p:pic>
      <p:pic>
        <p:nvPicPr>
          <p:cNvPr id="4" name="Illustration du salon" descr="Salon généré par IA pour une maison de Douala">    </p:cNvPr>
          <p:cNvPicPr>
            <a:picLocks noChangeAspect="1"/>
          </p:cNvPicPr>
          <p:nvPr/>
        </p:nvPicPr>
        <p:blipFill>
          <a:blip r:embed="rId2"/>
          <a:stretch>
            <a:fillRect/>
          </a:stretch>
        </p:blipFill>
        <p:spPr>
          <a:xfrm>
            <a:off x="6803136" y="1417320"/>
            <a:ext cx="3931920" cy="3931920"/>
          </a:xfrm>
          <a:prstGeom prst="rect">
            <a:avLst/>
          </a:prstGeom>
        </p:spPr>
      </p:pic>
      <p:sp>
        <p:nvSpPr>
          <p:cNvPr id="5" name="Text 1"/>
          <p:cNvSpPr txBox="1"/>
          <p:nvPr/>
        </p:nvSpPr>
        <p:spPr>
          <a:xfrm>
            <a:off x="1453896" y="5486400"/>
            <a:ext cx="4983480" cy="64008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Photo d'exemple créditée sur une annonce fictive. Aujourd'hui, ouvrir le panneau de résultats, replié par défaut.</a:t>
            </a:r>
            <a:endParaRPr lang="en-US" sz="1300" dirty="0"/>
          </a:p>
        </p:txBody>
      </p:sp>
      <p:sp>
        <p:nvSpPr>
          <p:cNvPr id="6" name="Text 2"/>
          <p:cNvSpPr txBox="1"/>
          <p:nvPr/>
        </p:nvSpPr>
        <p:spPr>
          <a:xfrm>
            <a:off x="6803136" y="5486400"/>
            <a:ext cx="3931920" cy="640080"/>
          </a:xfrm>
          <a:prstGeom prst="rect">
            <a:avLst/>
          </a:prstGeom>
          <a:noFill/>
          <a:ln/>
        </p:spPr>
        <p:txBody>
          <a:bodyPr wrap="square" lIns="0" tIns="0" rIns="0" bIns="0" rtlCol="0" anchor="t"/>
          <a:lstStyle/>
          <a:p>
            <a:pPr indent="0" marL="0">
              <a:buNone/>
            </a:pPr>
            <a:r>
              <a:rPr lang="en-US" sz="1300" dirty="0">
                <a:solidFill>
                  <a:schemeClr val="accent6"/>
                </a:solidFill>
                <a:latin typeface="Calibri" pitchFamily="34" charset="0"/>
                <a:ea typeface="Calibri" pitchFamily="34" charset="-122"/>
                <a:cs typeface="Calibri" pitchFamily="34" charset="-120"/>
              </a:rPr>
              <a:t>Illustration historique Cloudflare, pas une photo du logement. Désormais uniquement sur demande explicite ; métadonnées, pas pixels, pour Nemotron.</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ns3:wrappingTextBoxFlag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ns2="http://schemas.microsoft.com/office/mac/drawingml/2011/main"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Et ensuite</a:t>
            </a:r>
            <a:endParaRPr lang="en-US" sz="3400" dirty="0"/>
          </a:p>
        </p:txBody>
      </p:sp>
      <p:sp>
        <p:nvSpPr>
          <p:cNvPr id="3" name="Suite 1"/>
          <p:cNvSpPr/>
          <p:nvPr/>
        </p:nvSpPr>
        <p:spPr>
          <a:xfrm>
            <a:off x="548640" y="1463040"/>
            <a:ext cx="542239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4" name="Text 2"/>
          <p:cNvSpPr txBox="1"/>
          <p:nvPr/>
        </p:nvSpPr>
        <p:spPr>
          <a:xfrm>
            <a:off x="822960" y="1691640"/>
            <a:ext cx="640080" cy="82296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1</a:t>
            </a:r>
            <a:endParaRPr lang="en-US" sz="3600" dirty="0"/>
          </a:p>
        </p:txBody>
      </p:sp>
      <p:sp>
        <p:nvSpPr>
          <p:cNvPr id="5" name="Text 3"/>
          <p:cNvSpPr txBox="1"/>
          <p:nvPr/>
        </p:nvSpPr>
        <p:spPr>
          <a:xfrm>
            <a:off x="1554480" y="1664208"/>
            <a:ext cx="420624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Vraies sources d'annonces</a:t>
            </a:r>
            <a:endParaRPr lang="en-US" sz="1800" dirty="0"/>
          </a:p>
        </p:txBody>
      </p:sp>
      <p:sp>
        <p:nvSpPr>
          <p:cNvPr id="6" name="Text 4"/>
          <p:cNvSpPr txBox="1"/>
          <p:nvPr/>
        </p:nvSpPr>
        <p:spPr>
          <a:xfrm>
            <a:off x="1554480" y="2121408"/>
            <a:ext cx="4206240" cy="5486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Agences et plateformes partenaires branchées dans Zetaris</a:t>
            </a:r>
            <a:endParaRPr lang="en-US" sz="1400" dirty="0"/>
          </a:p>
        </p:txBody>
      </p:sp>
      <p:sp>
        <p:nvSpPr>
          <p:cNvPr id="7" name="Suite 2"/>
          <p:cNvSpPr/>
          <p:nvPr/>
        </p:nvSpPr>
        <p:spPr>
          <a:xfrm>
            <a:off x="6217920" y="1463040"/>
            <a:ext cx="542239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8" name="Text 6"/>
          <p:cNvSpPr txBox="1"/>
          <p:nvPr/>
        </p:nvSpPr>
        <p:spPr>
          <a:xfrm>
            <a:off x="6492240" y="1691640"/>
            <a:ext cx="640080" cy="82296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2</a:t>
            </a:r>
            <a:endParaRPr lang="en-US" sz="3600" dirty="0"/>
          </a:p>
        </p:txBody>
      </p:sp>
      <p:sp>
        <p:nvSpPr>
          <p:cNvPr id="9" name="Text 7"/>
          <p:cNvSpPr txBox="1"/>
          <p:nvPr/>
        </p:nvSpPr>
        <p:spPr>
          <a:xfrm>
            <a:off x="7223760" y="1664208"/>
            <a:ext cx="420624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Mémoire entre sessions</a:t>
            </a:r>
            <a:endParaRPr lang="en-US" sz="1800" dirty="0"/>
          </a:p>
        </p:txBody>
      </p:sp>
      <p:sp>
        <p:nvSpPr>
          <p:cNvPr id="10" name="Text 8"/>
          <p:cNvSpPr txBox="1"/>
          <p:nvPr/>
        </p:nvSpPr>
        <p:spPr>
          <a:xfrm>
            <a:off x="7223760" y="2121408"/>
            <a:ext cx="4206240" cy="5486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Moteur Meterless H-MEM : retrouver ses préférences d'une visite à l'autre</a:t>
            </a:r>
            <a:endParaRPr lang="en-US" sz="1400" dirty="0"/>
          </a:p>
        </p:txBody>
      </p:sp>
      <p:sp>
        <p:nvSpPr>
          <p:cNvPr id="11" name="Suite 3"/>
          <p:cNvSpPr/>
          <p:nvPr/>
        </p:nvSpPr>
        <p:spPr>
          <a:xfrm>
            <a:off x="548640" y="3017520"/>
            <a:ext cx="542239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2" name="Text 10"/>
          <p:cNvSpPr txBox="1"/>
          <p:nvPr/>
        </p:nvSpPr>
        <p:spPr>
          <a:xfrm>
            <a:off x="822960" y="3246120"/>
            <a:ext cx="640080" cy="82296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3</a:t>
            </a:r>
            <a:endParaRPr lang="en-US" sz="3600" dirty="0"/>
          </a:p>
        </p:txBody>
      </p:sp>
      <p:sp>
        <p:nvSpPr>
          <p:cNvPr id="13" name="Text 11"/>
          <p:cNvSpPr txBox="1"/>
          <p:nvPr/>
        </p:nvSpPr>
        <p:spPr>
          <a:xfrm>
            <a:off x="1554480" y="3218688"/>
            <a:ext cx="420624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Agent vérificateur</a:t>
            </a:r>
            <a:endParaRPr lang="en-US" sz="1800" dirty="0"/>
          </a:p>
        </p:txBody>
      </p:sp>
      <p:sp>
        <p:nvSpPr>
          <p:cNvPr id="14" name="Text 12"/>
          <p:cNvSpPr txBox="1"/>
          <p:nvPr/>
        </p:nvSpPr>
        <p:spPr>
          <a:xfrm>
            <a:off x="1554480" y="3675888"/>
            <a:ext cx="4206240" cy="5486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Un second agent qui relit chaque explication avant envoi</a:t>
            </a:r>
            <a:endParaRPr lang="en-US" sz="1400" dirty="0"/>
          </a:p>
        </p:txBody>
      </p:sp>
      <p:sp>
        <p:nvSpPr>
          <p:cNvPr id="15" name="Suite 4"/>
          <p:cNvSpPr/>
          <p:nvPr/>
        </p:nvSpPr>
        <p:spPr>
          <a:xfrm>
            <a:off x="6217920" y="3017520"/>
            <a:ext cx="542239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16" name="Text 14"/>
          <p:cNvSpPr txBox="1"/>
          <p:nvPr/>
        </p:nvSpPr>
        <p:spPr>
          <a:xfrm>
            <a:off x="6492240" y="3246120"/>
            <a:ext cx="640080" cy="82296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4</a:t>
            </a:r>
            <a:endParaRPr lang="en-US" sz="3600" dirty="0"/>
          </a:p>
        </p:txBody>
      </p:sp>
      <p:sp>
        <p:nvSpPr>
          <p:cNvPr id="17" name="Text 15"/>
          <p:cNvSpPr txBox="1"/>
          <p:nvPr/>
        </p:nvSpPr>
        <p:spPr>
          <a:xfrm>
            <a:off x="7223760" y="3218688"/>
            <a:ext cx="420624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Confiance</a:t>
            </a:r>
            <a:endParaRPr lang="en-US" sz="1800" dirty="0"/>
          </a:p>
        </p:txBody>
      </p:sp>
      <p:sp>
        <p:nvSpPr>
          <p:cNvPr id="18" name="Text 16"/>
          <p:cNvSpPr txBox="1"/>
          <p:nvPr/>
        </p:nvSpPr>
        <p:spPr>
          <a:xfrm>
            <a:off x="7223760" y="3675888"/>
            <a:ext cx="4206240" cy="5486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Comptes, visites vérifiées, signalement des annonces suspectes</a:t>
            </a:r>
            <a:endParaRPr lang="en-US" sz="1400" dirty="0"/>
          </a:p>
        </p:txBody>
      </p:sp>
      <p:sp>
        <p:nvSpPr>
          <p:cNvPr id="19" name="Suite 5"/>
          <p:cNvSpPr/>
          <p:nvPr/>
        </p:nvSpPr>
        <p:spPr>
          <a:xfrm>
            <a:off x="548640" y="4572000"/>
            <a:ext cx="542239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20" name="Text 18"/>
          <p:cNvSpPr txBox="1"/>
          <p:nvPr/>
        </p:nvSpPr>
        <p:spPr>
          <a:xfrm>
            <a:off x="822960" y="4800600"/>
            <a:ext cx="640080" cy="82296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5</a:t>
            </a:r>
            <a:endParaRPr lang="en-US" sz="3600" dirty="0"/>
          </a:p>
        </p:txBody>
      </p:sp>
      <p:sp>
        <p:nvSpPr>
          <p:cNvPr id="21" name="Text 19"/>
          <p:cNvSpPr txBox="1"/>
          <p:nvPr/>
        </p:nvSpPr>
        <p:spPr>
          <a:xfrm>
            <a:off x="1554480" y="4773168"/>
            <a:ext cx="420624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Canaux</a:t>
            </a:r>
            <a:endParaRPr lang="en-US" sz="1800" dirty="0"/>
          </a:p>
        </p:txBody>
      </p:sp>
      <p:sp>
        <p:nvSpPr>
          <p:cNvPr id="22" name="Text 20"/>
          <p:cNvSpPr txBox="1"/>
          <p:nvPr/>
        </p:nvSpPr>
        <p:spPr>
          <a:xfrm>
            <a:off x="1554480" y="5230368"/>
            <a:ext cx="4206240" cy="5486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WhatsApp et SMS, là où se cherchent les logements au Cameroun</a:t>
            </a:r>
            <a:endParaRPr lang="en-US" sz="1400" dirty="0"/>
          </a:p>
        </p:txBody>
      </p:sp>
      <p:sp>
        <p:nvSpPr>
          <p:cNvPr id="23" name="Suite 6"/>
          <p:cNvSpPr/>
          <p:nvPr/>
        </p:nvSpPr>
        <p:spPr>
          <a:xfrm>
            <a:off x="6217920" y="4572000"/>
            <a:ext cx="5422392" cy="1325880"/>
          </a:xfrm>
          <a:prstGeom prst="roundRect">
            <a:avLst>
              <a:gd name="adj" fmla="val 8276"/>
            </a:avLst>
          </a:prstGeom>
          <a:solidFill>
            <a:srgbClr val="EEF5F1"/>
          </a:solidFill>
          <a:ln w="12700">
            <a:solidFill>
              <a:srgbClr val="EEF5F1"/>
            </a:solidFill>
            <a:prstDash val="solid"/>
          </a:ln>
          <a:effectLst>
            <a:outerShdw sx="100000" sy="100000" kx="0" ky="0" algn="bl" rotWithShape="0" blurRad="101600" dist="25400" dir="5400000">
              <a:srgbClr val="14231C">
                <a:alpha val="12000"/>
              </a:srgbClr>
            </a:outerShdw>
          </a:effectLst>
        </p:spPr>
      </p:sp>
      <p:sp>
        <p:nvSpPr>
          <p:cNvPr id="24" name="Text 22"/>
          <p:cNvSpPr txBox="1"/>
          <p:nvPr/>
        </p:nvSpPr>
        <p:spPr>
          <a:xfrm>
            <a:off x="6492240" y="4800600"/>
            <a:ext cx="640080" cy="82296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6</a:t>
            </a:r>
            <a:endParaRPr lang="en-US" sz="3600" dirty="0"/>
          </a:p>
        </p:txBody>
      </p:sp>
      <p:sp>
        <p:nvSpPr>
          <p:cNvPr id="25" name="Text 23"/>
          <p:cNvSpPr txBox="1"/>
          <p:nvPr/>
        </p:nvSpPr>
        <p:spPr>
          <a:xfrm>
            <a:off x="7223760" y="4773168"/>
            <a:ext cx="4206240"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Couverture</a:t>
            </a:r>
            <a:endParaRPr lang="en-US" sz="1800" dirty="0"/>
          </a:p>
        </p:txBody>
      </p:sp>
      <p:sp>
        <p:nvSpPr>
          <p:cNvPr id="26" name="Text 24"/>
          <p:cNvSpPr txBox="1"/>
          <p:nvPr/>
        </p:nvSpPr>
        <p:spPr>
          <a:xfrm>
            <a:off x="7223760" y="5230368"/>
            <a:ext cx="4206240" cy="5486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Autres villes (Bafoussam, Garoua, Kribi) et langue anglaise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ns2:wrappingTextBoxFlag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8686800" cy="1280160"/>
          </a:xfrm>
          <a:prstGeom prst="rect">
            <a:avLst/>
          </a:prstGeom>
          <a:noFill/>
          <a:ln/>
        </p:spPr>
        <p:txBody>
          <a:bodyPr wrap="square" lIns="0" tIns="0" rIns="0" bIns="0" rtlCol="0" anchor="b"/>
          <a:lstStyle/>
          <a:p>
            <a:pPr algn="l" indent="0" marL="0">
              <a:buNone/>
            </a:pPr>
            <a:r>
              <a:rPr lang="en-US" sz="6000" b="1" dirty="0">
                <a:solidFill>
                  <a:schemeClr val="bg1"/>
                </a:solidFill>
                <a:latin typeface="Arial" pitchFamily="34" charset="0"/>
                <a:ea typeface="Arial" pitchFamily="34" charset="-122"/>
                <a:cs typeface="Arial" pitchFamily="34" charset="-120"/>
              </a:rPr>
              <a:t>Merci</a:t>
            </a:r>
            <a:endParaRPr lang="en-US" sz="6000" dirty="0"/>
          </a:p>
        </p:txBody>
      </p:sp>
      <p:sp>
        <p:nvSpPr>
          <p:cNvPr id="3" name="Text 0"/>
          <p:cNvSpPr/>
          <p:nvPr>
            <p:ph idx="101" type="body" hasCustomPrompt="1"/>
          </p:nvPr>
        </p:nvSpPr>
        <p:spPr>
          <a:xfrm>
            <a:off x="548640" y="3337560"/>
            <a:ext cx="8412480" cy="1463040"/>
          </a:xfrm>
          <a:prstGeom prst="rect">
            <a:avLst/>
          </a:prstGeom>
          <a:noFill/>
          <a:ln/>
        </p:spPr>
        <p:txBody>
          <a:bodyPr wrap="square" lIns="0" tIns="0" rIns="0" bIns="0" rtlCol="0" anchor="t"/>
          <a:lstStyle/>
          <a:p>
            <a:pPr indent="0" marL="0">
              <a:buNone/>
            </a:pPr>
            <a:r>
              <a:rPr lang="en-US" sz="2400" dirty="0">
                <a:solidFill>
                  <a:schemeClr val="accent3"/>
                </a:solidFill>
                <a:latin typeface="Calibri" pitchFamily="34" charset="0"/>
                <a:ea typeface="Calibri" pitchFamily="34" charset="-122"/>
                <a:cs typeface="Calibri" pitchFamily="34" charset="-120"/>
              </a:rPr>
              <a:t>Kwatsur cherche, explique et signale les informations à vérifier.</a:t>
            </a:r>
            <a:endParaRPr lang="en-US" sz="2400" dirty="0"/>
          </a:p>
        </p:txBody>
      </p:sp>
      <p:sp>
        <p:nvSpPr>
          <p:cNvPr id="4" name="GitHub cercle"/>
          <p:cNvSpPr/>
          <p:nvPr/>
        </p:nvSpPr>
        <p:spPr>
          <a:xfrm>
            <a:off x="9692640" y="2011680"/>
            <a:ext cx="1828800" cy="1828800"/>
          </a:xfrm>
          <a:prstGeom prst="ellipse">
            <a:avLst/>
          </a:prstGeom>
          <a:solidFill>
            <a:srgbClr val="0A4A39"/>
          </a:solidFill>
          <a:ln w="12700">
            <a:solidFill>
              <a:srgbClr val="0A4A39"/>
            </a:solidFill>
            <a:prstDash val="solid"/>
          </a:ln>
        </p:spPr>
      </p:sp>
      <p:pic>
        <p:nvPicPr>
          <p:cNvPr id="5" name="GitHub icône" descr="preencoded.png">    </p:cNvPr>
          <p:cNvPicPr>
            <a:picLocks noChangeAspect="1"/>
          </p:cNvPicPr>
          <p:nvPr/>
        </p:nvPicPr>
        <p:blipFill>
          <a:blip r:embed="rId1"/>
          <a:stretch>
            <a:fillRect/>
          </a:stretch>
        </p:blipFill>
        <p:spPr>
          <a:xfrm>
            <a:off x="10131552" y="2450592"/>
            <a:ext cx="950976" cy="950976"/>
          </a:xfrm>
          <a:prstGeom prst="rect">
            <a:avLst/>
          </a:prstGeom>
        </p:spPr>
      </p:pic>
      <p:sp>
        <p:nvSpPr>
          <p:cNvPr id="6" name="Text 3"/>
          <p:cNvSpPr txBox="1"/>
          <p:nvPr/>
        </p:nvSpPr>
        <p:spPr>
          <a:xfrm>
            <a:off x="548640" y="5394960"/>
            <a:ext cx="1005840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github.com/saoulforotheruse-tech/kwatsur</a:t>
            </a:r>
            <a:endParaRPr lang="en-US" sz="1800" dirty="0"/>
          </a:p>
        </p:txBody>
      </p:sp>
      <p:sp>
        <p:nvSpPr>
          <p:cNvPr id="7" name="Text 4"/>
          <p:cNvSpPr txBox="1"/>
          <p:nvPr/>
        </p:nvSpPr>
        <p:spPr>
          <a:xfrm>
            <a:off x="548640" y="5806440"/>
            <a:ext cx="10515600" cy="36576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Backend et frontend : deux Docker Compose. Interface : 8080. Mode hors services : SAMPLE_MODE=true.</a:t>
            </a:r>
            <a:endParaRPr lang="en-US" sz="1400" dirty="0"/>
          </a:p>
        </p:txBody>
      </p:sp>
    </p:spTree>
  </p:cSld>
  <p:clrMapOvr>
    <a:masterClrMapping/>
  </p:clrMapOvr>
</p:sld>
</file>

<file path=ppt/slides/slide12.xml><?xml version="1.0" encoding="utf-8"?>
<p:sld xmlns:a="http://schemas.openxmlformats.org/drawingml/2006/main" xmlns:ns3="http://schemas.microsoft.com/office/mac/drawingml/2011/main" xmlns:p="http://schemas.openxmlformats.org/presentationml/2006/main" xmlns:r="http://schemas.openxmlformats.org/officeDocument/2006/relationships">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Proposer un logement : confirmation en attente</a:t>
            </a:r>
            <a:endParaRPr lang="en-US" sz="3400" dirty="0"/>
          </a:p>
        </p:txBody>
      </p:sp>
      <p:pic>
        <p:nvPicPr>
          <p:cNvPr id="3" name="Résultats de recherche" descr="Résultats de Kwatsur : carte d'annonce avec photo d'exemple étiquetée, loyer et équipements">    </p:cNvPr>
          <p:cNvPicPr>
            <a:picLocks noChangeAspect="1"/>
          </p:cNvPicPr>
          <p:nvPr/>
        </p:nvPicPr>
        <p:blipFill>
          <a:blip r:embed="rId1"/>
          <a:stretch>
            <a:fillRect/>
          </a:stretch>
        </p:blipFill>
        <p:spPr>
          <a:xfrm>
            <a:off x="548640" y="1270000"/>
            <a:ext cx="11094415" cy="4250000"/>
          </a:xfrm>
          <a:prstGeom prst="rect">
            <a:avLst/>
          </a:prstGeom>
        </p:spPr>
      </p:pic>
      <p:sp>
        <p:nvSpPr>
          <p:cNvPr id="5" name="Text 1"/>
          <p:cNvSpPr txBox="1"/>
          <p:nvPr/>
        </p:nvSpPr>
        <p:spPr>
          <a:xfrm>
            <a:off x="548640" y="5580000"/>
            <a:ext cx="11094415" cy="640080"/>
          </a:xfrm>
          <a:prstGeom prst="rect">
            <a:avLst/>
          </a:prstGeom>
          <a:noFill/>
          <a:ln/>
        </p:spPr>
        <p:txBody>
          <a:bodyPr wrap="square" lIns="0" tIns="0" rIns="0" bIns="0" rtlCol="0" anchor="t"/>
          <a:lstStyle/>
          <a:p>
            <a:pPr indent="0" marL="0">
              <a:buNone/>
            </a:pPr>
            <a:r>
              <a:rPr lang="en-US" sz="1500" dirty="0">
                <a:solidFill>
                  <a:schemeClr val="accent6"/>
                </a:solidFill>
                <a:latin typeface="Calibri" pitchFamily="34" charset="0"/>
                <a:ea typeface="Calibri" pitchFamily="34" charset="-122"/>
                <a:cs typeface="Calibri" pitchFamily="34" charset="-120"/>
              </a:rPr>
              <a:t>Capture fournie par l'utilisateur, anonymisée. Le brouillon confirmé est persisté en attente, sans annonce publiée.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ns3:wrappingTextBoxFlag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3.xml><?xml version="1.0" encoding="utf-8"?>
<p:sld xmlns:a="http://schemas.openxmlformats.org/drawingml/2006/main" xmlns:ns3="http://schemas.microsoft.com/office/mac/drawingml/2011/main" xmlns:p="http://schemas.openxmlformats.org/presentationml/2006/main" xmlns:r="http://schemas.openxmlformats.org/officeDocument/2006/relationships">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Validation admin avant publication</a:t>
            </a:r>
            <a:endParaRPr lang="en-US" sz="3400" dirty="0"/>
          </a:p>
        </p:txBody>
      </p:sp>
      <p:pic>
        <p:nvPicPr>
          <p:cNvPr id="3" name="Résultats de recherche" descr="Résultats de Kwatsur : carte d'annonce avec photo d'exemple étiquetée, loyer et équipements">    </p:cNvPr>
          <p:cNvPicPr>
            <a:picLocks noChangeAspect="1"/>
          </p:cNvPicPr>
          <p:nvPr/>
        </p:nvPicPr>
        <p:blipFill>
          <a:blip r:embed="rId1"/>
          <a:stretch>
            <a:fillRect/>
          </a:stretch>
        </p:blipFill>
        <p:spPr>
          <a:xfrm>
            <a:off x="548640" y="1270000"/>
            <a:ext cx="11094415" cy="4250000"/>
          </a:xfrm>
          <a:prstGeom prst="rect">
            <a:avLst/>
          </a:prstGeom>
        </p:spPr>
      </p:pic>
      <p:sp>
        <p:nvSpPr>
          <p:cNvPr id="5" name="Text 1"/>
          <p:cNvSpPr txBox="1"/>
          <p:nvPr/>
        </p:nvSpPr>
        <p:spPr>
          <a:xfrm>
            <a:off x="548640" y="5580000"/>
            <a:ext cx="11094415" cy="640080"/>
          </a:xfrm>
          <a:prstGeom prst="rect">
            <a:avLst/>
          </a:prstGeom>
          <a:noFill/>
          <a:ln/>
        </p:spPr>
        <p:txBody>
          <a:bodyPr wrap="square" lIns="0" tIns="0" rIns="0" bIns="0" rtlCol="0" anchor="t"/>
          <a:lstStyle/>
          <a:p>
            <a:pPr indent="0" marL="0">
              <a:buNone/>
            </a:pPr>
            <a:r>
              <a:rPr lang="en-US" sz="1500" dirty="0">
                <a:solidFill>
                  <a:schemeClr val="accent6"/>
                </a:solidFill>
                <a:latin typeface="Calibri" pitchFamily="34" charset="0"/>
                <a:ea typeface="Calibri" pitchFamily="34" charset="-122"/>
                <a:cs typeface="Calibri" pitchFamily="34" charset="-120"/>
              </a:rPr>
              <a:t>Capture fournie par l'utilisateur, anonymisée. Proposition en attente, note et boutons approuver/refuser. Approbation couverte hors réseau, pas de publication réelle montrée.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ns3:wrappingTextBoxFlag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Kwatsur">
  <a:themeElements>
    <a:clrScheme name="Kwatsur">
      <a:dk1>
        <a:srgbClr val="14231C"/>
      </a:dk1>
      <a:lt1>
        <a:srgbClr val="FFFFFF"/>
      </a:lt1>
      <a:dk2>
        <a:srgbClr val="0A4A39"/>
      </a:dk2>
      <a:lt2>
        <a:srgbClr val="EEF5F1"/>
      </a:lt2>
      <a:accent1>
        <a:srgbClr val="0F6B52"/>
      </a:accent1>
      <a:accent2>
        <a:srgbClr val="C2562F"/>
      </a:accent2>
      <a:accent3>
        <a:srgbClr val="D8EFE6"/>
      </a:accent3>
      <a:accent4>
        <a:srgbClr val="3D5348"/>
      </a:accent4>
      <a:accent5>
        <a:srgbClr val="E8B04B"/>
      </a:accent5>
      <a:accent6>
        <a:srgbClr val="6B7F74"/>
      </a:accent6>
      <a:hlink>
        <a:srgbClr val="0F6B52"/>
      </a:hlink>
      <a:folHlink>
        <a:srgbClr val="0A4A39"/>
      </a:folHlink>
    </a:clrScheme>
    <a:fontScheme name="Kwatsu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ns0:Properties xmlns:ns0="http://schemas.openxmlformats.org/officeDocument/2006/extended-properties" xmlns:ns1="http://schemas.openxmlformats.org/officeDocument/2006/docPropsVTypes">
  <ns0:TotalTime>0</ns0:TotalTime>
  <ns0:Words>0</ns0:Words>
  <ns0:Application>Microsoft Office PowerPoint</ns0:Application>
  <ns0:PresentationFormat>On-screen Show (16:9)</ns0:PresentationFormat>
  <ns0:Paragraphs>0</ns0:Paragraphs>
  <ns0:Slides>13</ns0:Slides>
  <ns0:Notes>11</ns0:Notes>
  <ns0:HiddenSlides>0</ns0:HiddenSlides>
  <ns0:MMClips>0</ns0:MMClips>
  <ns0:ScaleCrop>false</ns0:ScaleCrop>
  <ns0:HeadingPairs>
    <ns1:vector size="6" baseType="variant">
      <ns1:variant>
        <ns1:lpstr>Fonts Used</ns1:lpstr>
      </ns1:variant>
      <ns1:variant>
        <ns1:i4>2</ns1:i4>
      </ns1:variant>
      <ns1:variant>
        <ns1:lpstr>Theme</ns1:lpstr>
      </ns1:variant>
      <ns1:variant>
        <ns1:i4>1</ns1:i4>
      </ns1:variant>
      <ns1:variant>
        <ns1:lpstr>Slide Titles</ns1:lpstr>
      </ns1:variant>
      <ns1:variant>
        <ns1:i4>11</ns1:i4>
      </ns1:variant>
    </ns1:vector>
  </ns0:HeadingPairs>
  <ns0:TitlesOfParts>
    <ns1:vector size="14" baseType="lpstr">
      <ns1:lpstr>Arial</ns1:lpstr>
      <ns1:lpstr>Calibri</ns1:lpstr>
      <ns1:lpstr>Office Theme</ns1:lpstr>
      <ns1:lpstr>Slide 1</ns1:lpstr>
      <ns1:lpstr>Slide 2</ns1:lpstr>
      <ns1:lpstr>Slide 3</ns1:lpstr>
      <ns1:lpstr>Slide 4</ns1:lpstr>
      <ns1:lpstr>Slide 5</ns1:lpstr>
      <ns1:lpstr>Slide 6</ns1:lpstr>
      <ns1:lpstr>Slide 7</ns1:lpstr>
      <ns1:lpstr>Slide 8</ns1:lpstr>
      <ns1:lpstr>Slide 9</ns1:lpstr>
      <ns1:lpstr>Slide 10</ns1:lpstr>
      <ns1:lpstr>Slide 11</ns1:lpstr>
    </ns1:vector>
  </ns0:TitlesOfParts>
  <ns0:Company>PptxGenJS</ns0:Company>
  <ns0:LinksUpToDate>false</ns0:LinksUpToDate>
  <ns0:SharedDoc>false</ns0:SharedDoc>
  <ns0:HyperlinksChanged>false</ns0:HyperlinksChanged>
  <ns0:AppVersion>16.0000</ns0:AppVersion>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Kwatsur — Open Agent Hackathon 2026</dc:title>
  <dc:subject>PptxGenJS Presentation</dc:subject>
  <dc:creator>Équipe Kwatsur</dc:creator>
  <cp:lastModifiedBy>Équipe Kwatsur</cp:lastModifiedBy>
  <cp:revision>1</cp:revision>
  <dcterms:created xsi:type="dcterms:W3CDTF">2026-10-27T15:16:44Z</dcterms:created>
  <dcterms:modified xsi:type="dcterms:W3CDTF">2026-10-27T15:16:44Z</dcterms:modified>
</cp:coreProperties>
</file>