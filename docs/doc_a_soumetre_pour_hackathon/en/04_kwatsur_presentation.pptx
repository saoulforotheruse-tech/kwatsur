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6c2926f-72f4-270d-8502-e51910674dba}">
          <p14:sldIdLst>
            <p14:sldId id="256"/>
          </p14:sldIdLst>
        </p14:section>
        <p14:section name="Problem and solution" id="{3b8f6ee5-682e-31ba-2a47-741328fcd849}">
          <p14:sldIdLst>
            <p14:sldId id="257"/>
            <p14:sldId id="258"/>
          </p14:sldIdLst>
        </p14:section>
        <p14:section name="Architecture" id="{8ad813a2-2e9e-756b-ed30-18b95fa6c5d1}">
          <p14:sldIdLst>
            <p14:sldId id="259"/>
            <p14:sldId id="260"/>
          </p14:sldIdLst>
        </p14:section>
        <p14:section name="Sponsor technologies" id="{6c172649-d117-4fa9-11dd-48610a613660}">
          <p14:sldIdLst>
            <p14:sldId id="261"/>
            <p14:sldId id="262"/>
            <p14:sldId id="263"/>
          </p14:sldIdLst>
        </p14:section>
        <p14:section name="Product and next steps" id="{be8cbcad-e52c-1ef4-f1d2-f3aff6529f0f}">
          <p14:sldIdLst>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Kwatsur is a conversational agent that helps people find a home to rent in Douala and Yaoundé. It queries listings through Zetaris, decides with deterministic code, and explains with NVIDIA Nemotron served by Meterless Nightshift. The Meterless Scout Intent engine controls every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scattered, often incomplete listings and a real risk of scams. Our users: people looking for a home, landlords who want to publish, and administrators who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a conversation. The agent understands the request, searches, ranks, flags what needs checking, compares, shows a room and blocks scams. Design rule: AI understands and explains, code decides. No unknown information is guessed.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message follows this path. Scout decides and signs a contract. Nemotron turns the sentence into criteria. Zetaris returns the listings. Our code filters, ranks and assesses risks. Nemotron explains those facts only. The interface shows everything, including the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hackathon layers: Data with Zetaris, Power with Nightshift and Nemotron, Build with the Scout Intent engine. Around them: FastAPI, PostgreSQL, nginx, Cloudflare for images and the browser for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Zetaris is the only door to the listings. Our database is registered in Zetaris as a federated source, read-only. When an administrator approves a landlord's listing, it becomes visible through Zetaris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Meterless engine we implemented is Scout Intent, in Python, from the public specification. It decides, checks and signs before every action. The numbers come from the official evaluation: 0.98 correct intents, every injection detected with no false positive, the right tool every time. Nightshift is our primary AI provider and serves Nemotron 3 Ultra.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use of the sponsors is structural, not decorative: Scout guards every action, Zetaris federates a growing database, Nemotron explains without inventing, and the demo stays reliable even without external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real views of the product: results with a listing card and its amenities, and an AI-generated living room illustration, clearly labelled.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plug real sources in via Zetaris, add H-MEM memory across sessions, a checker agent that reviews explanations, accounts and verified visits, WhatsApp and SMS, then more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code, documentation and real examples are on GitHub. The project starts with Docker, and SAMPLE_MODE runs it without any external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W_DARK_TITLE">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8686800" cy="1280160"/>
          </a:xfrm>
          <a:prstGeom prst="rect">
            <a:avLst/>
          </a:prstGeom>
          <a:noFill/>
          <a:ln/>
        </p:spPr>
        <p:txBody>
          <a:bodyPr wrap="square" rtlCol="0"/>
          <a:lstStyle>
            <a:lvl1pPr algn="l" indent="0" marL="0">
              <a:buNone/>
              <a:defRPr lang="en-US" sz="6000" b="1" dirty="0">
                <a:solidFill>
                  <a:schemeClr val="bg1"/>
                </a:solidFill>
                <a:latin typeface="Arial" pitchFamily="34" charset="0"/>
                <a:ea typeface="Arial" pitchFamily="34" charset="-122"/>
                <a:cs typeface="Arial" pitchFamily="34" charset="-120"/>
              </a:defRPr>
            </a:lvl1pPr>
          </a:lstStyle>
          <a:p>
            <a:pPr algn="l" indent="0" marL="0">
              <a:buNone/>
            </a:pPr>
            <a:endParaRPr lang="en-US" sz="6000" dirty="0"/>
          </a:p>
        </p:txBody>
      </p:sp>
      <p:sp>
        <p:nvSpPr>
          <p:cNvPr id="3" name="Text 0"/>
          <p:cNvSpPr/>
          <p:nvPr>
            <p:ph idx="101" type="body" hasCustomPrompt="1"/>
          </p:nvPr>
        </p:nvSpPr>
        <p:spPr>
          <a:xfrm>
            <a:off x="548640" y="3337560"/>
            <a:ext cx="8412480" cy="1463040"/>
          </a:xfrm>
          <a:prstGeom prst="rect">
            <a:avLst/>
          </a:prstGeom>
          <a:noFill/>
          <a:ln/>
        </p:spPr>
        <p:txBody>
          <a:bodyPr wrap="square" rtlCol="0"/>
          <a:lstStyle>
            <a:lvl1pPr indent="0" marL="0">
              <a:buNone/>
              <a:defRPr lang="en-US" sz="2400" dirty="0">
                <a:solidFill>
                  <a:schemeClr val="accent3"/>
                </a:solidFill>
                <a:latin typeface="Calibri" pitchFamily="34" charset="0"/>
                <a:ea typeface="Calibri" pitchFamily="34" charset="-122"/>
                <a:cs typeface="Calibri" pitchFamily="34" charset="-120"/>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W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rtlCol="0"/>
          <a:lstStyle>
            <a:lvl1pPr algn="l" indent="0" marL="0">
              <a:buNone/>
              <a:defRPr lang="en-US" sz="3400" b="1" dirty="0">
                <a:solidFill>
                  <a:schemeClr val="tx1"/>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latin typeface="Calibri" pitchFamily="34" charset="0"/>
                <a:ea typeface="Calibri" pitchFamily="34" charset="-122"/>
                <a:cs typeface="Calibri" pitchFamily="34" charset="-120"/>
              </a:rPr>
              <a:t>Kwatsur · Open Agent Hackathon 2026</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jp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8686800" cy="1280160"/>
          </a:xfrm>
          <a:prstGeom prst="rect">
            <a:avLst/>
          </a:prstGeom>
          <a:noFill/>
          <a:ln/>
        </p:spPr>
        <p:txBody>
          <a:bodyPr wrap="square" lIns="0" tIns="0" rIns="0" bIns="0" rtlCol="0" anchor="b"/>
          <a:lstStyle/>
          <a:p>
            <a:pPr algn="l" indent="0" marL="0">
              <a:buNone/>
            </a:pPr>
            <a:r>
              <a:rPr lang="en-US" sz="6000" b="1" dirty="0">
                <a:solidFill>
                  <a:schemeClr val="bg1"/>
                </a:solidFill>
                <a:latin typeface="Arial" pitchFamily="34" charset="0"/>
                <a:ea typeface="Arial" pitchFamily="34" charset="-122"/>
                <a:cs typeface="Arial" pitchFamily="34" charset="-120"/>
              </a:rPr>
              <a:t>Kwatsur</a:t>
            </a:r>
            <a:endParaRPr lang="en-US" sz="6000" dirty="0"/>
          </a:p>
        </p:txBody>
      </p:sp>
      <p:sp>
        <p:nvSpPr>
          <p:cNvPr id="3" name="Text 0"/>
          <p:cNvSpPr/>
          <p:nvPr>
            <p:ph idx="101" type="body" hasCustomPrompt="1"/>
          </p:nvPr>
        </p:nvSpPr>
        <p:spPr>
          <a:xfrm>
            <a:off x="548640" y="3337560"/>
            <a:ext cx="8412480" cy="1463040"/>
          </a:xfrm>
          <a:prstGeom prst="rect">
            <a:avLst/>
          </a:prstGeom>
          <a:noFill/>
          <a:ln/>
        </p:spPr>
        <p:txBody>
          <a:bodyPr wrap="square" lIns="0" tIns="0" rIns="0" bIns="0" rtlCol="0" anchor="t"/>
          <a:lstStyle/>
          <a:p>
            <a:pPr indent="0" marL="0">
              <a:buNone/>
            </a:pPr>
            <a:r>
              <a:rPr lang="en-US" sz="2400" dirty="0">
                <a:solidFill>
                  <a:schemeClr val="accent3"/>
                </a:solidFill>
                <a:latin typeface="Calibri" pitchFamily="34" charset="0"/>
                <a:ea typeface="Calibri" pitchFamily="34" charset="-122"/>
                <a:cs typeface="Calibri" pitchFamily="34" charset="-120"/>
              </a:rPr>
              <a:t>The agent that searches, checks and explains homes to rent in Cameroon</a:t>
            </a:r>
            <a:endParaRPr lang="en-US" sz="2400" dirty="0"/>
          </a:p>
        </p:txBody>
      </p:sp>
      <p:sp>
        <p:nvSpPr>
          <p:cNvPr id="4" name="Logo maison cercle"/>
          <p:cNvSpPr/>
          <p:nvPr/>
        </p:nvSpPr>
        <p:spPr>
          <a:xfrm>
            <a:off x="9692640" y="2011680"/>
            <a:ext cx="1828800" cy="1828800"/>
          </a:xfrm>
          <a:prstGeom prst="ellipse">
            <a:avLst/>
          </a:prstGeom>
          <a:solidFill>
            <a:srgbClr val="0A4A39"/>
          </a:solidFill>
          <a:ln w="12700">
            <a:solidFill>
              <a:srgbClr val="0A4A39"/>
            </a:solidFill>
            <a:prstDash val="solid"/>
          </a:ln>
        </p:spPr>
      </p:sp>
      <p:pic>
        <p:nvPicPr>
          <p:cNvPr id="5" name="Logo maison icône" descr="preencoded.png">    </p:cNvPr>
          <p:cNvPicPr>
            <a:picLocks noChangeAspect="1"/>
          </p:cNvPicPr>
          <p:nvPr/>
        </p:nvPicPr>
        <p:blipFill>
          <a:blip r:embed="rId1"/>
          <a:stretch>
            <a:fillRect/>
          </a:stretch>
        </p:blipFill>
        <p:spPr>
          <a:xfrm>
            <a:off x="10131552" y="2450592"/>
            <a:ext cx="950976" cy="950976"/>
          </a:xfrm>
          <a:prstGeom prst="rect">
            <a:avLst/>
          </a:prstGeom>
        </p:spPr>
      </p:pic>
      <p:sp>
        <p:nvSpPr>
          <p:cNvPr id="6" name="Text 3"/>
          <p:cNvSpPr txBox="1"/>
          <p:nvPr/>
        </p:nvSpPr>
        <p:spPr>
          <a:xfrm>
            <a:off x="548640" y="5394960"/>
            <a:ext cx="10058400" cy="36576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Open Agent Hackathon 2026  ·  Track: The Agent That Can Explain Why</a:t>
            </a:r>
            <a:endParaRPr lang="en-US" sz="1600" dirty="0"/>
          </a:p>
        </p:txBody>
      </p:sp>
      <p:sp>
        <p:nvSpPr>
          <p:cNvPr id="7" name="Text 4"/>
          <p:cNvSpPr txBox="1"/>
          <p:nvPr/>
        </p:nvSpPr>
        <p:spPr>
          <a:xfrm>
            <a:off x="548640" y="5806440"/>
            <a:ext cx="10058400" cy="3657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Zetaris  ·  Meterless Scout Intent &amp; Nightshift  ·  NVIDIA Nemotron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Renting in Cameroon is a risky journey</a:t>
            </a:r>
            <a:endParaRPr lang="en-US" sz="3400" dirty="0"/>
          </a:p>
        </p:txBody>
      </p:sp>
      <p:sp>
        <p:nvSpPr>
          <p:cNvPr id="3" name="Problème 1"/>
          <p:cNvSpPr/>
          <p:nvPr/>
        </p:nvSpPr>
        <p:spPr>
          <a:xfrm>
            <a:off x="548640" y="1508760"/>
            <a:ext cx="6675120" cy="1280160"/>
          </a:xfrm>
          <a:prstGeom prst="roundRect">
            <a:avLst>
              <a:gd name="adj" fmla="val 8571"/>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4" name="Problème 1 cercle"/>
          <p:cNvSpPr/>
          <p:nvPr/>
        </p:nvSpPr>
        <p:spPr>
          <a:xfrm>
            <a:off x="777240" y="1737360"/>
            <a:ext cx="822960" cy="822960"/>
          </a:xfrm>
          <a:prstGeom prst="ellipse">
            <a:avLst/>
          </a:prstGeom>
          <a:solidFill>
            <a:srgbClr val="C2562F"/>
          </a:solidFill>
          <a:ln w="12700">
            <a:solidFill>
              <a:srgbClr val="C2562F"/>
            </a:solidFill>
            <a:prstDash val="solid"/>
          </a:ln>
        </p:spPr>
      </p:sp>
      <p:pic>
        <p:nvPicPr>
          <p:cNvPr id="5" name="Problème 1 icône" descr="preencoded.png">    </p:cNvPr>
          <p:cNvPicPr>
            <a:picLocks noChangeAspect="1"/>
          </p:cNvPicPr>
          <p:nvPr/>
        </p:nvPicPr>
        <p:blipFill>
          <a:blip r:embed="rId1"/>
          <a:stretch>
            <a:fillRect/>
          </a:stretch>
        </p:blipFill>
        <p:spPr>
          <a:xfrm>
            <a:off x="974750" y="1934870"/>
            <a:ext cx="427939" cy="427939"/>
          </a:xfrm>
          <a:prstGeom prst="rect">
            <a:avLst/>
          </a:prstGeom>
        </p:spPr>
      </p:pic>
      <p:sp>
        <p:nvSpPr>
          <p:cNvPr id="6" name="Text 3"/>
          <p:cNvSpPr txBox="1"/>
          <p:nvPr/>
        </p:nvSpPr>
        <p:spPr>
          <a:xfrm>
            <a:off x="1828800" y="1691640"/>
            <a:ext cx="5212080" cy="41148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Scattered listings</a:t>
            </a:r>
            <a:endParaRPr lang="en-US" sz="2000" dirty="0"/>
          </a:p>
        </p:txBody>
      </p:sp>
      <p:sp>
        <p:nvSpPr>
          <p:cNvPr id="7" name="Text 4"/>
          <p:cNvSpPr txBox="1"/>
          <p:nvPr/>
        </p:nvSpPr>
        <p:spPr>
          <a:xfrm>
            <a:off x="1828800" y="2130552"/>
            <a:ext cx="5212080" cy="54864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WhatsApp groups, Facebook, posters, middlemen: no overall view.</a:t>
            </a:r>
            <a:endParaRPr lang="en-US" sz="1500" dirty="0"/>
          </a:p>
        </p:txBody>
      </p:sp>
      <p:sp>
        <p:nvSpPr>
          <p:cNvPr id="8" name="Problème 2"/>
          <p:cNvSpPr/>
          <p:nvPr/>
        </p:nvSpPr>
        <p:spPr>
          <a:xfrm>
            <a:off x="548640" y="3017520"/>
            <a:ext cx="6675120" cy="1280160"/>
          </a:xfrm>
          <a:prstGeom prst="roundRect">
            <a:avLst>
              <a:gd name="adj" fmla="val 8571"/>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9" name="Problème 2 cercle"/>
          <p:cNvSpPr/>
          <p:nvPr/>
        </p:nvSpPr>
        <p:spPr>
          <a:xfrm>
            <a:off x="777240" y="3246120"/>
            <a:ext cx="822960" cy="822960"/>
          </a:xfrm>
          <a:prstGeom prst="ellipse">
            <a:avLst/>
          </a:prstGeom>
          <a:solidFill>
            <a:srgbClr val="C2562F"/>
          </a:solidFill>
          <a:ln w="12700">
            <a:solidFill>
              <a:srgbClr val="C2562F"/>
            </a:solidFill>
            <a:prstDash val="solid"/>
          </a:ln>
        </p:spPr>
      </p:sp>
      <p:pic>
        <p:nvPicPr>
          <p:cNvPr id="10" name="Problème 2 icône" descr="preencoded.png">    </p:cNvPr>
          <p:cNvPicPr>
            <a:picLocks noChangeAspect="1"/>
          </p:cNvPicPr>
          <p:nvPr/>
        </p:nvPicPr>
        <p:blipFill>
          <a:blip r:embed="rId2"/>
          <a:stretch>
            <a:fillRect/>
          </a:stretch>
        </p:blipFill>
        <p:spPr>
          <a:xfrm>
            <a:off x="974750" y="3443630"/>
            <a:ext cx="427939" cy="427939"/>
          </a:xfrm>
          <a:prstGeom prst="rect">
            <a:avLst/>
          </a:prstGeom>
        </p:spPr>
      </p:pic>
      <p:sp>
        <p:nvSpPr>
          <p:cNvPr id="11" name="Text 7"/>
          <p:cNvSpPr txBox="1"/>
          <p:nvPr/>
        </p:nvSpPr>
        <p:spPr>
          <a:xfrm>
            <a:off x="1828800" y="3200400"/>
            <a:ext cx="5212080" cy="41148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Missing information</a:t>
            </a:r>
            <a:endParaRPr lang="en-US" sz="2000" dirty="0"/>
          </a:p>
        </p:txBody>
      </p:sp>
      <p:sp>
        <p:nvSpPr>
          <p:cNvPr id="12" name="Text 8"/>
          <p:cNvSpPr txBox="1"/>
          <p:nvPr/>
        </p:nvSpPr>
        <p:spPr>
          <a:xfrm>
            <a:off x="1828800" y="3639312"/>
            <a:ext cx="5212080" cy="54864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Water, electricity, condition, availability: often missing or outdated.</a:t>
            </a:r>
            <a:endParaRPr lang="en-US" sz="1500" dirty="0"/>
          </a:p>
        </p:txBody>
      </p:sp>
      <p:sp>
        <p:nvSpPr>
          <p:cNvPr id="13" name="Problème 3"/>
          <p:cNvSpPr/>
          <p:nvPr/>
        </p:nvSpPr>
        <p:spPr>
          <a:xfrm>
            <a:off x="548640" y="4526280"/>
            <a:ext cx="6675120" cy="1280160"/>
          </a:xfrm>
          <a:prstGeom prst="roundRect">
            <a:avLst>
              <a:gd name="adj" fmla="val 8571"/>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14" name="Problème 3 cercle"/>
          <p:cNvSpPr/>
          <p:nvPr/>
        </p:nvSpPr>
        <p:spPr>
          <a:xfrm>
            <a:off x="777240" y="4754880"/>
            <a:ext cx="822960" cy="822960"/>
          </a:xfrm>
          <a:prstGeom prst="ellipse">
            <a:avLst/>
          </a:prstGeom>
          <a:solidFill>
            <a:srgbClr val="C2562F"/>
          </a:solidFill>
          <a:ln w="12700">
            <a:solidFill>
              <a:srgbClr val="C2562F"/>
            </a:solidFill>
            <a:prstDash val="solid"/>
          </a:ln>
        </p:spPr>
      </p:sp>
      <p:pic>
        <p:nvPicPr>
          <p:cNvPr id="15" name="Problème 3 icône" descr="preencoded.png">    </p:cNvPr>
          <p:cNvPicPr>
            <a:picLocks noChangeAspect="1"/>
          </p:cNvPicPr>
          <p:nvPr/>
        </p:nvPicPr>
        <p:blipFill>
          <a:blip r:embed="rId3"/>
          <a:stretch>
            <a:fillRect/>
          </a:stretch>
        </p:blipFill>
        <p:spPr>
          <a:xfrm>
            <a:off x="974750" y="4952390"/>
            <a:ext cx="427939" cy="427939"/>
          </a:xfrm>
          <a:prstGeom prst="rect">
            <a:avLst/>
          </a:prstGeom>
        </p:spPr>
      </p:pic>
      <p:sp>
        <p:nvSpPr>
          <p:cNvPr id="16" name="Text 11"/>
          <p:cNvSpPr txBox="1"/>
          <p:nvPr/>
        </p:nvSpPr>
        <p:spPr>
          <a:xfrm>
            <a:off x="1828800" y="4709160"/>
            <a:ext cx="5212080" cy="41148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Scams</a:t>
            </a:r>
            <a:endParaRPr lang="en-US" sz="2000" dirty="0"/>
          </a:p>
        </p:txBody>
      </p:sp>
      <p:sp>
        <p:nvSpPr>
          <p:cNvPr id="17" name="Text 12"/>
          <p:cNvSpPr txBox="1"/>
          <p:nvPr/>
        </p:nvSpPr>
        <p:spPr>
          <a:xfrm>
            <a:off x="1828800" y="5148072"/>
            <a:ext cx="5212080" cy="54864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Advance or deposit requested before any visit, fake landlords.</a:t>
            </a:r>
            <a:endParaRPr lang="en-US" sz="1500" dirty="0"/>
          </a:p>
        </p:txBody>
      </p:sp>
      <p:sp>
        <p:nvSpPr>
          <p:cNvPr id="18" name="Utilisateurs cibles"/>
          <p:cNvSpPr/>
          <p:nvPr/>
        </p:nvSpPr>
        <p:spPr>
          <a:xfrm>
            <a:off x="7680960" y="1508760"/>
            <a:ext cx="3959352" cy="4297680"/>
          </a:xfrm>
          <a:prstGeom prst="roundRect">
            <a:avLst>
              <a:gd name="adj" fmla="val 2771"/>
            </a:avLst>
          </a:prstGeom>
          <a:solidFill>
            <a:srgbClr val="0A4A39"/>
          </a:solidFill>
          <a:ln w="12700">
            <a:solidFill>
              <a:srgbClr val="0A4A39"/>
            </a:solidFill>
            <a:prstDash val="solid"/>
          </a:ln>
          <a:effectLst>
            <a:outerShdw sx="100000" sy="100000" kx="0" ky="0" algn="bl" rotWithShape="0" blurRad="101600" dist="25400" dir="5400000">
              <a:srgbClr val="14231C">
                <a:alpha val="12000"/>
              </a:srgbClr>
            </a:outerShdw>
          </a:effectLst>
        </p:spPr>
      </p:sp>
      <p:sp>
        <p:nvSpPr>
          <p:cNvPr id="19" name="Text 14"/>
          <p:cNvSpPr txBox="1"/>
          <p:nvPr/>
        </p:nvSpPr>
        <p:spPr>
          <a:xfrm>
            <a:off x="8001000" y="1737360"/>
            <a:ext cx="3383280" cy="457200"/>
          </a:xfrm>
          <a:prstGeom prst="rect">
            <a:avLst/>
          </a:prstGeom>
          <a:noFill/>
          <a:ln/>
        </p:spPr>
        <p:txBody>
          <a:bodyPr wrap="square" lIns="0" tIns="0" rIns="0" bIns="0" rtlCol="0" anchor="t"/>
          <a:lstStyle/>
          <a:p>
            <a:pPr indent="0" marL="0">
              <a:buNone/>
            </a:pPr>
            <a:r>
              <a:rPr lang="en-US" sz="2200" b="1" dirty="0">
                <a:solidFill>
                  <a:schemeClr val="bg1"/>
                </a:solidFill>
                <a:latin typeface="Arial" pitchFamily="34" charset="0"/>
                <a:ea typeface="Arial" pitchFamily="34" charset="-122"/>
                <a:cs typeface="Arial" pitchFamily="34" charset="-120"/>
              </a:rPr>
              <a:t>Who is it for?</a:t>
            </a:r>
            <a:endParaRPr lang="en-US" sz="2200" dirty="0"/>
          </a:p>
        </p:txBody>
      </p:sp>
      <p:sp>
        <p:nvSpPr>
          <p:cNvPr id="20" name="Text 15"/>
          <p:cNvSpPr txBox="1"/>
          <p:nvPr/>
        </p:nvSpPr>
        <p:spPr>
          <a:xfrm>
            <a:off x="8001000" y="2331720"/>
            <a:ext cx="3383280" cy="329184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Tenants</a:t>
            </a:r>
            <a:endParaRPr lang="en-US" sz="1600" dirty="0"/>
          </a:p>
          <a:p>
            <a:pPr indent="0" marL="0">
              <a:buNone/>
            </a:pPr>
            <a:r>
              <a:rPr lang="en-US" sz="1600" dirty="0">
                <a:solidFill>
                  <a:schemeClr val="accent3"/>
                </a:solidFill>
                <a:latin typeface="Calibri" pitchFamily="34" charset="0"/>
                <a:ea typeface="Calibri" pitchFamily="34" charset="-122"/>
                <a:cs typeface="Calibri" pitchFamily="34" charset="-120"/>
              </a:rPr>
              <a:t>students, young workers and families in Douala and Yaoundé</a:t>
            </a:r>
            <a:endParaRPr lang="en-US" sz="16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chemeClr val="bg1"/>
                </a:solidFill>
                <a:latin typeface="Calibri" pitchFamily="34" charset="0"/>
                <a:ea typeface="Calibri" pitchFamily="34" charset="-122"/>
                <a:cs typeface="Calibri" pitchFamily="34" charset="-120"/>
              </a:rPr>
              <a:t>Landlords</a:t>
            </a:r>
            <a:endParaRPr lang="en-US" sz="1600" dirty="0"/>
          </a:p>
          <a:p>
            <a:pPr indent="0" marL="0">
              <a:buNone/>
            </a:pPr>
            <a:r>
              <a:rPr lang="en-US" sz="1600" dirty="0">
                <a:solidFill>
                  <a:schemeClr val="accent3"/>
                </a:solidFill>
                <a:latin typeface="Calibri" pitchFamily="34" charset="0"/>
                <a:ea typeface="Calibri" pitchFamily="34" charset="-122"/>
                <a:cs typeface="Calibri" pitchFamily="34" charset="-120"/>
              </a:rPr>
              <a:t>who want to publish without a middleman, with approval</a:t>
            </a:r>
            <a:endParaRPr lang="en-US" sz="16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chemeClr val="bg1"/>
                </a:solidFill>
                <a:latin typeface="Calibri" pitchFamily="34" charset="0"/>
                <a:ea typeface="Calibri" pitchFamily="34" charset="-122"/>
                <a:cs typeface="Calibri" pitchFamily="34" charset="-120"/>
              </a:rPr>
              <a:t>Administrators</a:t>
            </a:r>
            <a:endParaRPr lang="en-US" sz="1600" dirty="0"/>
          </a:p>
          <a:p>
            <a:pPr indent="0" marL="0">
              <a:buNone/>
            </a:pPr>
            <a:r>
              <a:rPr lang="en-US" sz="1600" dirty="0">
                <a:solidFill>
                  <a:schemeClr val="accent3"/>
                </a:solidFill>
                <a:latin typeface="Calibri" pitchFamily="34" charset="0"/>
                <a:ea typeface="Calibri" pitchFamily="34" charset="-122"/>
                <a:cs typeface="Calibri" pitchFamily="34" charset="-120"/>
              </a:rPr>
              <a:t>who approve listings before publication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A conversation that actually does the work</a:t>
            </a:r>
            <a:endParaRPr lang="en-US" sz="3400" dirty="0"/>
          </a:p>
        </p:txBody>
      </p:sp>
      <p:sp>
        <p:nvSpPr>
          <p:cNvPr id="3" name="Fonction 1 cercle"/>
          <p:cNvSpPr/>
          <p:nvPr/>
        </p:nvSpPr>
        <p:spPr>
          <a:xfrm>
            <a:off x="548640" y="1463040"/>
            <a:ext cx="566928" cy="566928"/>
          </a:xfrm>
          <a:prstGeom prst="ellipse">
            <a:avLst/>
          </a:prstGeom>
          <a:solidFill>
            <a:srgbClr val="0F6B52"/>
          </a:solidFill>
          <a:ln w="12700">
            <a:solidFill>
              <a:srgbClr val="0F6B52"/>
            </a:solidFill>
            <a:prstDash val="solid"/>
          </a:ln>
        </p:spPr>
      </p:sp>
      <p:pic>
        <p:nvPicPr>
          <p:cNvPr id="4" name="Fonction 1 icône" descr="preencoded.png">    </p:cNvPr>
          <p:cNvPicPr>
            <a:picLocks noChangeAspect="1"/>
          </p:cNvPicPr>
          <p:nvPr/>
        </p:nvPicPr>
        <p:blipFill>
          <a:blip r:embed="rId1"/>
          <a:stretch>
            <a:fillRect/>
          </a:stretch>
        </p:blipFill>
        <p:spPr>
          <a:xfrm>
            <a:off x="684703" y="1599103"/>
            <a:ext cx="294803" cy="294803"/>
          </a:xfrm>
          <a:prstGeom prst="rect">
            <a:avLst/>
          </a:prstGeom>
        </p:spPr>
      </p:pic>
      <p:sp>
        <p:nvSpPr>
          <p:cNvPr id="5" name="Text 2"/>
          <p:cNvSpPr txBox="1"/>
          <p:nvPr/>
        </p:nvSpPr>
        <p:spPr>
          <a:xfrm>
            <a:off x="1325880" y="1536192"/>
            <a:ext cx="4480560" cy="4572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Request in French, typed or spoken</a:t>
            </a:r>
            <a:endParaRPr lang="en-US" sz="1600" dirty="0"/>
          </a:p>
        </p:txBody>
      </p:sp>
      <p:sp>
        <p:nvSpPr>
          <p:cNvPr id="6" name="Fonction 2 cercle"/>
          <p:cNvSpPr/>
          <p:nvPr/>
        </p:nvSpPr>
        <p:spPr>
          <a:xfrm>
            <a:off x="548640" y="2249424"/>
            <a:ext cx="566928" cy="566928"/>
          </a:xfrm>
          <a:prstGeom prst="ellipse">
            <a:avLst/>
          </a:prstGeom>
          <a:solidFill>
            <a:srgbClr val="0F6B52"/>
          </a:solidFill>
          <a:ln w="12700">
            <a:solidFill>
              <a:srgbClr val="0F6B52"/>
            </a:solidFill>
            <a:prstDash val="solid"/>
          </a:ln>
        </p:spPr>
      </p:sp>
      <p:pic>
        <p:nvPicPr>
          <p:cNvPr id="7" name="Fonction 2 icône" descr="preencoded.png">    </p:cNvPr>
          <p:cNvPicPr>
            <a:picLocks noChangeAspect="1"/>
          </p:cNvPicPr>
          <p:nvPr/>
        </p:nvPicPr>
        <p:blipFill>
          <a:blip r:embed="rId2"/>
          <a:stretch>
            <a:fillRect/>
          </a:stretch>
        </p:blipFill>
        <p:spPr>
          <a:xfrm>
            <a:off x="684703" y="2385487"/>
            <a:ext cx="294803" cy="294803"/>
          </a:xfrm>
          <a:prstGeom prst="rect">
            <a:avLst/>
          </a:prstGeom>
        </p:spPr>
      </p:pic>
      <p:sp>
        <p:nvSpPr>
          <p:cNvPr id="8" name="Text 4"/>
          <p:cNvSpPr txBox="1"/>
          <p:nvPr/>
        </p:nvSpPr>
        <p:spPr>
          <a:xfrm>
            <a:off x="1325880" y="2322576"/>
            <a:ext cx="4480560" cy="4572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Ranked, explained results with points to check</a:t>
            </a:r>
            <a:endParaRPr lang="en-US" sz="1600" dirty="0"/>
          </a:p>
        </p:txBody>
      </p:sp>
      <p:sp>
        <p:nvSpPr>
          <p:cNvPr id="9" name="Fonction 3 cercle"/>
          <p:cNvSpPr/>
          <p:nvPr/>
        </p:nvSpPr>
        <p:spPr>
          <a:xfrm>
            <a:off x="548640" y="3035808"/>
            <a:ext cx="566928" cy="566928"/>
          </a:xfrm>
          <a:prstGeom prst="ellipse">
            <a:avLst/>
          </a:prstGeom>
          <a:solidFill>
            <a:srgbClr val="0F6B52"/>
          </a:solidFill>
          <a:ln w="12700">
            <a:solidFill>
              <a:srgbClr val="0F6B52"/>
            </a:solidFill>
            <a:prstDash val="solid"/>
          </a:ln>
        </p:spPr>
      </p:sp>
      <p:pic>
        <p:nvPicPr>
          <p:cNvPr id="10" name="Fonction 3 icône" descr="preencoded.png">    </p:cNvPr>
          <p:cNvPicPr>
            <a:picLocks noChangeAspect="1"/>
          </p:cNvPicPr>
          <p:nvPr/>
        </p:nvPicPr>
        <p:blipFill>
          <a:blip r:embed="rId3"/>
          <a:stretch>
            <a:fillRect/>
          </a:stretch>
        </p:blipFill>
        <p:spPr>
          <a:xfrm>
            <a:off x="684703" y="3171871"/>
            <a:ext cx="294803" cy="294803"/>
          </a:xfrm>
          <a:prstGeom prst="rect">
            <a:avLst/>
          </a:prstGeom>
        </p:spPr>
      </p:pic>
      <p:sp>
        <p:nvSpPr>
          <p:cNvPr id="11" name="Text 6"/>
          <p:cNvSpPr txBox="1"/>
          <p:nvPr/>
        </p:nvSpPr>
        <p:spPr>
          <a:xfrm>
            <a:off x="1325880" y="3108960"/>
            <a:ext cx="4480560" cy="4572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Comparison and questions about a listing</a:t>
            </a:r>
            <a:endParaRPr lang="en-US" sz="1600" dirty="0"/>
          </a:p>
        </p:txBody>
      </p:sp>
      <p:sp>
        <p:nvSpPr>
          <p:cNvPr id="12" name="Fonction 4 cercle"/>
          <p:cNvSpPr/>
          <p:nvPr/>
        </p:nvSpPr>
        <p:spPr>
          <a:xfrm>
            <a:off x="548640" y="3822192"/>
            <a:ext cx="566928" cy="566928"/>
          </a:xfrm>
          <a:prstGeom prst="ellipse">
            <a:avLst/>
          </a:prstGeom>
          <a:solidFill>
            <a:srgbClr val="0F6B52"/>
          </a:solidFill>
          <a:ln w="12700">
            <a:solidFill>
              <a:srgbClr val="0F6B52"/>
            </a:solidFill>
            <a:prstDash val="solid"/>
          </a:ln>
        </p:spPr>
      </p:sp>
      <p:pic>
        <p:nvPicPr>
          <p:cNvPr id="13" name="Fonction 4 icône" descr="preencoded.png">    </p:cNvPr>
          <p:cNvPicPr>
            <a:picLocks noChangeAspect="1"/>
          </p:cNvPicPr>
          <p:nvPr/>
        </p:nvPicPr>
        <p:blipFill>
          <a:blip r:embed="rId4"/>
          <a:stretch>
            <a:fillRect/>
          </a:stretch>
        </p:blipFill>
        <p:spPr>
          <a:xfrm>
            <a:off x="684703" y="3958255"/>
            <a:ext cx="294803" cy="294803"/>
          </a:xfrm>
          <a:prstGeom prst="rect">
            <a:avLst/>
          </a:prstGeom>
        </p:spPr>
      </p:pic>
      <p:sp>
        <p:nvSpPr>
          <p:cNvPr id="14" name="Text 8"/>
          <p:cNvSpPr txBox="1"/>
          <p:nvPr/>
        </p:nvSpPr>
        <p:spPr>
          <a:xfrm>
            <a:off x="1325880" y="3895344"/>
            <a:ext cx="4480560" cy="4572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Real photo or AI illustration of a room</a:t>
            </a:r>
            <a:endParaRPr lang="en-US" sz="1600" dirty="0"/>
          </a:p>
        </p:txBody>
      </p:sp>
      <p:sp>
        <p:nvSpPr>
          <p:cNvPr id="15" name="Fonction 5 cercle"/>
          <p:cNvSpPr/>
          <p:nvPr/>
        </p:nvSpPr>
        <p:spPr>
          <a:xfrm>
            <a:off x="548640" y="4608576"/>
            <a:ext cx="566928" cy="566928"/>
          </a:xfrm>
          <a:prstGeom prst="ellipse">
            <a:avLst/>
          </a:prstGeom>
          <a:solidFill>
            <a:srgbClr val="0F6B52"/>
          </a:solidFill>
          <a:ln w="12700">
            <a:solidFill>
              <a:srgbClr val="0F6B52"/>
            </a:solidFill>
            <a:prstDash val="solid"/>
          </a:ln>
        </p:spPr>
      </p:sp>
      <p:pic>
        <p:nvPicPr>
          <p:cNvPr id="16" name="Fonction 5 icône" descr="preencoded.png">    </p:cNvPr>
          <p:cNvPicPr>
            <a:picLocks noChangeAspect="1"/>
          </p:cNvPicPr>
          <p:nvPr/>
        </p:nvPicPr>
        <p:blipFill>
          <a:blip r:embed="rId5"/>
          <a:stretch>
            <a:fillRect/>
          </a:stretch>
        </p:blipFill>
        <p:spPr>
          <a:xfrm>
            <a:off x="684703" y="4744639"/>
            <a:ext cx="294803" cy="294803"/>
          </a:xfrm>
          <a:prstGeom prst="rect">
            <a:avLst/>
          </a:prstGeom>
        </p:spPr>
      </p:pic>
      <p:sp>
        <p:nvSpPr>
          <p:cNvPr id="17" name="Text 10"/>
          <p:cNvSpPr txBox="1"/>
          <p:nvPr/>
        </p:nvSpPr>
        <p:spPr>
          <a:xfrm>
            <a:off x="1325880" y="4681728"/>
            <a:ext cx="4480560" cy="4572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Listing submission approved by an administrator</a:t>
            </a:r>
            <a:endParaRPr lang="en-US" sz="1600" dirty="0"/>
          </a:p>
        </p:txBody>
      </p:sp>
      <p:sp>
        <p:nvSpPr>
          <p:cNvPr id="18" name="Fonction 6 cercle"/>
          <p:cNvSpPr/>
          <p:nvPr/>
        </p:nvSpPr>
        <p:spPr>
          <a:xfrm>
            <a:off x="548640" y="5394960"/>
            <a:ext cx="566928" cy="566928"/>
          </a:xfrm>
          <a:prstGeom prst="ellipse">
            <a:avLst/>
          </a:prstGeom>
          <a:solidFill>
            <a:srgbClr val="0F6B52"/>
          </a:solidFill>
          <a:ln w="12700">
            <a:solidFill>
              <a:srgbClr val="0F6B52"/>
            </a:solidFill>
            <a:prstDash val="solid"/>
          </a:ln>
        </p:spPr>
      </p:sp>
      <p:pic>
        <p:nvPicPr>
          <p:cNvPr id="19" name="Fonction 6 icône" descr="preencoded.png">    </p:cNvPr>
          <p:cNvPicPr>
            <a:picLocks noChangeAspect="1"/>
          </p:cNvPicPr>
          <p:nvPr/>
        </p:nvPicPr>
        <p:blipFill>
          <a:blip r:embed="rId6"/>
          <a:stretch>
            <a:fillRect/>
          </a:stretch>
        </p:blipFill>
        <p:spPr>
          <a:xfrm>
            <a:off x="684703" y="5531023"/>
            <a:ext cx="294803" cy="294803"/>
          </a:xfrm>
          <a:prstGeom prst="rect">
            <a:avLst/>
          </a:prstGeom>
        </p:spPr>
      </p:pic>
      <p:sp>
        <p:nvSpPr>
          <p:cNvPr id="20" name="Text 12"/>
          <p:cNvSpPr txBox="1"/>
          <p:nvPr/>
        </p:nvSpPr>
        <p:spPr>
          <a:xfrm>
            <a:off x="1325880" y="5468112"/>
            <a:ext cx="4480560" cy="4572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Payment scams and injections blocked</a:t>
            </a:r>
            <a:endParaRPr lang="en-US" sz="1600" dirty="0"/>
          </a:p>
        </p:txBody>
      </p:sp>
      <p:pic>
        <p:nvPicPr>
          <p:cNvPr id="21" name="Capture du chat" descr="Kwatsur screenshot: reply written by Nemotron via Meterless, Scout trace and a refused payment">    </p:cNvPr>
          <p:cNvPicPr>
            <a:picLocks noChangeAspect="1"/>
          </p:cNvPicPr>
          <p:nvPr/>
        </p:nvPicPr>
        <p:blipFill>
          <a:blip r:embed="rId7"/>
          <a:stretch>
            <a:fillRect/>
          </a:stretch>
        </p:blipFill>
        <p:spPr>
          <a:xfrm>
            <a:off x="5989320" y="1417320"/>
            <a:ext cx="5650992" cy="3017520"/>
          </a:xfrm>
          <a:prstGeom prst="rect">
            <a:avLst/>
          </a:prstGeom>
        </p:spPr>
      </p:pic>
      <p:sp>
        <p:nvSpPr>
          <p:cNvPr id="22" name="Text 13"/>
          <p:cNvSpPr txBox="1"/>
          <p:nvPr/>
        </p:nvSpPr>
        <p:spPr>
          <a:xfrm>
            <a:off x="5989320" y="4526280"/>
            <a:ext cx="5650992" cy="548640"/>
          </a:xfrm>
          <a:prstGeom prst="rect">
            <a:avLst/>
          </a:prstGeom>
          <a:noFill/>
          <a:ln/>
        </p:spPr>
        <p:txBody>
          <a:bodyPr wrap="square" lIns="0" tIns="0" rIns="0" bIns="0" rtlCol="0" anchor="t"/>
          <a:lstStyle/>
          <a:p>
            <a:pPr indent="0" marL="0">
              <a:buNone/>
            </a:pPr>
            <a:r>
              <a:rPr lang="en-US" sz="1200" i="1" dirty="0">
                <a:solidFill>
                  <a:schemeClr val="accent6"/>
                </a:solidFill>
                <a:latin typeface="Calibri" pitchFamily="34" charset="0"/>
                <a:ea typeface="Calibri" pitchFamily="34" charset="-122"/>
                <a:cs typeface="Calibri" pitchFamily="34" charset="-120"/>
              </a:rPr>
              <a:t>Real screenshot (French UI): Nemotron reply via Meterless, listings read via Zetaris, Scout trace, then a refused payment.</a:t>
            </a:r>
            <a:endParaRPr lang="en-US" sz="1200" dirty="0"/>
          </a:p>
        </p:txBody>
      </p:sp>
      <p:sp>
        <p:nvSpPr>
          <p:cNvPr id="23" name="Règle d'or"/>
          <p:cNvSpPr/>
          <p:nvPr/>
        </p:nvSpPr>
        <p:spPr>
          <a:xfrm>
            <a:off x="5989320" y="5212080"/>
            <a:ext cx="5650992" cy="868680"/>
          </a:xfrm>
          <a:prstGeom prst="roundRect">
            <a:avLst>
              <a:gd name="adj" fmla="val 12632"/>
            </a:avLst>
          </a:prstGeom>
          <a:solidFill>
            <a:srgbClr val="D8EFE6"/>
          </a:solidFill>
          <a:ln w="12700">
            <a:solidFill>
              <a:srgbClr val="D8EFE6"/>
            </a:solidFill>
            <a:prstDash val="solid"/>
          </a:ln>
          <a:effectLst>
            <a:outerShdw sx="100000" sy="100000" kx="0" ky="0" algn="bl" rotWithShape="0" blurRad="101600" dist="25400" dir="5400000">
              <a:srgbClr val="14231C">
                <a:alpha val="12000"/>
              </a:srgbClr>
            </a:outerShdw>
          </a:effectLst>
        </p:spPr>
      </p:sp>
      <p:sp>
        <p:nvSpPr>
          <p:cNvPr id="24" name="Text 15"/>
          <p:cNvSpPr txBox="1"/>
          <p:nvPr/>
        </p:nvSpPr>
        <p:spPr>
          <a:xfrm>
            <a:off x="6217920" y="5349240"/>
            <a:ext cx="5212080" cy="59436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AI understands and explains. Code decides.</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The journey of a message</a:t>
            </a:r>
            <a:endParaRPr lang="en-US" sz="3400" dirty="0"/>
          </a:p>
        </p:txBody>
      </p:sp>
      <p:sp>
        <p:nvSpPr>
          <p:cNvPr id="3" name="Étape 1"/>
          <p:cNvSpPr/>
          <p:nvPr/>
        </p:nvSpPr>
        <p:spPr>
          <a:xfrm>
            <a:off x="548640" y="1828800"/>
            <a:ext cx="1700784" cy="2286000"/>
          </a:xfrm>
          <a:prstGeom prst="roundRect">
            <a:avLst>
              <a:gd name="adj" fmla="val 6452"/>
            </a:avLst>
          </a:prstGeom>
          <a:solidFill>
            <a:srgbClr val="C2562F"/>
          </a:solidFill>
          <a:ln w="12700">
            <a:solidFill>
              <a:srgbClr val="C2562F"/>
            </a:solidFill>
            <a:prstDash val="solid"/>
          </a:ln>
          <a:effectLst>
            <a:outerShdw sx="100000" sy="100000" kx="0" ky="0" algn="bl" rotWithShape="0" blurRad="101600" dist="25400" dir="5400000">
              <a:srgbClr val="14231C">
                <a:alpha val="12000"/>
              </a:srgbClr>
            </a:outerShdw>
          </a:effectLst>
        </p:spPr>
      </p:sp>
      <p:sp>
        <p:nvSpPr>
          <p:cNvPr id="4" name="Text 2"/>
          <p:cNvSpPr txBox="1"/>
          <p:nvPr/>
        </p:nvSpPr>
        <p:spPr>
          <a:xfrm>
            <a:off x="731520" y="1965960"/>
            <a:ext cx="914400" cy="54864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1</a:t>
            </a:r>
            <a:endParaRPr lang="en-US" sz="2800" dirty="0"/>
          </a:p>
        </p:txBody>
      </p:sp>
      <p:sp>
        <p:nvSpPr>
          <p:cNvPr id="5" name="Text 3"/>
          <p:cNvSpPr txBox="1"/>
          <p:nvPr/>
        </p:nvSpPr>
        <p:spPr>
          <a:xfrm>
            <a:off x="731520" y="2606040"/>
            <a:ext cx="1380744" cy="457200"/>
          </a:xfrm>
          <a:prstGeom prst="rect">
            <a:avLst/>
          </a:prstGeom>
          <a:noFill/>
          <a:ln/>
        </p:spPr>
        <p:txBody>
          <a:bodyPr wrap="square" lIns="0" tIns="0" rIns="0" bIns="0" rtlCol="0" anchor="t"/>
          <a:lstStyle/>
          <a:p>
            <a:pPr indent="0" marL="0">
              <a:buNone/>
            </a:pPr>
            <a:r>
              <a:rPr lang="en-US" sz="1700" b="1" dirty="0">
                <a:solidFill>
                  <a:schemeClr val="bg1"/>
                </a:solidFill>
                <a:latin typeface="Calibri" pitchFamily="34" charset="0"/>
                <a:ea typeface="Calibri" pitchFamily="34" charset="-122"/>
                <a:cs typeface="Calibri" pitchFamily="34" charset="-120"/>
              </a:rPr>
              <a:t>Scout Intent</a:t>
            </a:r>
            <a:endParaRPr lang="en-US" sz="1700" dirty="0"/>
          </a:p>
        </p:txBody>
      </p:sp>
      <p:sp>
        <p:nvSpPr>
          <p:cNvPr id="6" name="Text 4"/>
          <p:cNvSpPr txBox="1"/>
          <p:nvPr/>
        </p:nvSpPr>
        <p:spPr>
          <a:xfrm>
            <a:off x="731520" y="3108960"/>
            <a:ext cx="1380744" cy="91440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Intent, guard, signed contract</a:t>
            </a:r>
            <a:endParaRPr lang="en-US" sz="1300" dirty="0"/>
          </a:p>
        </p:txBody>
      </p:sp>
      <p:sp>
        <p:nvSpPr>
          <p:cNvPr id="7" name="Flèche 1"/>
          <p:cNvSpPr/>
          <p:nvPr/>
        </p:nvSpPr>
        <p:spPr>
          <a:xfrm rot="5400000">
            <a:off x="2256099" y="2880360"/>
            <a:ext cx="201168" cy="164592"/>
          </a:xfrm>
          <a:prstGeom prst="triangle">
            <a:avLst/>
          </a:prstGeom>
          <a:solidFill>
            <a:srgbClr val="6B7F74"/>
          </a:solidFill>
          <a:ln w="12700">
            <a:solidFill>
              <a:srgbClr val="6B7F74"/>
            </a:solidFill>
            <a:prstDash val="solid"/>
          </a:ln>
        </p:spPr>
      </p:sp>
      <p:sp>
        <p:nvSpPr>
          <p:cNvPr id="8" name="Étape 2"/>
          <p:cNvSpPr/>
          <p:nvPr/>
        </p:nvSpPr>
        <p:spPr>
          <a:xfrm>
            <a:off x="2427366" y="1828800"/>
            <a:ext cx="1700784" cy="2286000"/>
          </a:xfrm>
          <a:prstGeom prst="roundRect">
            <a:avLst>
              <a:gd name="adj" fmla="val 6452"/>
            </a:avLst>
          </a:prstGeom>
          <a:solidFill>
            <a:srgbClr val="0F6B52"/>
          </a:solidFill>
          <a:ln w="12700">
            <a:solidFill>
              <a:srgbClr val="0F6B52"/>
            </a:solidFill>
            <a:prstDash val="solid"/>
          </a:ln>
          <a:effectLst>
            <a:outerShdw sx="100000" sy="100000" kx="0" ky="0" algn="bl" rotWithShape="0" blurRad="101600" dist="25400" dir="5400000">
              <a:srgbClr val="14231C">
                <a:alpha val="12000"/>
              </a:srgbClr>
            </a:outerShdw>
          </a:effectLst>
        </p:spPr>
      </p:sp>
      <p:sp>
        <p:nvSpPr>
          <p:cNvPr id="9" name="Text 7"/>
          <p:cNvSpPr txBox="1"/>
          <p:nvPr/>
        </p:nvSpPr>
        <p:spPr>
          <a:xfrm>
            <a:off x="2610246" y="1965960"/>
            <a:ext cx="914400" cy="54864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2</a:t>
            </a:r>
            <a:endParaRPr lang="en-US" sz="2800" dirty="0"/>
          </a:p>
        </p:txBody>
      </p:sp>
      <p:sp>
        <p:nvSpPr>
          <p:cNvPr id="10" name="Text 8"/>
          <p:cNvSpPr txBox="1"/>
          <p:nvPr/>
        </p:nvSpPr>
        <p:spPr>
          <a:xfrm>
            <a:off x="2610246" y="2606040"/>
            <a:ext cx="1380744" cy="457200"/>
          </a:xfrm>
          <a:prstGeom prst="rect">
            <a:avLst/>
          </a:prstGeom>
          <a:noFill/>
          <a:ln/>
        </p:spPr>
        <p:txBody>
          <a:bodyPr wrap="square" lIns="0" tIns="0" rIns="0" bIns="0" rtlCol="0" anchor="t"/>
          <a:lstStyle/>
          <a:p>
            <a:pPr indent="0" marL="0">
              <a:buNone/>
            </a:pPr>
            <a:r>
              <a:rPr lang="en-US" sz="1700" b="1" dirty="0">
                <a:solidFill>
                  <a:schemeClr val="bg1"/>
                </a:solidFill>
                <a:latin typeface="Calibri" pitchFamily="34" charset="0"/>
                <a:ea typeface="Calibri" pitchFamily="34" charset="-122"/>
                <a:cs typeface="Calibri" pitchFamily="34" charset="-120"/>
              </a:rPr>
              <a:t>Nemotron</a:t>
            </a:r>
            <a:endParaRPr lang="en-US" sz="1700" dirty="0"/>
          </a:p>
        </p:txBody>
      </p:sp>
      <p:sp>
        <p:nvSpPr>
          <p:cNvPr id="11" name="Text 9"/>
          <p:cNvSpPr txBox="1"/>
          <p:nvPr/>
        </p:nvSpPr>
        <p:spPr>
          <a:xfrm>
            <a:off x="2610246" y="3108960"/>
            <a:ext cx="1380744" cy="91440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Sentence → validated JSON criteria</a:t>
            </a:r>
            <a:endParaRPr lang="en-US" sz="1300" dirty="0"/>
          </a:p>
        </p:txBody>
      </p:sp>
      <p:sp>
        <p:nvSpPr>
          <p:cNvPr id="12" name="Flèche 2"/>
          <p:cNvSpPr/>
          <p:nvPr/>
        </p:nvSpPr>
        <p:spPr>
          <a:xfrm rot="5400000">
            <a:off x="4134825" y="2880360"/>
            <a:ext cx="201168" cy="164592"/>
          </a:xfrm>
          <a:prstGeom prst="triangle">
            <a:avLst/>
          </a:prstGeom>
          <a:solidFill>
            <a:srgbClr val="6B7F74"/>
          </a:solidFill>
          <a:ln w="12700">
            <a:solidFill>
              <a:srgbClr val="6B7F74"/>
            </a:solidFill>
            <a:prstDash val="solid"/>
          </a:ln>
        </p:spPr>
      </p:sp>
      <p:sp>
        <p:nvSpPr>
          <p:cNvPr id="13" name="Étape 3"/>
          <p:cNvSpPr/>
          <p:nvPr/>
        </p:nvSpPr>
        <p:spPr>
          <a:xfrm>
            <a:off x="4306092" y="1828800"/>
            <a:ext cx="1700784" cy="2286000"/>
          </a:xfrm>
          <a:prstGeom prst="roundRect">
            <a:avLst>
              <a:gd name="adj" fmla="val 6452"/>
            </a:avLst>
          </a:prstGeom>
          <a:solidFill>
            <a:srgbClr val="0F6B52"/>
          </a:solidFill>
          <a:ln w="12700">
            <a:solidFill>
              <a:srgbClr val="0F6B52"/>
            </a:solidFill>
            <a:prstDash val="solid"/>
          </a:ln>
          <a:effectLst>
            <a:outerShdw sx="100000" sy="100000" kx="0" ky="0" algn="bl" rotWithShape="0" blurRad="101600" dist="25400" dir="5400000">
              <a:srgbClr val="14231C">
                <a:alpha val="12000"/>
              </a:srgbClr>
            </a:outerShdw>
          </a:effectLst>
        </p:spPr>
      </p:sp>
      <p:sp>
        <p:nvSpPr>
          <p:cNvPr id="14" name="Text 12"/>
          <p:cNvSpPr txBox="1"/>
          <p:nvPr/>
        </p:nvSpPr>
        <p:spPr>
          <a:xfrm>
            <a:off x="4488972" y="1965960"/>
            <a:ext cx="914400" cy="54864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3</a:t>
            </a:r>
            <a:endParaRPr lang="en-US" sz="2800" dirty="0"/>
          </a:p>
        </p:txBody>
      </p:sp>
      <p:sp>
        <p:nvSpPr>
          <p:cNvPr id="15" name="Text 13"/>
          <p:cNvSpPr txBox="1"/>
          <p:nvPr/>
        </p:nvSpPr>
        <p:spPr>
          <a:xfrm>
            <a:off x="4488972" y="2606040"/>
            <a:ext cx="1380744" cy="457200"/>
          </a:xfrm>
          <a:prstGeom prst="rect">
            <a:avLst/>
          </a:prstGeom>
          <a:noFill/>
          <a:ln/>
        </p:spPr>
        <p:txBody>
          <a:bodyPr wrap="square" lIns="0" tIns="0" rIns="0" bIns="0" rtlCol="0" anchor="t"/>
          <a:lstStyle/>
          <a:p>
            <a:pPr indent="0" marL="0">
              <a:buNone/>
            </a:pPr>
            <a:r>
              <a:rPr lang="en-US" sz="1700" b="1" dirty="0">
                <a:solidFill>
                  <a:schemeClr val="bg1"/>
                </a:solidFill>
                <a:latin typeface="Calibri" pitchFamily="34" charset="0"/>
                <a:ea typeface="Calibri" pitchFamily="34" charset="-122"/>
                <a:cs typeface="Calibri" pitchFamily="34" charset="-120"/>
              </a:rPr>
              <a:t>Zetaris</a:t>
            </a:r>
            <a:endParaRPr lang="en-US" sz="1700" dirty="0"/>
          </a:p>
        </p:txBody>
      </p:sp>
      <p:sp>
        <p:nvSpPr>
          <p:cNvPr id="16" name="Text 14"/>
          <p:cNvSpPr txBox="1"/>
          <p:nvPr/>
        </p:nvSpPr>
        <p:spPr>
          <a:xfrm>
            <a:off x="4488972" y="3108960"/>
            <a:ext cx="1380744" cy="91440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Listings via SQL (REST API)</a:t>
            </a:r>
            <a:endParaRPr lang="en-US" sz="1300" dirty="0"/>
          </a:p>
        </p:txBody>
      </p:sp>
      <p:sp>
        <p:nvSpPr>
          <p:cNvPr id="17" name="Flèche 3"/>
          <p:cNvSpPr/>
          <p:nvPr/>
        </p:nvSpPr>
        <p:spPr>
          <a:xfrm rot="5400000">
            <a:off x="6013552" y="2880360"/>
            <a:ext cx="201168" cy="164592"/>
          </a:xfrm>
          <a:prstGeom prst="triangle">
            <a:avLst/>
          </a:prstGeom>
          <a:solidFill>
            <a:srgbClr val="6B7F74"/>
          </a:solidFill>
          <a:ln w="12700">
            <a:solidFill>
              <a:srgbClr val="6B7F74"/>
            </a:solidFill>
            <a:prstDash val="solid"/>
          </a:ln>
        </p:spPr>
      </p:sp>
      <p:sp>
        <p:nvSpPr>
          <p:cNvPr id="18" name="Étape 4"/>
          <p:cNvSpPr/>
          <p:nvPr/>
        </p:nvSpPr>
        <p:spPr>
          <a:xfrm>
            <a:off x="6184819" y="1828800"/>
            <a:ext cx="1700784" cy="2286000"/>
          </a:xfrm>
          <a:prstGeom prst="roundRect">
            <a:avLst>
              <a:gd name="adj" fmla="val 6452"/>
            </a:avLst>
          </a:prstGeom>
          <a:solidFill>
            <a:srgbClr val="0A4A39"/>
          </a:solidFill>
          <a:ln w="12700">
            <a:solidFill>
              <a:srgbClr val="0A4A39"/>
            </a:solidFill>
            <a:prstDash val="solid"/>
          </a:ln>
          <a:effectLst>
            <a:outerShdw sx="100000" sy="100000" kx="0" ky="0" algn="bl" rotWithShape="0" blurRad="101600" dist="25400" dir="5400000">
              <a:srgbClr val="14231C">
                <a:alpha val="12000"/>
              </a:srgbClr>
            </a:outerShdw>
          </a:effectLst>
        </p:spPr>
      </p:sp>
      <p:sp>
        <p:nvSpPr>
          <p:cNvPr id="19" name="Text 17"/>
          <p:cNvSpPr txBox="1"/>
          <p:nvPr/>
        </p:nvSpPr>
        <p:spPr>
          <a:xfrm>
            <a:off x="6367699" y="1965960"/>
            <a:ext cx="914400" cy="54864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4</a:t>
            </a:r>
            <a:endParaRPr lang="en-US" sz="2800" dirty="0"/>
          </a:p>
        </p:txBody>
      </p:sp>
      <p:sp>
        <p:nvSpPr>
          <p:cNvPr id="20" name="Text 18"/>
          <p:cNvSpPr txBox="1"/>
          <p:nvPr/>
        </p:nvSpPr>
        <p:spPr>
          <a:xfrm>
            <a:off x="6367699" y="2606040"/>
            <a:ext cx="1380744" cy="457200"/>
          </a:xfrm>
          <a:prstGeom prst="rect">
            <a:avLst/>
          </a:prstGeom>
          <a:noFill/>
          <a:ln/>
        </p:spPr>
        <p:txBody>
          <a:bodyPr wrap="square" lIns="0" tIns="0" rIns="0" bIns="0" rtlCol="0" anchor="t"/>
          <a:lstStyle/>
          <a:p>
            <a:pPr indent="0" marL="0">
              <a:buNone/>
            </a:pPr>
            <a:r>
              <a:rPr lang="en-US" sz="1700" b="1" dirty="0">
                <a:solidFill>
                  <a:schemeClr val="bg1"/>
                </a:solidFill>
                <a:latin typeface="Calibri" pitchFamily="34" charset="0"/>
                <a:ea typeface="Calibri" pitchFamily="34" charset="-122"/>
                <a:cs typeface="Calibri" pitchFamily="34" charset="-120"/>
              </a:rPr>
              <a:t>Kwatsur code</a:t>
            </a:r>
            <a:endParaRPr lang="en-US" sz="1700" dirty="0"/>
          </a:p>
        </p:txBody>
      </p:sp>
      <p:sp>
        <p:nvSpPr>
          <p:cNvPr id="21" name="Text 19"/>
          <p:cNvSpPr txBox="1"/>
          <p:nvPr/>
        </p:nvSpPr>
        <p:spPr>
          <a:xfrm>
            <a:off x="6367699" y="3108960"/>
            <a:ext cx="1380744" cy="91440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Filters, ranking, risks</a:t>
            </a:r>
            <a:endParaRPr lang="en-US" sz="1300" dirty="0"/>
          </a:p>
        </p:txBody>
      </p:sp>
      <p:sp>
        <p:nvSpPr>
          <p:cNvPr id="22" name="Flèche 4"/>
          <p:cNvSpPr/>
          <p:nvPr/>
        </p:nvSpPr>
        <p:spPr>
          <a:xfrm rot="5400000">
            <a:off x="7892278" y="2880360"/>
            <a:ext cx="201168" cy="164592"/>
          </a:xfrm>
          <a:prstGeom prst="triangle">
            <a:avLst/>
          </a:prstGeom>
          <a:solidFill>
            <a:srgbClr val="6B7F74"/>
          </a:solidFill>
          <a:ln w="12700">
            <a:solidFill>
              <a:srgbClr val="6B7F74"/>
            </a:solidFill>
            <a:prstDash val="solid"/>
          </a:ln>
        </p:spPr>
      </p:sp>
      <p:sp>
        <p:nvSpPr>
          <p:cNvPr id="23" name="Étape 5"/>
          <p:cNvSpPr/>
          <p:nvPr/>
        </p:nvSpPr>
        <p:spPr>
          <a:xfrm>
            <a:off x="8063545" y="1828800"/>
            <a:ext cx="1700784" cy="2286000"/>
          </a:xfrm>
          <a:prstGeom prst="roundRect">
            <a:avLst>
              <a:gd name="adj" fmla="val 6452"/>
            </a:avLst>
          </a:prstGeom>
          <a:solidFill>
            <a:srgbClr val="0F6B52"/>
          </a:solidFill>
          <a:ln w="12700">
            <a:solidFill>
              <a:srgbClr val="0F6B52"/>
            </a:solidFill>
            <a:prstDash val="solid"/>
          </a:ln>
          <a:effectLst>
            <a:outerShdw sx="100000" sy="100000" kx="0" ky="0" algn="bl" rotWithShape="0" blurRad="101600" dist="25400" dir="5400000">
              <a:srgbClr val="14231C">
                <a:alpha val="12000"/>
              </a:srgbClr>
            </a:outerShdw>
          </a:effectLst>
        </p:spPr>
      </p:sp>
      <p:sp>
        <p:nvSpPr>
          <p:cNvPr id="24" name="Text 22"/>
          <p:cNvSpPr txBox="1"/>
          <p:nvPr/>
        </p:nvSpPr>
        <p:spPr>
          <a:xfrm>
            <a:off x="8246425" y="1965960"/>
            <a:ext cx="914400" cy="54864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5</a:t>
            </a:r>
            <a:endParaRPr lang="en-US" sz="2800" dirty="0"/>
          </a:p>
        </p:txBody>
      </p:sp>
      <p:sp>
        <p:nvSpPr>
          <p:cNvPr id="25" name="Text 23"/>
          <p:cNvSpPr txBox="1"/>
          <p:nvPr/>
        </p:nvSpPr>
        <p:spPr>
          <a:xfrm>
            <a:off x="8246425" y="2606040"/>
            <a:ext cx="1380744" cy="457200"/>
          </a:xfrm>
          <a:prstGeom prst="rect">
            <a:avLst/>
          </a:prstGeom>
          <a:noFill/>
          <a:ln/>
        </p:spPr>
        <p:txBody>
          <a:bodyPr wrap="square" lIns="0" tIns="0" rIns="0" bIns="0" rtlCol="0" anchor="t"/>
          <a:lstStyle/>
          <a:p>
            <a:pPr indent="0" marL="0">
              <a:buNone/>
            </a:pPr>
            <a:r>
              <a:rPr lang="en-US" sz="1700" b="1" dirty="0">
                <a:solidFill>
                  <a:schemeClr val="bg1"/>
                </a:solidFill>
                <a:latin typeface="Calibri" pitchFamily="34" charset="0"/>
                <a:ea typeface="Calibri" pitchFamily="34" charset="-122"/>
                <a:cs typeface="Calibri" pitchFamily="34" charset="-120"/>
              </a:rPr>
              <a:t>Nemotron</a:t>
            </a:r>
            <a:endParaRPr lang="en-US" sz="1700" dirty="0"/>
          </a:p>
        </p:txBody>
      </p:sp>
      <p:sp>
        <p:nvSpPr>
          <p:cNvPr id="26" name="Text 24"/>
          <p:cNvSpPr txBox="1"/>
          <p:nvPr/>
        </p:nvSpPr>
        <p:spPr>
          <a:xfrm>
            <a:off x="8246425" y="3108960"/>
            <a:ext cx="1380744" cy="91440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Explanation from the facts</a:t>
            </a:r>
            <a:endParaRPr lang="en-US" sz="1300" dirty="0"/>
          </a:p>
        </p:txBody>
      </p:sp>
      <p:sp>
        <p:nvSpPr>
          <p:cNvPr id="27" name="Flèche 5"/>
          <p:cNvSpPr/>
          <p:nvPr/>
        </p:nvSpPr>
        <p:spPr>
          <a:xfrm rot="5400000">
            <a:off x="9771004" y="2880360"/>
            <a:ext cx="201168" cy="164592"/>
          </a:xfrm>
          <a:prstGeom prst="triangle">
            <a:avLst/>
          </a:prstGeom>
          <a:solidFill>
            <a:srgbClr val="6B7F74"/>
          </a:solidFill>
          <a:ln w="12700">
            <a:solidFill>
              <a:srgbClr val="6B7F74"/>
            </a:solidFill>
            <a:prstDash val="solid"/>
          </a:ln>
        </p:spPr>
      </p:sp>
      <p:sp>
        <p:nvSpPr>
          <p:cNvPr id="28" name="Étape 6"/>
          <p:cNvSpPr/>
          <p:nvPr/>
        </p:nvSpPr>
        <p:spPr>
          <a:xfrm>
            <a:off x="9942271" y="1828800"/>
            <a:ext cx="1700784" cy="2286000"/>
          </a:xfrm>
          <a:prstGeom prst="roundRect">
            <a:avLst>
              <a:gd name="adj" fmla="val 6452"/>
            </a:avLst>
          </a:prstGeom>
          <a:solidFill>
            <a:srgbClr val="0A4A39"/>
          </a:solidFill>
          <a:ln w="12700">
            <a:solidFill>
              <a:srgbClr val="0A4A39"/>
            </a:solidFill>
            <a:prstDash val="solid"/>
          </a:ln>
          <a:effectLst>
            <a:outerShdw sx="100000" sy="100000" kx="0" ky="0" algn="bl" rotWithShape="0" blurRad="101600" dist="25400" dir="5400000">
              <a:srgbClr val="14231C">
                <a:alpha val="12000"/>
              </a:srgbClr>
            </a:outerShdw>
          </a:effectLst>
        </p:spPr>
      </p:sp>
      <p:sp>
        <p:nvSpPr>
          <p:cNvPr id="29" name="Text 27"/>
          <p:cNvSpPr txBox="1"/>
          <p:nvPr/>
        </p:nvSpPr>
        <p:spPr>
          <a:xfrm>
            <a:off x="10125151" y="1965960"/>
            <a:ext cx="914400" cy="54864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6</a:t>
            </a:r>
            <a:endParaRPr lang="en-US" sz="2800" dirty="0"/>
          </a:p>
        </p:txBody>
      </p:sp>
      <p:sp>
        <p:nvSpPr>
          <p:cNvPr id="30" name="Text 28"/>
          <p:cNvSpPr txBox="1"/>
          <p:nvPr/>
        </p:nvSpPr>
        <p:spPr>
          <a:xfrm>
            <a:off x="10125151" y="2606040"/>
            <a:ext cx="1380744" cy="457200"/>
          </a:xfrm>
          <a:prstGeom prst="rect">
            <a:avLst/>
          </a:prstGeom>
          <a:noFill/>
          <a:ln/>
        </p:spPr>
        <p:txBody>
          <a:bodyPr wrap="square" lIns="0" tIns="0" rIns="0" bIns="0" rtlCol="0" anchor="t"/>
          <a:lstStyle/>
          <a:p>
            <a:pPr indent="0" marL="0">
              <a:buNone/>
            </a:pPr>
            <a:r>
              <a:rPr lang="en-US" sz="1700" b="1" dirty="0">
                <a:solidFill>
                  <a:schemeClr val="bg1"/>
                </a:solidFill>
                <a:latin typeface="Calibri" pitchFamily="34" charset="0"/>
                <a:ea typeface="Calibri" pitchFamily="34" charset="-122"/>
                <a:cs typeface="Calibri" pitchFamily="34" charset="-120"/>
              </a:rPr>
              <a:t>Interface</a:t>
            </a:r>
            <a:endParaRPr lang="en-US" sz="1700" dirty="0"/>
          </a:p>
        </p:txBody>
      </p:sp>
      <p:sp>
        <p:nvSpPr>
          <p:cNvPr id="31" name="Text 29"/>
          <p:cNvSpPr txBox="1"/>
          <p:nvPr/>
        </p:nvSpPr>
        <p:spPr>
          <a:xfrm>
            <a:off x="10125151" y="3108960"/>
            <a:ext cx="1380744" cy="91440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Cards, images, voice</a:t>
            </a:r>
            <a:endParaRPr lang="en-US" sz="1300" dirty="0"/>
          </a:p>
        </p:txBody>
      </p:sp>
      <p:sp>
        <p:nvSpPr>
          <p:cNvPr id="32" name="Garanties"/>
          <p:cNvSpPr/>
          <p:nvPr/>
        </p:nvSpPr>
        <p:spPr>
          <a:xfrm>
            <a:off x="548640" y="4526280"/>
            <a:ext cx="11094415" cy="1463040"/>
          </a:xfrm>
          <a:prstGeom prst="roundRect">
            <a:avLst>
              <a:gd name="adj" fmla="val 7500"/>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33" name="Text 31"/>
          <p:cNvSpPr txBox="1"/>
          <p:nvPr/>
        </p:nvSpPr>
        <p:spPr>
          <a:xfrm>
            <a:off x="822960" y="4681728"/>
            <a:ext cx="10545775" cy="118872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Without a valid Scout contract, no tool acts: signed contract (HMAC), valid 5 min, checked by every tool.</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Every reply carries its trace: intent, contract, tools, model (nvidia/nemotron-3-ultra-550b-a55b), source (Zetaris).</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Unknown ≠ no: missing information stays "not specified" and is flagged "to check".</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The tech stack</a:t>
            </a:r>
            <a:endParaRPr lang="en-US" sz="3400" dirty="0"/>
          </a:p>
        </p:txBody>
      </p:sp>
      <p:sp>
        <p:nvSpPr>
          <p:cNvPr id="3" name="Pile Data"/>
          <p:cNvSpPr/>
          <p:nvPr/>
        </p:nvSpPr>
        <p:spPr>
          <a:xfrm>
            <a:off x="548640" y="1508760"/>
            <a:ext cx="3538728" cy="2103120"/>
          </a:xfrm>
          <a:prstGeom prst="roundRect">
            <a:avLst>
              <a:gd name="adj" fmla="val 5217"/>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4" name="Pile Data cercle"/>
          <p:cNvSpPr/>
          <p:nvPr/>
        </p:nvSpPr>
        <p:spPr>
          <a:xfrm>
            <a:off x="822960" y="1783080"/>
            <a:ext cx="731520" cy="731520"/>
          </a:xfrm>
          <a:prstGeom prst="ellipse">
            <a:avLst/>
          </a:prstGeom>
          <a:solidFill>
            <a:srgbClr val="0F6B52"/>
          </a:solidFill>
          <a:ln w="12700">
            <a:solidFill>
              <a:srgbClr val="0F6B52"/>
            </a:solidFill>
            <a:prstDash val="solid"/>
          </a:ln>
        </p:spPr>
      </p:sp>
      <p:pic>
        <p:nvPicPr>
          <p:cNvPr id="5" name="Pile Data icône" descr="preencoded.png">    </p:cNvPr>
          <p:cNvPicPr>
            <a:picLocks noChangeAspect="1"/>
          </p:cNvPicPr>
          <p:nvPr/>
        </p:nvPicPr>
        <p:blipFill>
          <a:blip r:embed="rId1"/>
          <a:stretch>
            <a:fillRect/>
          </a:stretch>
        </p:blipFill>
        <p:spPr>
          <a:xfrm>
            <a:off x="998525" y="1958645"/>
            <a:ext cx="380390" cy="380390"/>
          </a:xfrm>
          <a:prstGeom prst="rect">
            <a:avLst/>
          </a:prstGeom>
        </p:spPr>
      </p:pic>
      <p:sp>
        <p:nvSpPr>
          <p:cNvPr id="6" name="Text 3"/>
          <p:cNvSpPr txBox="1"/>
          <p:nvPr/>
        </p:nvSpPr>
        <p:spPr>
          <a:xfrm>
            <a:off x="1737360" y="1892808"/>
            <a:ext cx="2194560" cy="4572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Data</a:t>
            </a:r>
            <a:endParaRPr lang="en-US" sz="2000" dirty="0"/>
          </a:p>
        </p:txBody>
      </p:sp>
      <p:sp>
        <p:nvSpPr>
          <p:cNvPr id="7" name="Text 4"/>
          <p:cNvSpPr txBox="1"/>
          <p:nvPr/>
        </p:nvSpPr>
        <p:spPr>
          <a:xfrm>
            <a:off x="822960" y="2651760"/>
            <a:ext cx="3017520" cy="86868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Zetaris 2.4.3 (local, Docker) · federates Kwatsur's PostgreSQL database</a:t>
            </a:r>
            <a:endParaRPr lang="en-US" sz="1400" dirty="0"/>
          </a:p>
        </p:txBody>
      </p:sp>
      <p:sp>
        <p:nvSpPr>
          <p:cNvPr id="8" name="Pile Power"/>
          <p:cNvSpPr/>
          <p:nvPr/>
        </p:nvSpPr>
        <p:spPr>
          <a:xfrm>
            <a:off x="4325112" y="1508760"/>
            <a:ext cx="3538728" cy="2103120"/>
          </a:xfrm>
          <a:prstGeom prst="roundRect">
            <a:avLst>
              <a:gd name="adj" fmla="val 5217"/>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9" name="Pile Power cercle"/>
          <p:cNvSpPr/>
          <p:nvPr/>
        </p:nvSpPr>
        <p:spPr>
          <a:xfrm>
            <a:off x="4599432" y="1783080"/>
            <a:ext cx="731520" cy="731520"/>
          </a:xfrm>
          <a:prstGeom prst="ellipse">
            <a:avLst/>
          </a:prstGeom>
          <a:solidFill>
            <a:srgbClr val="0F6B52"/>
          </a:solidFill>
          <a:ln w="12700">
            <a:solidFill>
              <a:srgbClr val="0F6B52"/>
            </a:solidFill>
            <a:prstDash val="solid"/>
          </a:ln>
        </p:spPr>
      </p:sp>
      <p:pic>
        <p:nvPicPr>
          <p:cNvPr id="10" name="Pile Power icône" descr="preencoded.png">    </p:cNvPr>
          <p:cNvPicPr>
            <a:picLocks noChangeAspect="1"/>
          </p:cNvPicPr>
          <p:nvPr/>
        </p:nvPicPr>
        <p:blipFill>
          <a:blip r:embed="rId2"/>
          <a:stretch>
            <a:fillRect/>
          </a:stretch>
        </p:blipFill>
        <p:spPr>
          <a:xfrm>
            <a:off x="4774997" y="1958645"/>
            <a:ext cx="380390" cy="380390"/>
          </a:xfrm>
          <a:prstGeom prst="rect">
            <a:avLst/>
          </a:prstGeom>
        </p:spPr>
      </p:pic>
      <p:sp>
        <p:nvSpPr>
          <p:cNvPr id="11" name="Text 7"/>
          <p:cNvSpPr txBox="1"/>
          <p:nvPr/>
        </p:nvSpPr>
        <p:spPr>
          <a:xfrm>
            <a:off x="5513832" y="1892808"/>
            <a:ext cx="2194560" cy="4572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Power</a:t>
            </a:r>
            <a:endParaRPr lang="en-US" sz="2000" dirty="0"/>
          </a:p>
        </p:txBody>
      </p:sp>
      <p:sp>
        <p:nvSpPr>
          <p:cNvPr id="12" name="Text 8"/>
          <p:cNvSpPr txBox="1"/>
          <p:nvPr/>
        </p:nvSpPr>
        <p:spPr>
          <a:xfrm>
            <a:off x="4599432" y="2651760"/>
            <a:ext cx="3017520" cy="86868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Meterless Nightshift · NVIDIA Nemotron 3 Ultra 550B (pinned)</a:t>
            </a:r>
            <a:endParaRPr lang="en-US" sz="1400" dirty="0"/>
          </a:p>
        </p:txBody>
      </p:sp>
      <p:sp>
        <p:nvSpPr>
          <p:cNvPr id="13" name="Pile Build"/>
          <p:cNvSpPr/>
          <p:nvPr/>
        </p:nvSpPr>
        <p:spPr>
          <a:xfrm>
            <a:off x="8101584" y="1508760"/>
            <a:ext cx="3538728" cy="2103120"/>
          </a:xfrm>
          <a:prstGeom prst="roundRect">
            <a:avLst>
              <a:gd name="adj" fmla="val 5217"/>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14" name="Pile Build cercle"/>
          <p:cNvSpPr/>
          <p:nvPr/>
        </p:nvSpPr>
        <p:spPr>
          <a:xfrm>
            <a:off x="8375904" y="1783080"/>
            <a:ext cx="731520" cy="731520"/>
          </a:xfrm>
          <a:prstGeom prst="ellipse">
            <a:avLst/>
          </a:prstGeom>
          <a:solidFill>
            <a:srgbClr val="0F6B52"/>
          </a:solidFill>
          <a:ln w="12700">
            <a:solidFill>
              <a:srgbClr val="0F6B52"/>
            </a:solidFill>
            <a:prstDash val="solid"/>
          </a:ln>
        </p:spPr>
      </p:sp>
      <p:pic>
        <p:nvPicPr>
          <p:cNvPr id="15" name="Pile Build icône" descr="preencoded.png">    </p:cNvPr>
          <p:cNvPicPr>
            <a:picLocks noChangeAspect="1"/>
          </p:cNvPicPr>
          <p:nvPr/>
        </p:nvPicPr>
        <p:blipFill>
          <a:blip r:embed="rId3"/>
          <a:stretch>
            <a:fillRect/>
          </a:stretch>
        </p:blipFill>
        <p:spPr>
          <a:xfrm>
            <a:off x="8551469" y="1958645"/>
            <a:ext cx="380390" cy="380390"/>
          </a:xfrm>
          <a:prstGeom prst="rect">
            <a:avLst/>
          </a:prstGeom>
        </p:spPr>
      </p:pic>
      <p:sp>
        <p:nvSpPr>
          <p:cNvPr id="16" name="Text 11"/>
          <p:cNvSpPr txBox="1"/>
          <p:nvPr/>
        </p:nvSpPr>
        <p:spPr>
          <a:xfrm>
            <a:off x="9290304" y="1892808"/>
            <a:ext cx="2194560" cy="4572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Build</a:t>
            </a:r>
            <a:endParaRPr lang="en-US" sz="2000" dirty="0"/>
          </a:p>
        </p:txBody>
      </p:sp>
      <p:sp>
        <p:nvSpPr>
          <p:cNvPr id="17" name="Text 12"/>
          <p:cNvSpPr txBox="1"/>
          <p:nvPr/>
        </p:nvSpPr>
        <p:spPr>
          <a:xfrm>
            <a:off x="8375904" y="2651760"/>
            <a:ext cx="3017520" cy="86868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Meterless Scout Intent (Python) · Cursor and Claude Code · 148 tests</a:t>
            </a:r>
            <a:endParaRPr lang="en-US" sz="1400" dirty="0"/>
          </a:p>
        </p:txBody>
      </p:sp>
      <p:sp>
        <p:nvSpPr>
          <p:cNvPr id="18" name="Pile Application"/>
          <p:cNvSpPr/>
          <p:nvPr/>
        </p:nvSpPr>
        <p:spPr>
          <a:xfrm>
            <a:off x="548640" y="3886200"/>
            <a:ext cx="3538728" cy="2103120"/>
          </a:xfrm>
          <a:prstGeom prst="roundRect">
            <a:avLst>
              <a:gd name="adj" fmla="val 5217"/>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19" name="Pile Application cercle"/>
          <p:cNvSpPr/>
          <p:nvPr/>
        </p:nvSpPr>
        <p:spPr>
          <a:xfrm>
            <a:off x="822960" y="4160520"/>
            <a:ext cx="731520" cy="731520"/>
          </a:xfrm>
          <a:prstGeom prst="ellipse">
            <a:avLst/>
          </a:prstGeom>
          <a:solidFill>
            <a:srgbClr val="3D5348"/>
          </a:solidFill>
          <a:ln w="12700">
            <a:solidFill>
              <a:srgbClr val="3D5348"/>
            </a:solidFill>
            <a:prstDash val="solid"/>
          </a:ln>
        </p:spPr>
      </p:sp>
      <p:pic>
        <p:nvPicPr>
          <p:cNvPr id="20" name="Pile Application icône" descr="preencoded.png">    </p:cNvPr>
          <p:cNvPicPr>
            <a:picLocks noChangeAspect="1"/>
          </p:cNvPicPr>
          <p:nvPr/>
        </p:nvPicPr>
        <p:blipFill>
          <a:blip r:embed="rId4"/>
          <a:stretch>
            <a:fillRect/>
          </a:stretch>
        </p:blipFill>
        <p:spPr>
          <a:xfrm>
            <a:off x="998525" y="4336085"/>
            <a:ext cx="380390" cy="380390"/>
          </a:xfrm>
          <a:prstGeom prst="rect">
            <a:avLst/>
          </a:prstGeom>
        </p:spPr>
      </p:pic>
      <p:sp>
        <p:nvSpPr>
          <p:cNvPr id="21" name="Text 15"/>
          <p:cNvSpPr txBox="1"/>
          <p:nvPr/>
        </p:nvSpPr>
        <p:spPr>
          <a:xfrm>
            <a:off x="1737360" y="4270248"/>
            <a:ext cx="2194560" cy="4572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Application</a:t>
            </a:r>
            <a:endParaRPr lang="en-US" sz="2000" dirty="0"/>
          </a:p>
        </p:txBody>
      </p:sp>
      <p:sp>
        <p:nvSpPr>
          <p:cNvPr id="22" name="Text 16"/>
          <p:cNvSpPr txBox="1"/>
          <p:nvPr/>
        </p:nvSpPr>
        <p:spPr>
          <a:xfrm>
            <a:off x="822960" y="5029200"/>
            <a:ext cx="3017520" cy="86868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FastAPI · PostgreSQL 16 · Alembic · nginx · framework-free JavaScript</a:t>
            </a:r>
            <a:endParaRPr lang="en-US" sz="1400" dirty="0"/>
          </a:p>
        </p:txBody>
      </p:sp>
      <p:sp>
        <p:nvSpPr>
          <p:cNvPr id="23" name="Pile Images"/>
          <p:cNvSpPr/>
          <p:nvPr/>
        </p:nvSpPr>
        <p:spPr>
          <a:xfrm>
            <a:off x="4325112" y="3886200"/>
            <a:ext cx="3538728" cy="2103120"/>
          </a:xfrm>
          <a:prstGeom prst="roundRect">
            <a:avLst>
              <a:gd name="adj" fmla="val 5217"/>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24" name="Pile Images cercle"/>
          <p:cNvSpPr/>
          <p:nvPr/>
        </p:nvSpPr>
        <p:spPr>
          <a:xfrm>
            <a:off x="4599432" y="4160520"/>
            <a:ext cx="731520" cy="731520"/>
          </a:xfrm>
          <a:prstGeom prst="ellipse">
            <a:avLst/>
          </a:prstGeom>
          <a:solidFill>
            <a:srgbClr val="3D5348"/>
          </a:solidFill>
          <a:ln w="12700">
            <a:solidFill>
              <a:srgbClr val="3D5348"/>
            </a:solidFill>
            <a:prstDash val="solid"/>
          </a:ln>
        </p:spPr>
      </p:sp>
      <p:pic>
        <p:nvPicPr>
          <p:cNvPr id="25" name="Pile Images icône" descr="preencoded.png">    </p:cNvPr>
          <p:cNvPicPr>
            <a:picLocks noChangeAspect="1"/>
          </p:cNvPicPr>
          <p:nvPr/>
        </p:nvPicPr>
        <p:blipFill>
          <a:blip r:embed="rId5"/>
          <a:stretch>
            <a:fillRect/>
          </a:stretch>
        </p:blipFill>
        <p:spPr>
          <a:xfrm>
            <a:off x="4774997" y="4336085"/>
            <a:ext cx="380390" cy="380390"/>
          </a:xfrm>
          <a:prstGeom prst="rect">
            <a:avLst/>
          </a:prstGeom>
        </p:spPr>
      </p:pic>
      <p:sp>
        <p:nvSpPr>
          <p:cNvPr id="26" name="Text 19"/>
          <p:cNvSpPr txBox="1"/>
          <p:nvPr/>
        </p:nvSpPr>
        <p:spPr>
          <a:xfrm>
            <a:off x="5513832" y="4270248"/>
            <a:ext cx="2194560" cy="4572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Images</a:t>
            </a:r>
            <a:endParaRPr lang="en-US" sz="2000" dirty="0"/>
          </a:p>
        </p:txBody>
      </p:sp>
      <p:sp>
        <p:nvSpPr>
          <p:cNvPr id="27" name="Text 20"/>
          <p:cNvSpPr txBox="1"/>
          <p:nvPr/>
        </p:nvSpPr>
        <p:spPr>
          <a:xfrm>
            <a:off x="4599432" y="5029200"/>
            <a:ext cx="3017520" cy="86868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Cloudflare Workers AI: FLUX.1 schnell (generation), LLaVA (vision)</a:t>
            </a:r>
            <a:endParaRPr lang="en-US" sz="1400" dirty="0"/>
          </a:p>
        </p:txBody>
      </p:sp>
      <p:sp>
        <p:nvSpPr>
          <p:cNvPr id="28" name="Pile Deployment"/>
          <p:cNvSpPr/>
          <p:nvPr/>
        </p:nvSpPr>
        <p:spPr>
          <a:xfrm>
            <a:off x="8101584" y="3886200"/>
            <a:ext cx="3538728" cy="2103120"/>
          </a:xfrm>
          <a:prstGeom prst="roundRect">
            <a:avLst>
              <a:gd name="adj" fmla="val 5217"/>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29" name="Pile Deployment cercle"/>
          <p:cNvSpPr/>
          <p:nvPr/>
        </p:nvSpPr>
        <p:spPr>
          <a:xfrm>
            <a:off x="8375904" y="4160520"/>
            <a:ext cx="731520" cy="731520"/>
          </a:xfrm>
          <a:prstGeom prst="ellipse">
            <a:avLst/>
          </a:prstGeom>
          <a:solidFill>
            <a:srgbClr val="3D5348"/>
          </a:solidFill>
          <a:ln w="12700">
            <a:solidFill>
              <a:srgbClr val="3D5348"/>
            </a:solidFill>
            <a:prstDash val="solid"/>
          </a:ln>
        </p:spPr>
      </p:sp>
      <p:pic>
        <p:nvPicPr>
          <p:cNvPr id="30" name="Pile Deployment icône" descr="preencoded.png">    </p:cNvPr>
          <p:cNvPicPr>
            <a:picLocks noChangeAspect="1"/>
          </p:cNvPicPr>
          <p:nvPr/>
        </p:nvPicPr>
        <p:blipFill>
          <a:blip r:embed="rId6"/>
          <a:stretch>
            <a:fillRect/>
          </a:stretch>
        </p:blipFill>
        <p:spPr>
          <a:xfrm>
            <a:off x="8551469" y="4336085"/>
            <a:ext cx="380390" cy="380390"/>
          </a:xfrm>
          <a:prstGeom prst="rect">
            <a:avLst/>
          </a:prstGeom>
        </p:spPr>
      </p:pic>
      <p:sp>
        <p:nvSpPr>
          <p:cNvPr id="31" name="Text 23"/>
          <p:cNvSpPr txBox="1"/>
          <p:nvPr/>
        </p:nvSpPr>
        <p:spPr>
          <a:xfrm>
            <a:off x="9290304" y="4270248"/>
            <a:ext cx="2194560" cy="4572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Deployment</a:t>
            </a:r>
            <a:endParaRPr lang="en-US" sz="2000" dirty="0"/>
          </a:p>
        </p:txBody>
      </p:sp>
      <p:sp>
        <p:nvSpPr>
          <p:cNvPr id="32" name="Text 24"/>
          <p:cNvSpPr txBox="1"/>
          <p:nvPr/>
        </p:nvSpPr>
        <p:spPr>
          <a:xfrm>
            <a:off x="8375904" y="5029200"/>
            <a:ext cx="3017520" cy="86868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Docker Compose in WSL · Web Speech (voice) · SAMPLE_MODE fallback</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Zetaris, the agent's data layer</a:t>
            </a:r>
            <a:endParaRPr lang="en-US" sz="3400" dirty="0"/>
          </a:p>
        </p:txBody>
      </p:sp>
      <p:sp>
        <p:nvSpPr>
          <p:cNvPr id="3" name="Zetaris 1"/>
          <p:cNvSpPr/>
          <p:nvPr/>
        </p:nvSpPr>
        <p:spPr>
          <a:xfrm>
            <a:off x="548640" y="1600200"/>
            <a:ext cx="2514600" cy="1371600"/>
          </a:xfrm>
          <a:prstGeom prst="roundRect">
            <a:avLst>
              <a:gd name="adj" fmla="val 8000"/>
            </a:avLst>
          </a:prstGeom>
          <a:solidFill>
            <a:srgbClr val="0A4A39"/>
          </a:solidFill>
          <a:ln w="12700">
            <a:solidFill>
              <a:srgbClr val="0A4A39"/>
            </a:solidFill>
            <a:prstDash val="solid"/>
          </a:ln>
          <a:effectLst>
            <a:outerShdw sx="100000" sy="100000" kx="0" ky="0" algn="bl" rotWithShape="0" blurRad="101600" dist="25400" dir="5400000">
              <a:srgbClr val="14231C">
                <a:alpha val="12000"/>
              </a:srgbClr>
            </a:outerShdw>
          </a:effectLst>
        </p:spPr>
      </p:sp>
      <p:sp>
        <p:nvSpPr>
          <p:cNvPr id="4" name="Text 2"/>
          <p:cNvSpPr txBox="1"/>
          <p:nvPr/>
        </p:nvSpPr>
        <p:spPr>
          <a:xfrm>
            <a:off x="731520" y="1783080"/>
            <a:ext cx="2194560" cy="457200"/>
          </a:xfrm>
          <a:prstGeom prst="rect">
            <a:avLst/>
          </a:prstGeom>
          <a:noFill/>
          <a:ln/>
        </p:spPr>
        <p:txBody>
          <a:bodyPr wrap="square" lIns="0" tIns="0" rIns="0" bIns="0" rtlCol="0" anchor="t"/>
          <a:lstStyle/>
          <a:p>
            <a:pPr indent="0" marL="0">
              <a:buNone/>
            </a:pPr>
            <a:r>
              <a:rPr lang="en-US" sz="1800" b="1" dirty="0">
                <a:solidFill>
                  <a:schemeClr val="bg1"/>
                </a:solidFill>
                <a:latin typeface="Calibri" pitchFamily="34" charset="0"/>
                <a:ea typeface="Calibri" pitchFamily="34" charset="-122"/>
                <a:cs typeface="Calibri" pitchFamily="34" charset="-120"/>
              </a:rPr>
              <a:t>Kwatsur agent</a:t>
            </a:r>
            <a:endParaRPr lang="en-US" sz="1800" dirty="0"/>
          </a:p>
        </p:txBody>
      </p:sp>
      <p:sp>
        <p:nvSpPr>
          <p:cNvPr id="5" name="Text 3"/>
          <p:cNvSpPr txBox="1"/>
          <p:nvPr/>
        </p:nvSpPr>
        <p:spPr>
          <a:xfrm>
            <a:off x="731520" y="2286000"/>
            <a:ext cx="2194560" cy="54864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every search</a:t>
            </a:r>
            <a:endParaRPr lang="en-US" sz="1300" dirty="0"/>
          </a:p>
        </p:txBody>
      </p:sp>
      <p:sp>
        <p:nvSpPr>
          <p:cNvPr id="6" name="Zetaris flèche 1"/>
          <p:cNvSpPr/>
          <p:nvPr/>
        </p:nvSpPr>
        <p:spPr>
          <a:xfrm rot="5400000">
            <a:off x="3145536" y="2185416"/>
            <a:ext cx="201168" cy="164592"/>
          </a:xfrm>
          <a:prstGeom prst="triangle">
            <a:avLst/>
          </a:prstGeom>
          <a:solidFill>
            <a:srgbClr val="6B7F74"/>
          </a:solidFill>
          <a:ln w="12700">
            <a:solidFill>
              <a:srgbClr val="6B7F74"/>
            </a:solidFill>
            <a:prstDash val="solid"/>
          </a:ln>
        </p:spPr>
      </p:sp>
      <p:sp>
        <p:nvSpPr>
          <p:cNvPr id="7" name="Zetaris 2"/>
          <p:cNvSpPr/>
          <p:nvPr/>
        </p:nvSpPr>
        <p:spPr>
          <a:xfrm>
            <a:off x="3383280" y="1600200"/>
            <a:ext cx="2514600" cy="1371600"/>
          </a:xfrm>
          <a:prstGeom prst="roundRect">
            <a:avLst>
              <a:gd name="adj" fmla="val 8000"/>
            </a:avLst>
          </a:prstGeom>
          <a:solidFill>
            <a:srgbClr val="0F6B52"/>
          </a:solidFill>
          <a:ln w="12700">
            <a:solidFill>
              <a:srgbClr val="0F6B52"/>
            </a:solidFill>
            <a:prstDash val="solid"/>
          </a:ln>
          <a:effectLst>
            <a:outerShdw sx="100000" sy="100000" kx="0" ky="0" algn="bl" rotWithShape="0" blurRad="101600" dist="25400" dir="5400000">
              <a:srgbClr val="14231C">
                <a:alpha val="12000"/>
              </a:srgbClr>
            </a:outerShdw>
          </a:effectLst>
        </p:spPr>
      </p:sp>
      <p:sp>
        <p:nvSpPr>
          <p:cNvPr id="8" name="Text 6"/>
          <p:cNvSpPr txBox="1"/>
          <p:nvPr/>
        </p:nvSpPr>
        <p:spPr>
          <a:xfrm>
            <a:off x="3566160" y="1783080"/>
            <a:ext cx="2194560" cy="457200"/>
          </a:xfrm>
          <a:prstGeom prst="rect">
            <a:avLst/>
          </a:prstGeom>
          <a:noFill/>
          <a:ln/>
        </p:spPr>
        <p:txBody>
          <a:bodyPr wrap="square" lIns="0" tIns="0" rIns="0" bIns="0" rtlCol="0" anchor="t"/>
          <a:lstStyle/>
          <a:p>
            <a:pPr indent="0" marL="0">
              <a:buNone/>
            </a:pPr>
            <a:r>
              <a:rPr lang="en-US" sz="1800" b="1" dirty="0">
                <a:solidFill>
                  <a:schemeClr val="bg1"/>
                </a:solidFill>
                <a:latin typeface="Calibri" pitchFamily="34" charset="0"/>
                <a:ea typeface="Calibri" pitchFamily="34" charset="-122"/>
                <a:cs typeface="Calibri" pitchFamily="34" charset="-120"/>
              </a:rPr>
              <a:t>Zetaris</a:t>
            </a:r>
            <a:endParaRPr lang="en-US" sz="1800" dirty="0"/>
          </a:p>
        </p:txBody>
      </p:sp>
      <p:sp>
        <p:nvSpPr>
          <p:cNvPr id="9" name="Text 7"/>
          <p:cNvSpPr txBox="1"/>
          <p:nvPr/>
        </p:nvSpPr>
        <p:spPr>
          <a:xfrm>
            <a:off x="3566160" y="2286000"/>
            <a:ext cx="2194560" cy="54864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POST /sql-editor/sqls/run</a:t>
            </a:r>
            <a:endParaRPr lang="en-US" sz="1300" dirty="0"/>
          </a:p>
        </p:txBody>
      </p:sp>
      <p:sp>
        <p:nvSpPr>
          <p:cNvPr id="10" name="Zetaris flèche 2"/>
          <p:cNvSpPr/>
          <p:nvPr/>
        </p:nvSpPr>
        <p:spPr>
          <a:xfrm rot="5400000">
            <a:off x="5980176" y="2185416"/>
            <a:ext cx="201168" cy="164592"/>
          </a:xfrm>
          <a:prstGeom prst="triangle">
            <a:avLst/>
          </a:prstGeom>
          <a:solidFill>
            <a:srgbClr val="6B7F74"/>
          </a:solidFill>
          <a:ln w="12700">
            <a:solidFill>
              <a:srgbClr val="6B7F74"/>
            </a:solidFill>
            <a:prstDash val="solid"/>
          </a:ln>
        </p:spPr>
      </p:sp>
      <p:sp>
        <p:nvSpPr>
          <p:cNvPr id="11" name="Zetaris 3"/>
          <p:cNvSpPr/>
          <p:nvPr/>
        </p:nvSpPr>
        <p:spPr>
          <a:xfrm>
            <a:off x="6217920" y="1600200"/>
            <a:ext cx="2514600" cy="1371600"/>
          </a:xfrm>
          <a:prstGeom prst="roundRect">
            <a:avLst>
              <a:gd name="adj" fmla="val 8000"/>
            </a:avLst>
          </a:prstGeom>
          <a:solidFill>
            <a:srgbClr val="3D5348"/>
          </a:solidFill>
          <a:ln w="12700">
            <a:solidFill>
              <a:srgbClr val="3D5348"/>
            </a:solidFill>
            <a:prstDash val="solid"/>
          </a:ln>
          <a:effectLst>
            <a:outerShdw sx="100000" sy="100000" kx="0" ky="0" algn="bl" rotWithShape="0" blurRad="101600" dist="25400" dir="5400000">
              <a:srgbClr val="14231C">
                <a:alpha val="12000"/>
              </a:srgbClr>
            </a:outerShdw>
          </a:effectLst>
        </p:spPr>
      </p:sp>
      <p:sp>
        <p:nvSpPr>
          <p:cNvPr id="12" name="Text 10"/>
          <p:cNvSpPr txBox="1"/>
          <p:nvPr/>
        </p:nvSpPr>
        <p:spPr>
          <a:xfrm>
            <a:off x="6400800" y="1783080"/>
            <a:ext cx="2194560" cy="457200"/>
          </a:xfrm>
          <a:prstGeom prst="rect">
            <a:avLst/>
          </a:prstGeom>
          <a:noFill/>
          <a:ln/>
        </p:spPr>
        <p:txBody>
          <a:bodyPr wrap="square" lIns="0" tIns="0" rIns="0" bIns="0" rtlCol="0" anchor="t"/>
          <a:lstStyle/>
          <a:p>
            <a:pPr indent="0" marL="0">
              <a:buNone/>
            </a:pPr>
            <a:r>
              <a:rPr lang="en-US" sz="1800" b="1" dirty="0">
                <a:solidFill>
                  <a:schemeClr val="bg1"/>
                </a:solidFill>
                <a:latin typeface="Calibri" pitchFamily="34" charset="0"/>
                <a:ea typeface="Calibri" pitchFamily="34" charset="-122"/>
                <a:cs typeface="Calibri" pitchFamily="34" charset="-120"/>
              </a:rPr>
              <a:t>Source kwatsur_pg</a:t>
            </a:r>
            <a:endParaRPr lang="en-US" sz="1800" dirty="0"/>
          </a:p>
        </p:txBody>
      </p:sp>
      <p:sp>
        <p:nvSpPr>
          <p:cNvPr id="13" name="Text 11"/>
          <p:cNvSpPr txBox="1"/>
          <p:nvPr/>
        </p:nvSpPr>
        <p:spPr>
          <a:xfrm>
            <a:off x="6400800" y="2286000"/>
            <a:ext cx="2194560" cy="54864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read-only role</a:t>
            </a:r>
            <a:endParaRPr lang="en-US" sz="1300" dirty="0"/>
          </a:p>
        </p:txBody>
      </p:sp>
      <p:sp>
        <p:nvSpPr>
          <p:cNvPr id="14" name="Zetaris flèche 3"/>
          <p:cNvSpPr/>
          <p:nvPr/>
        </p:nvSpPr>
        <p:spPr>
          <a:xfrm rot="5400000">
            <a:off x="8814816" y="2185416"/>
            <a:ext cx="201168" cy="164592"/>
          </a:xfrm>
          <a:prstGeom prst="triangle">
            <a:avLst/>
          </a:prstGeom>
          <a:solidFill>
            <a:srgbClr val="6B7F74"/>
          </a:solidFill>
          <a:ln w="12700">
            <a:solidFill>
              <a:srgbClr val="6B7F74"/>
            </a:solidFill>
            <a:prstDash val="solid"/>
          </a:ln>
        </p:spPr>
      </p:sp>
      <p:sp>
        <p:nvSpPr>
          <p:cNvPr id="15" name="Zetaris 4"/>
          <p:cNvSpPr/>
          <p:nvPr/>
        </p:nvSpPr>
        <p:spPr>
          <a:xfrm>
            <a:off x="9052560" y="1600200"/>
            <a:ext cx="2514600" cy="1371600"/>
          </a:xfrm>
          <a:prstGeom prst="roundRect">
            <a:avLst>
              <a:gd name="adj" fmla="val 8000"/>
            </a:avLst>
          </a:prstGeom>
          <a:solidFill>
            <a:srgbClr val="C2562F"/>
          </a:solidFill>
          <a:ln w="12700">
            <a:solidFill>
              <a:srgbClr val="C2562F"/>
            </a:solidFill>
            <a:prstDash val="solid"/>
          </a:ln>
          <a:effectLst>
            <a:outerShdw sx="100000" sy="100000" kx="0" ky="0" algn="bl" rotWithShape="0" blurRad="101600" dist="25400" dir="5400000">
              <a:srgbClr val="14231C">
                <a:alpha val="12000"/>
              </a:srgbClr>
            </a:outerShdw>
          </a:effectLst>
        </p:spPr>
      </p:sp>
      <p:sp>
        <p:nvSpPr>
          <p:cNvPr id="16" name="Text 14"/>
          <p:cNvSpPr txBox="1"/>
          <p:nvPr/>
        </p:nvSpPr>
        <p:spPr>
          <a:xfrm>
            <a:off x="9235440" y="1783080"/>
            <a:ext cx="2194560" cy="457200"/>
          </a:xfrm>
          <a:prstGeom prst="rect">
            <a:avLst/>
          </a:prstGeom>
          <a:noFill/>
          <a:ln/>
        </p:spPr>
        <p:txBody>
          <a:bodyPr wrap="square" lIns="0" tIns="0" rIns="0" bIns="0" rtlCol="0" anchor="t"/>
          <a:lstStyle/>
          <a:p>
            <a:pPr indent="0" marL="0">
              <a:buNone/>
            </a:pPr>
            <a:r>
              <a:rPr lang="en-US" sz="1800" b="1" dirty="0">
                <a:solidFill>
                  <a:schemeClr val="bg1"/>
                </a:solidFill>
                <a:latin typeface="Calibri" pitchFamily="34" charset="0"/>
                <a:ea typeface="Calibri" pitchFamily="34" charset="-122"/>
                <a:cs typeface="Calibri" pitchFamily="34" charset="-120"/>
              </a:rPr>
              <a:t>View zetaris_listings</a:t>
            </a:r>
            <a:endParaRPr lang="en-US" sz="1800" dirty="0"/>
          </a:p>
        </p:txBody>
      </p:sp>
      <p:sp>
        <p:nvSpPr>
          <p:cNvPr id="17" name="Text 15"/>
          <p:cNvSpPr txBox="1"/>
          <p:nvPr/>
        </p:nvSpPr>
        <p:spPr>
          <a:xfrm>
            <a:off x="9235440" y="2286000"/>
            <a:ext cx="2194560" cy="54864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listings + approved</a:t>
            </a:r>
            <a:endParaRPr lang="en-US" sz="1300" dirty="0"/>
          </a:p>
        </p:txBody>
      </p:sp>
      <p:sp>
        <p:nvSpPr>
          <p:cNvPr id="18" name="Text 16"/>
          <p:cNvSpPr txBox="1"/>
          <p:nvPr/>
        </p:nvSpPr>
        <p:spPr>
          <a:xfrm>
            <a:off x="548640" y="3337560"/>
            <a:ext cx="11094415" cy="26517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Single access point to listings: both chat and filter search query Zetaris in SQL.</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Kwatsur's database is federated as a source (CREATE DATASOURCE), read by a role limited to one view.</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Listings submitted in the chat and approved appear immediately in searches via Zetaris.</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Next: agencies and partner APIs added in Zetaris, without changing the agent's code.</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Proof: live status "zetaris: ok", data_source = zetaris in every reply, HTTP 200 logs.</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Meterless: Scout Intent and Nightshift</a:t>
            </a:r>
            <a:endParaRPr lang="en-US" sz="3400" dirty="0"/>
          </a:p>
        </p:txBody>
      </p:sp>
      <p:sp>
        <p:nvSpPr>
          <p:cNvPr id="3" name="Étape Scout Sense"/>
          <p:cNvSpPr/>
          <p:nvPr/>
        </p:nvSpPr>
        <p:spPr>
          <a:xfrm>
            <a:off x="548640" y="1508760"/>
            <a:ext cx="1188720" cy="566928"/>
          </a:xfrm>
          <a:prstGeom prst="roundRect">
            <a:avLst>
              <a:gd name="adj" fmla="val 19355"/>
            </a:avLst>
          </a:prstGeom>
          <a:solidFill>
            <a:srgbClr val="0F6B52"/>
          </a:solidFill>
          <a:ln w="12700">
            <a:solidFill>
              <a:srgbClr val="0F6B52"/>
            </a:solidFill>
            <a:prstDash val="solid"/>
          </a:ln>
          <a:effectLst>
            <a:outerShdw sx="100000" sy="100000" kx="0" ky="0" algn="bl" rotWithShape="0" blurRad="101600" dist="25400" dir="5400000">
              <a:srgbClr val="14231C">
                <a:alpha val="12000"/>
              </a:srgbClr>
            </a:outerShdw>
          </a:effectLst>
        </p:spPr>
      </p:sp>
      <p:sp>
        <p:nvSpPr>
          <p:cNvPr id="4" name="Text 2"/>
          <p:cNvSpPr txBox="1"/>
          <p:nvPr/>
        </p:nvSpPr>
        <p:spPr>
          <a:xfrm>
            <a:off x="548640" y="1508760"/>
            <a:ext cx="1188720" cy="566928"/>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Sense</a:t>
            </a:r>
            <a:endParaRPr lang="en-US" sz="1400" dirty="0"/>
          </a:p>
        </p:txBody>
      </p:sp>
      <p:sp>
        <p:nvSpPr>
          <p:cNvPr id="5" name="Étape Scout Interpret"/>
          <p:cNvSpPr/>
          <p:nvPr/>
        </p:nvSpPr>
        <p:spPr>
          <a:xfrm>
            <a:off x="1847088" y="1508760"/>
            <a:ext cx="1188720" cy="566928"/>
          </a:xfrm>
          <a:prstGeom prst="roundRect">
            <a:avLst>
              <a:gd name="adj" fmla="val 19355"/>
            </a:avLst>
          </a:prstGeom>
          <a:solidFill>
            <a:srgbClr val="0F6B52"/>
          </a:solidFill>
          <a:ln w="12700">
            <a:solidFill>
              <a:srgbClr val="0F6B52"/>
            </a:solidFill>
            <a:prstDash val="solid"/>
          </a:ln>
          <a:effectLst>
            <a:outerShdw sx="100000" sy="100000" kx="0" ky="0" algn="bl" rotWithShape="0" blurRad="101600" dist="25400" dir="5400000">
              <a:srgbClr val="14231C">
                <a:alpha val="12000"/>
              </a:srgbClr>
            </a:outerShdw>
          </a:effectLst>
        </p:spPr>
      </p:sp>
      <p:sp>
        <p:nvSpPr>
          <p:cNvPr id="6" name="Text 4"/>
          <p:cNvSpPr txBox="1"/>
          <p:nvPr/>
        </p:nvSpPr>
        <p:spPr>
          <a:xfrm>
            <a:off x="1847088" y="1508760"/>
            <a:ext cx="1188720" cy="566928"/>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Interpret</a:t>
            </a:r>
            <a:endParaRPr lang="en-US" sz="1400" dirty="0"/>
          </a:p>
        </p:txBody>
      </p:sp>
      <p:sp>
        <p:nvSpPr>
          <p:cNvPr id="7" name="Étape Scout Guard"/>
          <p:cNvSpPr/>
          <p:nvPr/>
        </p:nvSpPr>
        <p:spPr>
          <a:xfrm>
            <a:off x="3145536" y="1508760"/>
            <a:ext cx="1188720" cy="566928"/>
          </a:xfrm>
          <a:prstGeom prst="roundRect">
            <a:avLst>
              <a:gd name="adj" fmla="val 19355"/>
            </a:avLst>
          </a:prstGeom>
          <a:solidFill>
            <a:srgbClr val="C2562F"/>
          </a:solidFill>
          <a:ln w="12700">
            <a:solidFill>
              <a:srgbClr val="C2562F"/>
            </a:solidFill>
            <a:prstDash val="solid"/>
          </a:ln>
          <a:effectLst>
            <a:outerShdw sx="100000" sy="100000" kx="0" ky="0" algn="bl" rotWithShape="0" blurRad="101600" dist="25400" dir="5400000">
              <a:srgbClr val="14231C">
                <a:alpha val="12000"/>
              </a:srgbClr>
            </a:outerShdw>
          </a:effectLst>
        </p:spPr>
      </p:sp>
      <p:sp>
        <p:nvSpPr>
          <p:cNvPr id="8" name="Text 6"/>
          <p:cNvSpPr txBox="1"/>
          <p:nvPr/>
        </p:nvSpPr>
        <p:spPr>
          <a:xfrm>
            <a:off x="3145536" y="1508760"/>
            <a:ext cx="1188720" cy="566928"/>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Guard</a:t>
            </a:r>
            <a:endParaRPr lang="en-US" sz="1400" dirty="0"/>
          </a:p>
        </p:txBody>
      </p:sp>
      <p:sp>
        <p:nvSpPr>
          <p:cNvPr id="9" name="Étape Scout Route"/>
          <p:cNvSpPr/>
          <p:nvPr/>
        </p:nvSpPr>
        <p:spPr>
          <a:xfrm>
            <a:off x="4443984" y="1508760"/>
            <a:ext cx="1188720" cy="566928"/>
          </a:xfrm>
          <a:prstGeom prst="roundRect">
            <a:avLst>
              <a:gd name="adj" fmla="val 19355"/>
            </a:avLst>
          </a:prstGeom>
          <a:solidFill>
            <a:srgbClr val="0F6B52"/>
          </a:solidFill>
          <a:ln w="12700">
            <a:solidFill>
              <a:srgbClr val="0F6B52"/>
            </a:solidFill>
            <a:prstDash val="solid"/>
          </a:ln>
          <a:effectLst>
            <a:outerShdw sx="100000" sy="100000" kx="0" ky="0" algn="bl" rotWithShape="0" blurRad="101600" dist="25400" dir="5400000">
              <a:srgbClr val="14231C">
                <a:alpha val="12000"/>
              </a:srgbClr>
            </a:outerShdw>
          </a:effectLst>
        </p:spPr>
      </p:sp>
      <p:sp>
        <p:nvSpPr>
          <p:cNvPr id="10" name="Text 8"/>
          <p:cNvSpPr txBox="1"/>
          <p:nvPr/>
        </p:nvSpPr>
        <p:spPr>
          <a:xfrm>
            <a:off x="4443984" y="1508760"/>
            <a:ext cx="1188720" cy="566928"/>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Route</a:t>
            </a:r>
            <a:endParaRPr lang="en-US" sz="1400" dirty="0"/>
          </a:p>
        </p:txBody>
      </p:sp>
      <p:sp>
        <p:nvSpPr>
          <p:cNvPr id="11" name="Étape Scout Recommend"/>
          <p:cNvSpPr/>
          <p:nvPr/>
        </p:nvSpPr>
        <p:spPr>
          <a:xfrm>
            <a:off x="5742432" y="1508760"/>
            <a:ext cx="1188720" cy="566928"/>
          </a:xfrm>
          <a:prstGeom prst="roundRect">
            <a:avLst>
              <a:gd name="adj" fmla="val 19355"/>
            </a:avLst>
          </a:prstGeom>
          <a:solidFill>
            <a:srgbClr val="0F6B52"/>
          </a:solidFill>
          <a:ln w="12700">
            <a:solidFill>
              <a:srgbClr val="0F6B52"/>
            </a:solidFill>
            <a:prstDash val="solid"/>
          </a:ln>
          <a:effectLst>
            <a:outerShdw sx="100000" sy="100000" kx="0" ky="0" algn="bl" rotWithShape="0" blurRad="101600" dist="25400" dir="5400000">
              <a:srgbClr val="14231C">
                <a:alpha val="12000"/>
              </a:srgbClr>
            </a:outerShdw>
          </a:effectLst>
        </p:spPr>
      </p:sp>
      <p:sp>
        <p:nvSpPr>
          <p:cNvPr id="12" name="Text 10"/>
          <p:cNvSpPr txBox="1"/>
          <p:nvPr/>
        </p:nvSpPr>
        <p:spPr>
          <a:xfrm>
            <a:off x="5742432" y="1508760"/>
            <a:ext cx="1188720" cy="566928"/>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Recommend</a:t>
            </a:r>
            <a:endParaRPr lang="en-US" sz="1400" dirty="0"/>
          </a:p>
        </p:txBody>
      </p:sp>
      <p:sp>
        <p:nvSpPr>
          <p:cNvPr id="13" name="Text 11"/>
          <p:cNvSpPr txBox="1"/>
          <p:nvPr/>
        </p:nvSpPr>
        <p:spPr>
          <a:xfrm>
            <a:off x="548640" y="2331720"/>
            <a:ext cx="6400800" cy="32918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Before every action: one intent out of 7, 5-layer guard (injection, no payment, scope, personal data, rate).</a:t>
            </a:r>
            <a:endParaRPr lang="en-US" sz="1600" dirty="0"/>
          </a:p>
          <a:p>
            <a:pPr marL="342900" indent="-3429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Signed contract (HMAC, 5 min) checked by every tool; forged or expired contracts refused (tests).</a:t>
            </a:r>
            <a:endParaRPr lang="en-US" sz="1600" dirty="0"/>
          </a:p>
          <a:p>
            <a:pPr marL="342900" indent="-3429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Nightshift is the primary AI provider; it serves nvidia/nemotron-3-ultra-550b-a55b, shown under every reply.</a:t>
            </a:r>
            <a:endParaRPr lang="en-US" sz="1600" dirty="0"/>
          </a:p>
        </p:txBody>
      </p:sp>
      <p:sp>
        <p:nvSpPr>
          <p:cNvPr id="14" name="Statistique 1"/>
          <p:cNvSpPr/>
          <p:nvPr/>
        </p:nvSpPr>
        <p:spPr>
          <a:xfrm>
            <a:off x="7452360" y="1508760"/>
            <a:ext cx="4187952" cy="1325880"/>
          </a:xfrm>
          <a:prstGeom prst="roundRect">
            <a:avLst>
              <a:gd name="adj" fmla="val 8276"/>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15" name="Text 13"/>
          <p:cNvSpPr txBox="1"/>
          <p:nvPr/>
        </p:nvSpPr>
        <p:spPr>
          <a:xfrm>
            <a:off x="7680960" y="1618488"/>
            <a:ext cx="1737360" cy="109728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0.98</a:t>
            </a:r>
            <a:endParaRPr lang="en-US" sz="4800" dirty="0"/>
          </a:p>
        </p:txBody>
      </p:sp>
      <p:sp>
        <p:nvSpPr>
          <p:cNvPr id="16" name="Text 14"/>
          <p:cNvSpPr txBox="1"/>
          <p:nvPr/>
        </p:nvSpPr>
        <p:spPr>
          <a:xfrm>
            <a:off x="9418320" y="1783080"/>
            <a:ext cx="2103120" cy="41148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correct intent (top-1)</a:t>
            </a:r>
            <a:endParaRPr lang="en-US" sz="1500" dirty="0"/>
          </a:p>
        </p:txBody>
      </p:sp>
      <p:sp>
        <p:nvSpPr>
          <p:cNvPr id="17" name="Text 15"/>
          <p:cNvSpPr txBox="1"/>
          <p:nvPr/>
        </p:nvSpPr>
        <p:spPr>
          <a:xfrm>
            <a:off x="9418320" y="2221992"/>
            <a:ext cx="2103120" cy="36576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official floor 0.85</a:t>
            </a:r>
            <a:endParaRPr lang="en-US" sz="1200" dirty="0"/>
          </a:p>
        </p:txBody>
      </p:sp>
      <p:sp>
        <p:nvSpPr>
          <p:cNvPr id="18" name="Statistique 2"/>
          <p:cNvSpPr/>
          <p:nvPr/>
        </p:nvSpPr>
        <p:spPr>
          <a:xfrm>
            <a:off x="7452360" y="3017520"/>
            <a:ext cx="4187952" cy="1325880"/>
          </a:xfrm>
          <a:prstGeom prst="roundRect">
            <a:avLst>
              <a:gd name="adj" fmla="val 8276"/>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19" name="Text 17"/>
          <p:cNvSpPr txBox="1"/>
          <p:nvPr/>
        </p:nvSpPr>
        <p:spPr>
          <a:xfrm>
            <a:off x="7680960" y="3127248"/>
            <a:ext cx="1737360" cy="109728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1.00</a:t>
            </a:r>
            <a:endParaRPr lang="en-US" sz="4800" dirty="0"/>
          </a:p>
        </p:txBody>
      </p:sp>
      <p:sp>
        <p:nvSpPr>
          <p:cNvPr id="20" name="Text 18"/>
          <p:cNvSpPr txBox="1"/>
          <p:nvPr/>
        </p:nvSpPr>
        <p:spPr>
          <a:xfrm>
            <a:off x="9418320" y="3291840"/>
            <a:ext cx="2103120" cy="41148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injections detected</a:t>
            </a:r>
            <a:endParaRPr lang="en-US" sz="1500" dirty="0"/>
          </a:p>
        </p:txBody>
      </p:sp>
      <p:sp>
        <p:nvSpPr>
          <p:cNvPr id="21" name="Text 19"/>
          <p:cNvSpPr txBox="1"/>
          <p:nvPr/>
        </p:nvSpPr>
        <p:spPr>
          <a:xfrm>
            <a:off x="9418320" y="3730752"/>
            <a:ext cx="2103120" cy="36576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precision and recall</a:t>
            </a:r>
            <a:endParaRPr lang="en-US" sz="1200" dirty="0"/>
          </a:p>
        </p:txBody>
      </p:sp>
      <p:sp>
        <p:nvSpPr>
          <p:cNvPr id="22" name="Statistique 3"/>
          <p:cNvSpPr/>
          <p:nvPr/>
        </p:nvSpPr>
        <p:spPr>
          <a:xfrm>
            <a:off x="7452360" y="4526280"/>
            <a:ext cx="4187952" cy="1325880"/>
          </a:xfrm>
          <a:prstGeom prst="roundRect">
            <a:avLst>
              <a:gd name="adj" fmla="val 8276"/>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23" name="Text 21"/>
          <p:cNvSpPr txBox="1"/>
          <p:nvPr/>
        </p:nvSpPr>
        <p:spPr>
          <a:xfrm>
            <a:off x="7680960" y="4636008"/>
            <a:ext cx="1737360" cy="109728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1.00</a:t>
            </a:r>
            <a:endParaRPr lang="en-US" sz="4800" dirty="0"/>
          </a:p>
        </p:txBody>
      </p:sp>
      <p:sp>
        <p:nvSpPr>
          <p:cNvPr id="24" name="Text 22"/>
          <p:cNvSpPr txBox="1"/>
          <p:nvPr/>
        </p:nvSpPr>
        <p:spPr>
          <a:xfrm>
            <a:off x="9418320" y="4800600"/>
            <a:ext cx="2103120" cy="41148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right tool chosen</a:t>
            </a:r>
            <a:endParaRPr lang="en-US" sz="1500" dirty="0"/>
          </a:p>
        </p:txBody>
      </p:sp>
      <p:sp>
        <p:nvSpPr>
          <p:cNvPr id="25" name="Text 23"/>
          <p:cNvSpPr txBox="1"/>
          <p:nvPr/>
        </p:nvSpPr>
        <p:spPr>
          <a:xfrm>
            <a:off x="9418320" y="5239512"/>
            <a:ext cx="2103120" cy="36576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official floor 0.80</a:t>
            </a:r>
            <a:endParaRPr lang="en-US" sz="1200" dirty="0"/>
          </a:p>
        </p:txBody>
      </p:sp>
      <p:sp>
        <p:nvSpPr>
          <p:cNvPr id="26" name="Text 24"/>
          <p:cNvSpPr txBox="1"/>
          <p:nvPr/>
        </p:nvSpPr>
        <p:spPr>
          <a:xfrm>
            <a:off x="548640" y="5852160"/>
            <a:ext cx="11094415" cy="411480"/>
          </a:xfrm>
          <a:prstGeom prst="rect">
            <a:avLst/>
          </a:prstGeom>
          <a:noFill/>
          <a:ln/>
        </p:spPr>
        <p:txBody>
          <a:bodyPr wrap="square" lIns="0" tIns="0" rIns="0" bIns="0" rtlCol="0" anchor="t"/>
          <a:lstStyle/>
          <a:p>
            <a:pPr indent="0" marL="0">
              <a:buNone/>
            </a:pPr>
            <a:r>
              <a:rPr lang="en-US" sz="1200" i="1" dirty="0">
                <a:solidFill>
                  <a:schemeClr val="accent6"/>
                </a:solidFill>
                <a:latin typeface="Calibri" pitchFamily="34" charset="0"/>
                <a:ea typeface="Calibri" pitchFamily="34" charset="-122"/>
                <a:cs typeface="Calibri" pitchFamily="34" charset="-120"/>
              </a:rPr>
              <a:t>Evaluated against the official Meterless thresholds (thresholds.yaml): 59 intents, 22 injection cases including the 10 official ones, 6 edge cases.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What makes our use unique</a:t>
            </a:r>
            <a:endParaRPr lang="en-US" sz="3400" dirty="0"/>
          </a:p>
        </p:txBody>
      </p:sp>
      <p:sp>
        <p:nvSpPr>
          <p:cNvPr id="3" name="Unique 1"/>
          <p:cNvSpPr/>
          <p:nvPr/>
        </p:nvSpPr>
        <p:spPr>
          <a:xfrm>
            <a:off x="548640" y="1508760"/>
            <a:ext cx="5422392" cy="2103120"/>
          </a:xfrm>
          <a:prstGeom prst="roundRect">
            <a:avLst>
              <a:gd name="adj" fmla="val 5217"/>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4" name="Unique 1 cercle"/>
          <p:cNvSpPr/>
          <p:nvPr/>
        </p:nvSpPr>
        <p:spPr>
          <a:xfrm>
            <a:off x="822960" y="1783080"/>
            <a:ext cx="777240" cy="777240"/>
          </a:xfrm>
          <a:prstGeom prst="ellipse">
            <a:avLst/>
          </a:prstGeom>
          <a:solidFill>
            <a:srgbClr val="C2562F"/>
          </a:solidFill>
          <a:ln w="12700">
            <a:solidFill>
              <a:srgbClr val="C2562F"/>
            </a:solidFill>
            <a:prstDash val="solid"/>
          </a:ln>
        </p:spPr>
      </p:sp>
      <p:pic>
        <p:nvPicPr>
          <p:cNvPr id="5" name="Unique 1 icône" descr="preencoded.png">    </p:cNvPr>
          <p:cNvPicPr>
            <a:picLocks noChangeAspect="1"/>
          </p:cNvPicPr>
          <p:nvPr/>
        </p:nvPicPr>
        <p:blipFill>
          <a:blip r:embed="rId1"/>
          <a:stretch>
            <a:fillRect/>
          </a:stretch>
        </p:blipFill>
        <p:spPr>
          <a:xfrm>
            <a:off x="1009498" y="1969618"/>
            <a:ext cx="404165" cy="404165"/>
          </a:xfrm>
          <a:prstGeom prst="rect">
            <a:avLst/>
          </a:prstGeom>
        </p:spPr>
      </p:pic>
      <p:sp>
        <p:nvSpPr>
          <p:cNvPr id="6" name="Text 3"/>
          <p:cNvSpPr txBox="1"/>
          <p:nvPr/>
        </p:nvSpPr>
        <p:spPr>
          <a:xfrm>
            <a:off x="1828800" y="1874520"/>
            <a:ext cx="3931920" cy="50292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Scout as a real safeguard</a:t>
            </a:r>
            <a:endParaRPr lang="en-US" sz="1900" dirty="0"/>
          </a:p>
        </p:txBody>
      </p:sp>
      <p:sp>
        <p:nvSpPr>
          <p:cNvPr id="7" name="Text 4"/>
          <p:cNvSpPr txBox="1"/>
          <p:nvPr/>
        </p:nvSpPr>
        <p:spPr>
          <a:xfrm>
            <a:off x="822960" y="2651760"/>
            <a:ext cx="4892040" cy="86868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No tool without a signed contract; the "send the deposit by Orange Money" scam is blocked before any model call.</a:t>
            </a:r>
            <a:endParaRPr lang="en-US" sz="1400" dirty="0"/>
          </a:p>
        </p:txBody>
      </p:sp>
      <p:sp>
        <p:nvSpPr>
          <p:cNvPr id="8" name="Unique 2"/>
          <p:cNvSpPr/>
          <p:nvPr/>
        </p:nvSpPr>
        <p:spPr>
          <a:xfrm>
            <a:off x="6217920" y="1508760"/>
            <a:ext cx="5422392" cy="2103120"/>
          </a:xfrm>
          <a:prstGeom prst="roundRect">
            <a:avLst>
              <a:gd name="adj" fmla="val 5217"/>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9" name="Unique 2 cercle"/>
          <p:cNvSpPr/>
          <p:nvPr/>
        </p:nvSpPr>
        <p:spPr>
          <a:xfrm>
            <a:off x="6492240" y="1783080"/>
            <a:ext cx="777240" cy="777240"/>
          </a:xfrm>
          <a:prstGeom prst="ellipse">
            <a:avLst/>
          </a:prstGeom>
          <a:solidFill>
            <a:srgbClr val="0F6B52"/>
          </a:solidFill>
          <a:ln w="12700">
            <a:solidFill>
              <a:srgbClr val="0F6B52"/>
            </a:solidFill>
            <a:prstDash val="solid"/>
          </a:ln>
        </p:spPr>
      </p:sp>
      <p:pic>
        <p:nvPicPr>
          <p:cNvPr id="10" name="Unique 2 icône" descr="preencoded.png">    </p:cNvPr>
          <p:cNvPicPr>
            <a:picLocks noChangeAspect="1"/>
          </p:cNvPicPr>
          <p:nvPr/>
        </p:nvPicPr>
        <p:blipFill>
          <a:blip r:embed="rId2"/>
          <a:stretch>
            <a:fillRect/>
          </a:stretch>
        </p:blipFill>
        <p:spPr>
          <a:xfrm>
            <a:off x="6678778" y="1969618"/>
            <a:ext cx="404165" cy="404165"/>
          </a:xfrm>
          <a:prstGeom prst="rect">
            <a:avLst/>
          </a:prstGeom>
        </p:spPr>
      </p:pic>
      <p:sp>
        <p:nvSpPr>
          <p:cNvPr id="11" name="Text 7"/>
          <p:cNvSpPr txBox="1"/>
          <p:nvPr/>
        </p:nvSpPr>
        <p:spPr>
          <a:xfrm>
            <a:off x="7498080" y="1874520"/>
            <a:ext cx="3931920" cy="50292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Zetaris on a living database</a:t>
            </a:r>
            <a:endParaRPr lang="en-US" sz="1900" dirty="0"/>
          </a:p>
        </p:txBody>
      </p:sp>
      <p:sp>
        <p:nvSpPr>
          <p:cNvPr id="12" name="Text 8"/>
          <p:cNvSpPr txBox="1"/>
          <p:nvPr/>
        </p:nvSpPr>
        <p:spPr>
          <a:xfrm>
            <a:off x="6492240" y="2651760"/>
            <a:ext cx="4892040" cy="86868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Approved landlord listings join the data layer without changing the agent.</a:t>
            </a:r>
            <a:endParaRPr lang="en-US" sz="1400" dirty="0"/>
          </a:p>
        </p:txBody>
      </p:sp>
      <p:sp>
        <p:nvSpPr>
          <p:cNvPr id="13" name="Unique 3"/>
          <p:cNvSpPr/>
          <p:nvPr/>
        </p:nvSpPr>
        <p:spPr>
          <a:xfrm>
            <a:off x="548640" y="3840480"/>
            <a:ext cx="5422392" cy="2103120"/>
          </a:xfrm>
          <a:prstGeom prst="roundRect">
            <a:avLst>
              <a:gd name="adj" fmla="val 5217"/>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14" name="Unique 3 cercle"/>
          <p:cNvSpPr/>
          <p:nvPr/>
        </p:nvSpPr>
        <p:spPr>
          <a:xfrm>
            <a:off x="822960" y="4114800"/>
            <a:ext cx="777240" cy="777240"/>
          </a:xfrm>
          <a:prstGeom prst="ellipse">
            <a:avLst/>
          </a:prstGeom>
          <a:solidFill>
            <a:srgbClr val="0F6B52"/>
          </a:solidFill>
          <a:ln w="12700">
            <a:solidFill>
              <a:srgbClr val="0F6B52"/>
            </a:solidFill>
            <a:prstDash val="solid"/>
          </a:ln>
        </p:spPr>
      </p:sp>
      <p:pic>
        <p:nvPicPr>
          <p:cNvPr id="15" name="Unique 3 icône" descr="preencoded.png">    </p:cNvPr>
          <p:cNvPicPr>
            <a:picLocks noChangeAspect="1"/>
          </p:cNvPicPr>
          <p:nvPr/>
        </p:nvPicPr>
        <p:blipFill>
          <a:blip r:embed="rId3"/>
          <a:stretch>
            <a:fillRect/>
          </a:stretch>
        </p:blipFill>
        <p:spPr>
          <a:xfrm>
            <a:off x="1009498" y="4301338"/>
            <a:ext cx="404165" cy="404165"/>
          </a:xfrm>
          <a:prstGeom prst="rect">
            <a:avLst/>
          </a:prstGeom>
        </p:spPr>
      </p:pic>
      <p:sp>
        <p:nvSpPr>
          <p:cNvPr id="16" name="Text 11"/>
          <p:cNvSpPr txBox="1"/>
          <p:nvPr/>
        </p:nvSpPr>
        <p:spPr>
          <a:xfrm>
            <a:off x="1828800" y="4206240"/>
            <a:ext cx="3931920" cy="50292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Nemotron invents nothing</a:t>
            </a:r>
            <a:endParaRPr lang="en-US" sz="1900" dirty="0"/>
          </a:p>
        </p:txBody>
      </p:sp>
      <p:sp>
        <p:nvSpPr>
          <p:cNvPr id="17" name="Text 12"/>
          <p:cNvSpPr txBox="1"/>
          <p:nvPr/>
        </p:nvSpPr>
        <p:spPr>
          <a:xfrm>
            <a:off x="822960" y="4983480"/>
            <a:ext cx="4892040" cy="86868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It only sees computed facts; when information is missing, it says so and advises asking for it.</a:t>
            </a:r>
            <a:endParaRPr lang="en-US" sz="1400" dirty="0"/>
          </a:p>
        </p:txBody>
      </p:sp>
      <p:sp>
        <p:nvSpPr>
          <p:cNvPr id="18" name="Unique 4"/>
          <p:cNvSpPr/>
          <p:nvPr/>
        </p:nvSpPr>
        <p:spPr>
          <a:xfrm>
            <a:off x="6217920" y="3840480"/>
            <a:ext cx="5422392" cy="2103120"/>
          </a:xfrm>
          <a:prstGeom prst="roundRect">
            <a:avLst>
              <a:gd name="adj" fmla="val 5217"/>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19" name="Unique 4 cercle"/>
          <p:cNvSpPr/>
          <p:nvPr/>
        </p:nvSpPr>
        <p:spPr>
          <a:xfrm>
            <a:off x="6492240" y="4114800"/>
            <a:ext cx="777240" cy="777240"/>
          </a:xfrm>
          <a:prstGeom prst="ellipse">
            <a:avLst/>
          </a:prstGeom>
          <a:solidFill>
            <a:srgbClr val="0F6B52"/>
          </a:solidFill>
          <a:ln w="12700">
            <a:solidFill>
              <a:srgbClr val="0F6B52"/>
            </a:solidFill>
            <a:prstDash val="solid"/>
          </a:ln>
        </p:spPr>
      </p:sp>
      <p:pic>
        <p:nvPicPr>
          <p:cNvPr id="20" name="Unique 4 icône" descr="preencoded.png">    </p:cNvPr>
          <p:cNvPicPr>
            <a:picLocks noChangeAspect="1"/>
          </p:cNvPicPr>
          <p:nvPr/>
        </p:nvPicPr>
        <p:blipFill>
          <a:blip r:embed="rId4"/>
          <a:stretch>
            <a:fillRect/>
          </a:stretch>
        </p:blipFill>
        <p:spPr>
          <a:xfrm>
            <a:off x="6678778" y="4301338"/>
            <a:ext cx="404165" cy="404165"/>
          </a:xfrm>
          <a:prstGeom prst="rect">
            <a:avLst/>
          </a:prstGeom>
        </p:spPr>
      </p:pic>
      <p:sp>
        <p:nvSpPr>
          <p:cNvPr id="21" name="Text 15"/>
          <p:cNvSpPr txBox="1"/>
          <p:nvPr/>
        </p:nvSpPr>
        <p:spPr>
          <a:xfrm>
            <a:off x="7498080" y="4206240"/>
            <a:ext cx="3931920" cy="50292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Reliable demo</a:t>
            </a:r>
            <a:endParaRPr lang="en-US" sz="1900" dirty="0"/>
          </a:p>
        </p:txBody>
      </p:sp>
      <p:sp>
        <p:nvSpPr>
          <p:cNvPr id="22" name="Text 16"/>
          <p:cNvSpPr txBox="1"/>
          <p:nvPr/>
        </p:nvSpPr>
        <p:spPr>
          <a:xfrm>
            <a:off x="6492240" y="4983480"/>
            <a:ext cx="4892040" cy="86868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Everything verified live; SAMPLE_MODE runs the flow without any external service.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The product in pictures</a:t>
            </a:r>
            <a:endParaRPr lang="en-US" sz="3400" dirty="0"/>
          </a:p>
        </p:txBody>
      </p:sp>
      <p:pic>
        <p:nvPicPr>
          <p:cNvPr id="3" name="Search results" descr="Kwatsur results: listing card with a labelled sample photo, rent and amenities">    </p:cNvPr>
          <p:cNvPicPr>
            <a:picLocks noChangeAspect="1"/>
          </p:cNvPicPr>
          <p:nvPr/>
        </p:nvPicPr>
        <p:blipFill>
          <a:blip r:embed="rId1"/>
          <a:stretch>
            <a:fillRect/>
          </a:stretch>
        </p:blipFill>
        <p:spPr>
          <a:xfrm>
            <a:off x="1453896" y="1417320"/>
            <a:ext cx="4983480" cy="3931920"/>
          </a:xfrm>
          <a:prstGeom prst="rect">
            <a:avLst/>
          </a:prstGeom>
        </p:spPr>
      </p:pic>
      <p:pic>
        <p:nvPicPr>
          <p:cNvPr id="4" name="Living room illustration" descr="AI-generated living room for a home in Douala">    </p:cNvPr>
          <p:cNvPicPr>
            <a:picLocks noChangeAspect="1"/>
          </p:cNvPicPr>
          <p:nvPr/>
        </p:nvPicPr>
        <p:blipFill>
          <a:blip r:embed="rId2"/>
          <a:stretch>
            <a:fillRect/>
          </a:stretch>
        </p:blipFill>
        <p:spPr>
          <a:xfrm>
            <a:off x="6803136" y="1417320"/>
            <a:ext cx="3931920" cy="3931920"/>
          </a:xfrm>
          <a:prstGeom prst="rect">
            <a:avLst/>
          </a:prstGeom>
        </p:spPr>
      </p:pic>
      <p:sp>
        <p:nvSpPr>
          <p:cNvPr id="5" name="Text 1"/>
          <p:cNvSpPr txBox="1"/>
          <p:nvPr/>
        </p:nvSpPr>
        <p:spPr>
          <a:xfrm>
            <a:off x="1453896" y="5486400"/>
            <a:ext cx="4983480" cy="64008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Results: credited sample photo, rent, amenities; unknown information stays "not specified".</a:t>
            </a:r>
            <a:endParaRPr lang="en-US" sz="1300" dirty="0"/>
          </a:p>
        </p:txBody>
      </p:sp>
      <p:sp>
        <p:nvSpPr>
          <p:cNvPr id="6" name="Text 2"/>
          <p:cNvSpPr txBox="1"/>
          <p:nvPr/>
        </p:nvSpPr>
        <p:spPr>
          <a:xfrm>
            <a:off x="6803136" y="5486400"/>
            <a:ext cx="3931920" cy="64008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AI illustration of a living room (Cloudflare FLUX), guided by vision and Cameroonian context, always labelled.</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What's next</a:t>
            </a:r>
            <a:endParaRPr lang="en-US" sz="3400" dirty="0"/>
          </a:p>
        </p:txBody>
      </p:sp>
      <p:sp>
        <p:nvSpPr>
          <p:cNvPr id="3" name="Suite 1"/>
          <p:cNvSpPr/>
          <p:nvPr/>
        </p:nvSpPr>
        <p:spPr>
          <a:xfrm>
            <a:off x="548640" y="1463040"/>
            <a:ext cx="5422392" cy="1325880"/>
          </a:xfrm>
          <a:prstGeom prst="roundRect">
            <a:avLst>
              <a:gd name="adj" fmla="val 8276"/>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4" name="Text 2"/>
          <p:cNvSpPr txBox="1"/>
          <p:nvPr/>
        </p:nvSpPr>
        <p:spPr>
          <a:xfrm>
            <a:off x="822960" y="1691640"/>
            <a:ext cx="640080" cy="82296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1</a:t>
            </a:r>
            <a:endParaRPr lang="en-US" sz="3600" dirty="0"/>
          </a:p>
        </p:txBody>
      </p:sp>
      <p:sp>
        <p:nvSpPr>
          <p:cNvPr id="5" name="Text 3"/>
          <p:cNvSpPr txBox="1"/>
          <p:nvPr/>
        </p:nvSpPr>
        <p:spPr>
          <a:xfrm>
            <a:off x="1554480" y="1664208"/>
            <a:ext cx="4206240" cy="41148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Real listing sources</a:t>
            </a:r>
            <a:endParaRPr lang="en-US" sz="1800" dirty="0"/>
          </a:p>
        </p:txBody>
      </p:sp>
      <p:sp>
        <p:nvSpPr>
          <p:cNvPr id="6" name="Text 4"/>
          <p:cNvSpPr txBox="1"/>
          <p:nvPr/>
        </p:nvSpPr>
        <p:spPr>
          <a:xfrm>
            <a:off x="1554480" y="2121408"/>
            <a:ext cx="4206240" cy="54864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Agencies and partner platforms plugged into Zetaris</a:t>
            </a:r>
            <a:endParaRPr lang="en-US" sz="1400" dirty="0"/>
          </a:p>
        </p:txBody>
      </p:sp>
      <p:sp>
        <p:nvSpPr>
          <p:cNvPr id="7" name="Suite 2"/>
          <p:cNvSpPr/>
          <p:nvPr/>
        </p:nvSpPr>
        <p:spPr>
          <a:xfrm>
            <a:off x="6217920" y="1463040"/>
            <a:ext cx="5422392" cy="1325880"/>
          </a:xfrm>
          <a:prstGeom prst="roundRect">
            <a:avLst>
              <a:gd name="adj" fmla="val 8276"/>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8" name="Text 6"/>
          <p:cNvSpPr txBox="1"/>
          <p:nvPr/>
        </p:nvSpPr>
        <p:spPr>
          <a:xfrm>
            <a:off x="6492240" y="1691640"/>
            <a:ext cx="640080" cy="82296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2</a:t>
            </a:r>
            <a:endParaRPr lang="en-US" sz="3600" dirty="0"/>
          </a:p>
        </p:txBody>
      </p:sp>
      <p:sp>
        <p:nvSpPr>
          <p:cNvPr id="9" name="Text 7"/>
          <p:cNvSpPr txBox="1"/>
          <p:nvPr/>
        </p:nvSpPr>
        <p:spPr>
          <a:xfrm>
            <a:off x="7223760" y="1664208"/>
            <a:ext cx="4206240" cy="41148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Memory across sessions</a:t>
            </a:r>
            <a:endParaRPr lang="en-US" sz="1800" dirty="0"/>
          </a:p>
        </p:txBody>
      </p:sp>
      <p:sp>
        <p:nvSpPr>
          <p:cNvPr id="10" name="Text 8"/>
          <p:cNvSpPr txBox="1"/>
          <p:nvPr/>
        </p:nvSpPr>
        <p:spPr>
          <a:xfrm>
            <a:off x="7223760" y="2121408"/>
            <a:ext cx="4206240" cy="54864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Meterless H-MEM engine: keep preferences from one visit to the next</a:t>
            </a:r>
            <a:endParaRPr lang="en-US" sz="1400" dirty="0"/>
          </a:p>
        </p:txBody>
      </p:sp>
      <p:sp>
        <p:nvSpPr>
          <p:cNvPr id="11" name="Suite 3"/>
          <p:cNvSpPr/>
          <p:nvPr/>
        </p:nvSpPr>
        <p:spPr>
          <a:xfrm>
            <a:off x="548640" y="3017520"/>
            <a:ext cx="5422392" cy="1325880"/>
          </a:xfrm>
          <a:prstGeom prst="roundRect">
            <a:avLst>
              <a:gd name="adj" fmla="val 8276"/>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12" name="Text 10"/>
          <p:cNvSpPr txBox="1"/>
          <p:nvPr/>
        </p:nvSpPr>
        <p:spPr>
          <a:xfrm>
            <a:off x="822960" y="3246120"/>
            <a:ext cx="640080" cy="82296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a:t>
            </a:r>
            <a:endParaRPr lang="en-US" sz="3600" dirty="0"/>
          </a:p>
        </p:txBody>
      </p:sp>
      <p:sp>
        <p:nvSpPr>
          <p:cNvPr id="13" name="Text 11"/>
          <p:cNvSpPr txBox="1"/>
          <p:nvPr/>
        </p:nvSpPr>
        <p:spPr>
          <a:xfrm>
            <a:off x="1554480" y="3218688"/>
            <a:ext cx="4206240" cy="41148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Checker agent</a:t>
            </a:r>
            <a:endParaRPr lang="en-US" sz="1800" dirty="0"/>
          </a:p>
        </p:txBody>
      </p:sp>
      <p:sp>
        <p:nvSpPr>
          <p:cNvPr id="14" name="Text 12"/>
          <p:cNvSpPr txBox="1"/>
          <p:nvPr/>
        </p:nvSpPr>
        <p:spPr>
          <a:xfrm>
            <a:off x="1554480" y="3675888"/>
            <a:ext cx="4206240" cy="54864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A second agent that reviews each explanation before sending</a:t>
            </a:r>
            <a:endParaRPr lang="en-US" sz="1400" dirty="0"/>
          </a:p>
        </p:txBody>
      </p:sp>
      <p:sp>
        <p:nvSpPr>
          <p:cNvPr id="15" name="Suite 4"/>
          <p:cNvSpPr/>
          <p:nvPr/>
        </p:nvSpPr>
        <p:spPr>
          <a:xfrm>
            <a:off x="6217920" y="3017520"/>
            <a:ext cx="5422392" cy="1325880"/>
          </a:xfrm>
          <a:prstGeom prst="roundRect">
            <a:avLst>
              <a:gd name="adj" fmla="val 8276"/>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16" name="Text 14"/>
          <p:cNvSpPr txBox="1"/>
          <p:nvPr/>
        </p:nvSpPr>
        <p:spPr>
          <a:xfrm>
            <a:off x="6492240" y="3246120"/>
            <a:ext cx="640080" cy="82296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4</a:t>
            </a:r>
            <a:endParaRPr lang="en-US" sz="3600" dirty="0"/>
          </a:p>
        </p:txBody>
      </p:sp>
      <p:sp>
        <p:nvSpPr>
          <p:cNvPr id="17" name="Text 15"/>
          <p:cNvSpPr txBox="1"/>
          <p:nvPr/>
        </p:nvSpPr>
        <p:spPr>
          <a:xfrm>
            <a:off x="7223760" y="3218688"/>
            <a:ext cx="4206240" cy="41148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Trust</a:t>
            </a:r>
            <a:endParaRPr lang="en-US" sz="1800" dirty="0"/>
          </a:p>
        </p:txBody>
      </p:sp>
      <p:sp>
        <p:nvSpPr>
          <p:cNvPr id="18" name="Text 16"/>
          <p:cNvSpPr txBox="1"/>
          <p:nvPr/>
        </p:nvSpPr>
        <p:spPr>
          <a:xfrm>
            <a:off x="7223760" y="3675888"/>
            <a:ext cx="4206240" cy="54864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Accounts, verified visits, reporting suspicious listings</a:t>
            </a:r>
            <a:endParaRPr lang="en-US" sz="1400" dirty="0"/>
          </a:p>
        </p:txBody>
      </p:sp>
      <p:sp>
        <p:nvSpPr>
          <p:cNvPr id="19" name="Suite 5"/>
          <p:cNvSpPr/>
          <p:nvPr/>
        </p:nvSpPr>
        <p:spPr>
          <a:xfrm>
            <a:off x="548640" y="4572000"/>
            <a:ext cx="5422392" cy="1325880"/>
          </a:xfrm>
          <a:prstGeom prst="roundRect">
            <a:avLst>
              <a:gd name="adj" fmla="val 8276"/>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20" name="Text 18"/>
          <p:cNvSpPr txBox="1"/>
          <p:nvPr/>
        </p:nvSpPr>
        <p:spPr>
          <a:xfrm>
            <a:off x="822960" y="4800600"/>
            <a:ext cx="640080" cy="82296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5</a:t>
            </a:r>
            <a:endParaRPr lang="en-US" sz="3600" dirty="0"/>
          </a:p>
        </p:txBody>
      </p:sp>
      <p:sp>
        <p:nvSpPr>
          <p:cNvPr id="21" name="Text 19"/>
          <p:cNvSpPr txBox="1"/>
          <p:nvPr/>
        </p:nvSpPr>
        <p:spPr>
          <a:xfrm>
            <a:off x="1554480" y="4773168"/>
            <a:ext cx="4206240" cy="41148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Channels</a:t>
            </a:r>
            <a:endParaRPr lang="en-US" sz="1800" dirty="0"/>
          </a:p>
        </p:txBody>
      </p:sp>
      <p:sp>
        <p:nvSpPr>
          <p:cNvPr id="22" name="Text 20"/>
          <p:cNvSpPr txBox="1"/>
          <p:nvPr/>
        </p:nvSpPr>
        <p:spPr>
          <a:xfrm>
            <a:off x="1554480" y="5230368"/>
            <a:ext cx="4206240" cy="54864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WhatsApp and SMS, where people look for homes in Cameroon</a:t>
            </a:r>
            <a:endParaRPr lang="en-US" sz="1400" dirty="0"/>
          </a:p>
        </p:txBody>
      </p:sp>
      <p:sp>
        <p:nvSpPr>
          <p:cNvPr id="23" name="Suite 6"/>
          <p:cNvSpPr/>
          <p:nvPr/>
        </p:nvSpPr>
        <p:spPr>
          <a:xfrm>
            <a:off x="6217920" y="4572000"/>
            <a:ext cx="5422392" cy="1325880"/>
          </a:xfrm>
          <a:prstGeom prst="roundRect">
            <a:avLst>
              <a:gd name="adj" fmla="val 8276"/>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24" name="Text 22"/>
          <p:cNvSpPr txBox="1"/>
          <p:nvPr/>
        </p:nvSpPr>
        <p:spPr>
          <a:xfrm>
            <a:off x="6492240" y="4800600"/>
            <a:ext cx="640080" cy="82296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6</a:t>
            </a:r>
            <a:endParaRPr lang="en-US" sz="3600" dirty="0"/>
          </a:p>
        </p:txBody>
      </p:sp>
      <p:sp>
        <p:nvSpPr>
          <p:cNvPr id="25" name="Text 23"/>
          <p:cNvSpPr txBox="1"/>
          <p:nvPr/>
        </p:nvSpPr>
        <p:spPr>
          <a:xfrm>
            <a:off x="7223760" y="4773168"/>
            <a:ext cx="4206240" cy="41148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Coverage</a:t>
            </a:r>
            <a:endParaRPr lang="en-US" sz="1800" dirty="0"/>
          </a:p>
        </p:txBody>
      </p:sp>
      <p:sp>
        <p:nvSpPr>
          <p:cNvPr id="26" name="Text 24"/>
          <p:cNvSpPr txBox="1"/>
          <p:nvPr/>
        </p:nvSpPr>
        <p:spPr>
          <a:xfrm>
            <a:off x="7223760" y="5230368"/>
            <a:ext cx="4206240" cy="54864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More cities (Bafoussam, Garoua, Kribi) and English</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8686800" cy="1280160"/>
          </a:xfrm>
          <a:prstGeom prst="rect">
            <a:avLst/>
          </a:prstGeom>
          <a:noFill/>
          <a:ln/>
        </p:spPr>
        <p:txBody>
          <a:bodyPr wrap="square" lIns="0" tIns="0" rIns="0" bIns="0" rtlCol="0" anchor="b"/>
          <a:lstStyle/>
          <a:p>
            <a:pPr algn="l" indent="0" marL="0">
              <a:buNone/>
            </a:pPr>
            <a:r>
              <a:rPr lang="en-US" sz="6000" b="1" dirty="0">
                <a:solidFill>
                  <a:schemeClr val="bg1"/>
                </a:solidFill>
                <a:latin typeface="Arial" pitchFamily="34" charset="0"/>
                <a:ea typeface="Arial" pitchFamily="34" charset="-122"/>
                <a:cs typeface="Arial" pitchFamily="34" charset="-120"/>
              </a:rPr>
              <a:t>Thank you</a:t>
            </a:r>
            <a:endParaRPr lang="en-US" sz="6000" dirty="0"/>
          </a:p>
        </p:txBody>
      </p:sp>
      <p:sp>
        <p:nvSpPr>
          <p:cNvPr id="3" name="Text 0"/>
          <p:cNvSpPr/>
          <p:nvPr>
            <p:ph idx="101" type="body" hasCustomPrompt="1"/>
          </p:nvPr>
        </p:nvSpPr>
        <p:spPr>
          <a:xfrm>
            <a:off x="548640" y="3337560"/>
            <a:ext cx="8412480" cy="1463040"/>
          </a:xfrm>
          <a:prstGeom prst="rect">
            <a:avLst/>
          </a:prstGeom>
          <a:noFill/>
          <a:ln/>
        </p:spPr>
        <p:txBody>
          <a:bodyPr wrap="square" lIns="0" tIns="0" rIns="0" bIns="0" rtlCol="0" anchor="t"/>
          <a:lstStyle/>
          <a:p>
            <a:pPr indent="0" marL="0">
              <a:buNone/>
            </a:pPr>
            <a:r>
              <a:rPr lang="en-US" sz="2400" dirty="0">
                <a:solidFill>
                  <a:schemeClr val="accent3"/>
                </a:solidFill>
                <a:latin typeface="Calibri" pitchFamily="34" charset="0"/>
                <a:ea typeface="Calibri" pitchFamily="34" charset="-122"/>
                <a:cs typeface="Calibri" pitchFamily="34" charset="-120"/>
              </a:rPr>
              <a:t>Kwatsur searches, checks and explains, without ever inventing.</a:t>
            </a:r>
            <a:endParaRPr lang="en-US" sz="2400" dirty="0"/>
          </a:p>
        </p:txBody>
      </p:sp>
      <p:sp>
        <p:nvSpPr>
          <p:cNvPr id="4" name="GitHub cercle"/>
          <p:cNvSpPr/>
          <p:nvPr/>
        </p:nvSpPr>
        <p:spPr>
          <a:xfrm>
            <a:off x="9692640" y="2011680"/>
            <a:ext cx="1828800" cy="1828800"/>
          </a:xfrm>
          <a:prstGeom prst="ellipse">
            <a:avLst/>
          </a:prstGeom>
          <a:solidFill>
            <a:srgbClr val="0A4A39"/>
          </a:solidFill>
          <a:ln w="12700">
            <a:solidFill>
              <a:srgbClr val="0A4A39"/>
            </a:solidFill>
            <a:prstDash val="solid"/>
          </a:ln>
        </p:spPr>
      </p:sp>
      <p:pic>
        <p:nvPicPr>
          <p:cNvPr id="5" name="GitHub icône" descr="preencoded.png">    </p:cNvPr>
          <p:cNvPicPr>
            <a:picLocks noChangeAspect="1"/>
          </p:cNvPicPr>
          <p:nvPr/>
        </p:nvPicPr>
        <p:blipFill>
          <a:blip r:embed="rId1"/>
          <a:stretch>
            <a:fillRect/>
          </a:stretch>
        </p:blipFill>
        <p:spPr>
          <a:xfrm>
            <a:off x="10131552" y="2450592"/>
            <a:ext cx="950976" cy="950976"/>
          </a:xfrm>
          <a:prstGeom prst="rect">
            <a:avLst/>
          </a:prstGeom>
        </p:spPr>
      </p:pic>
      <p:sp>
        <p:nvSpPr>
          <p:cNvPr id="6" name="Text 3"/>
          <p:cNvSpPr txBox="1"/>
          <p:nvPr/>
        </p:nvSpPr>
        <p:spPr>
          <a:xfrm>
            <a:off x="548640" y="5394960"/>
            <a:ext cx="10058400" cy="365760"/>
          </a:xfrm>
          <a:prstGeom prst="rect">
            <a:avLst/>
          </a:prstGeom>
          <a:noFill/>
          <a:ln/>
        </p:spPr>
        <p:txBody>
          <a:bodyPr wrap="square" lIns="0" tIns="0" rIns="0" bIns="0" rtlCol="0" anchor="t"/>
          <a:lstStyle/>
          <a:p>
            <a:pPr indent="0" marL="0">
              <a:buNone/>
            </a:pPr>
            <a:r>
              <a:rPr lang="en-US" sz="1800" b="1" dirty="0">
                <a:solidFill>
                  <a:schemeClr val="bg1"/>
                </a:solidFill>
                <a:latin typeface="Calibri" pitchFamily="34" charset="0"/>
                <a:ea typeface="Calibri" pitchFamily="34" charset="-122"/>
                <a:cs typeface="Calibri" pitchFamily="34" charset="-120"/>
              </a:rPr>
              <a:t>github.com/saoulforotheruse-tech/kwatsur</a:t>
            </a:r>
            <a:endParaRPr lang="en-US" sz="1800" dirty="0"/>
          </a:p>
        </p:txBody>
      </p:sp>
      <p:sp>
        <p:nvSpPr>
          <p:cNvPr id="7" name="Text 4"/>
          <p:cNvSpPr txBox="1"/>
          <p:nvPr/>
        </p:nvSpPr>
        <p:spPr>
          <a:xfrm>
            <a:off x="548640" y="5806440"/>
            <a:ext cx="10515600" cy="3657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Start: docker compose up --build  ·  fallback without external services: SAMPLE_MODE=true</a:t>
            </a:r>
            <a:endParaRPr lang="en-US" sz="1400" dirty="0"/>
          </a:p>
        </p:txBody>
      </p:sp>
    </p:spTree>
  </p:cSld>
  <p:clrMapOvr>
    <a:masterClrMapping/>
  </p:clrMapOvr>
</p:sld>
</file>

<file path=ppt/theme/theme1.xml><?xml version="1.0" encoding="utf-8"?>
<a:theme xmlns:a="http://schemas.openxmlformats.org/drawingml/2006/main" name="Kwatsur">
  <a:themeElements>
    <a:clrScheme name="Kwatsur">
      <a:dk1>
        <a:srgbClr val="14231C"/>
      </a:dk1>
      <a:lt1>
        <a:srgbClr val="FFFFFF"/>
      </a:lt1>
      <a:dk2>
        <a:srgbClr val="0A4A39"/>
      </a:dk2>
      <a:lt2>
        <a:srgbClr val="EEF5F1"/>
      </a:lt2>
      <a:accent1>
        <a:srgbClr val="0F6B52"/>
      </a:accent1>
      <a:accent2>
        <a:srgbClr val="C2562F"/>
      </a:accent2>
      <a:accent3>
        <a:srgbClr val="D8EFE6"/>
      </a:accent3>
      <a:accent4>
        <a:srgbClr val="3D5348"/>
      </a:accent4>
      <a:accent5>
        <a:srgbClr val="E8B04B"/>
      </a:accent5>
      <a:accent6>
        <a:srgbClr val="6B7F74"/>
      </a:accent6>
      <a:hlink>
        <a:srgbClr val="0F6B52"/>
      </a:hlink>
      <a:folHlink>
        <a:srgbClr val="0A4A39"/>
      </a:folHlink>
    </a:clrScheme>
    <a:fontScheme name="Kwatsu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Kwatsur — Open Agent Hackathon 2026</dc:title>
  <dc:subject>PptxGenJS Presentation</dc:subject>
  <dc:creator>Kwatsur team</dc:creator>
  <cp:lastModifiedBy>Kwatsur team</cp:lastModifiedBy>
  <cp:revision>1</cp:revision>
  <dcterms:created xsi:type="dcterms:W3CDTF">2026-10-27T15:16:53Z</dcterms:created>
  <dcterms:modified xsi:type="dcterms:W3CDTF">2026-10-27T15:16:53Z</dcterms:modified>
</cp:coreProperties>
</file>