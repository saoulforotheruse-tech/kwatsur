
<file path=[Content_Types].xml><?xml version="1.0" encoding="utf-8"?>
<ns0:Types xmlns:ns0="http://schemas.openxmlformats.org/package/2006/content-types">
  <ns0:Default Extension="xml" ContentType="application/xml"/>
  <ns0:Default Extension="rels" ContentType="application/vnd.openxmlformats-package.relationships+xml"/>
  <ns0:Default Extension="jpeg" ContentType="image/jpeg"/>
  <ns0:Default Extension="jpg" ContentType="image/jpg"/>
  <ns0:Default Extension="svg" ContentType="image/svg+xml"/>
  <ns0:Default Extension="png" ContentType="image/png"/>
  <ns0:Default Extension="gif" ContentType="image/gif"/>
  <ns0:Default Extension="m4v" ContentType="video/mp4"/>
  <ns0:Default Extension="mp4" ContentType="video/mp4"/>
  <ns0:Default Extension="vml" ContentType="application/vnd.openxmlformats-officedocument.vmlDrawing"/>
  <ns0:Default Extension="xlsx" ContentType="application/vnd.openxmlformats-officedocument.spreadsheetml.sheet"/>
  <ns0:Override PartName="/ppt/presentation.xml" ContentType="application/vnd.openxmlformats-officedocument.presentationml.presentation.main+xml"/>
  <ns0:Override PartName="/ppt/notesMasters/notesMaster1.xml" ContentType="application/vnd.openxmlformats-officedocument.presentationml.notesMaster+xml"/>
  <ns0:Override PartName="/ppt/slideMasters/slideMaster1.xml" ContentType="application/vnd.openxmlformats-officedocument.presentationml.slideMaster+xml"/>
  <ns0:Override PartName="/ppt/slides/slide1.xml" ContentType="application/vnd.openxmlformats-officedocument.presentationml.slide+xml"/>
  <ns0:Override PartName="/ppt/slideMasters/slideMaster2.xml" ContentType="application/vnd.openxmlformats-officedocument.presentationml.slideMaster+xml"/>
  <ns0:Override PartName="/ppt/slides/slide2.xml" ContentType="application/vnd.openxmlformats-officedocument.presentationml.slide+xml"/>
  <ns0:Override PartName="/ppt/slideMasters/slideMaster3.xml" ContentType="application/vnd.openxmlformats-officedocument.presentationml.slideMaster+xml"/>
  <ns0:Override PartName="/ppt/slides/slide3.xml" ContentType="application/vnd.openxmlformats-officedocument.presentationml.slide+xml"/>
  <ns0:Override PartName="/ppt/slideMasters/slideMaster4.xml" ContentType="application/vnd.openxmlformats-officedocument.presentationml.slideMaster+xml"/>
  <ns0:Override PartName="/ppt/slides/slide4.xml" ContentType="application/vnd.openxmlformats-officedocument.presentationml.slide+xml"/>
  <ns0:Override PartName="/ppt/slideMasters/slideMaster5.xml" ContentType="application/vnd.openxmlformats-officedocument.presentationml.slideMaster+xml"/>
  <ns0:Override PartName="/ppt/slides/slide5.xml" ContentType="application/vnd.openxmlformats-officedocument.presentationml.slide+xml"/>
  <ns0:Override PartName="/ppt/slideMasters/slideMaster6.xml" ContentType="application/vnd.openxmlformats-officedocument.presentationml.slideMaster+xml"/>
  <ns0:Override PartName="/ppt/slides/slide6.xml" ContentType="application/vnd.openxmlformats-officedocument.presentationml.slide+xml"/>
  <ns0:Override PartName="/ppt/slideMasters/slideMaster7.xml" ContentType="application/vnd.openxmlformats-officedocument.presentationml.slideMaster+xml"/>
  <ns0:Override PartName="/ppt/slides/slide7.xml" ContentType="application/vnd.openxmlformats-officedocument.presentationml.slide+xml"/>
  <ns0:Override PartName="/ppt/slideMasters/slideMaster8.xml" ContentType="application/vnd.openxmlformats-officedocument.presentationml.slideMaster+xml"/>
  <ns0:Override PartName="/ppt/slides/slide8.xml" ContentType="application/vnd.openxmlformats-officedocument.presentationml.slide+xml"/>
  <ns0:Override PartName="/ppt/slideMasters/slideMaster9.xml" ContentType="application/vnd.openxmlformats-officedocument.presentationml.slideMaster+xml"/>
  <ns0:Override PartName="/ppt/slides/slide9.xml" ContentType="application/vnd.openxmlformats-officedocument.presentationml.slide+xml"/>
  <ns0:Override PartName="/ppt/slideMasters/slideMaster10.xml" ContentType="application/vnd.openxmlformats-officedocument.presentationml.slideMaster+xml"/>
  <ns0:Override PartName="/ppt/slides/slide10.xml" ContentType="application/vnd.openxmlformats-officedocument.presentationml.slide+xml"/>
  <ns0:Override PartName="/ppt/slideMasters/slideMaster11.xml" ContentType="application/vnd.openxmlformats-officedocument.presentationml.slideMaster+xml"/>
  <ns0:Override PartName="/ppt/slides/slide11.xml" ContentType="application/vnd.openxmlformats-officedocument.presentationml.slide+xml"/>
  <ns0:Override PartName="/ppt/presProps.xml" ContentType="application/vnd.openxmlformats-officedocument.presentationml.presProps+xml"/>
  <ns0:Override PartName="/ppt/viewProps.xml" ContentType="application/vnd.openxmlformats-officedocument.presentationml.viewProps+xml"/>
  <ns0:Override PartName="/ppt/theme/theme1.xml" ContentType="application/vnd.openxmlformats-officedocument.theme+xml"/>
  <ns0:Override PartName="/ppt/tableStyles.xml" ContentType="application/vnd.openxmlformats-officedocument.presentationml.tableStyles+xml"/>
  <ns0:Override PartName="/ppt/slideLayouts/slideLayout1.xml" ContentType="application/vnd.openxmlformats-officedocument.presentationml.slideLayout+xml"/>
  <ns0:Override PartName="/ppt/slideLayouts/slideLayout2.xml" ContentType="application/vnd.openxmlformats-officedocument.presentationml.slideLayout+xml"/>
  <ns0:Override PartName="/ppt/slideLayouts/slideLayout3.xml" ContentType="application/vnd.openxmlformats-officedocument.presentationml.slideLayout+xml"/>
  <ns0:Override PartName="/ppt/notesSlides/notesSlide1.xml" ContentType="application/vnd.openxmlformats-officedocument.presentationml.notesSlide+xml"/>
  <ns0:Override PartName="/ppt/notesSlides/notesSlide2.xml" ContentType="application/vnd.openxmlformats-officedocument.presentationml.notesSlide+xml"/>
  <ns0:Override PartName="/ppt/notesSlides/notesSlide3.xml" ContentType="application/vnd.openxmlformats-officedocument.presentationml.notesSlide+xml"/>
  <ns0:Override PartName="/ppt/notesSlides/notesSlide4.xml" ContentType="application/vnd.openxmlformats-officedocument.presentationml.notesSlide+xml"/>
  <ns0:Override PartName="/ppt/notesSlides/notesSlide5.xml" ContentType="application/vnd.openxmlformats-officedocument.presentationml.notesSlide+xml"/>
  <ns0:Override PartName="/ppt/notesSlides/notesSlide6.xml" ContentType="application/vnd.openxmlformats-officedocument.presentationml.notesSlide+xml"/>
  <ns0:Override PartName="/ppt/notesSlides/notesSlide7.xml" ContentType="application/vnd.openxmlformats-officedocument.presentationml.notesSlide+xml"/>
  <ns0:Override PartName="/ppt/notesSlides/notesSlide8.xml" ContentType="application/vnd.openxmlformats-officedocument.presentationml.notesSlide+xml"/>
  <ns0:Override PartName="/ppt/notesSlides/notesSlide9.xml" ContentType="application/vnd.openxmlformats-officedocument.presentationml.notesSlide+xml"/>
  <ns0:Override PartName="/ppt/notesSlides/notesSlide10.xml" ContentType="application/vnd.openxmlformats-officedocument.presentationml.notesSlide+xml"/>
  <ns0:Override PartName="/ppt/notesSlides/notesSlide11.xml" ContentType="application/vnd.openxmlformats-officedocument.presentationml.notesSlide+xml"/>
  <ns0:Override PartName="/docProps/core.xml" ContentType="application/vnd.openxmlformats-package.core-properties+xml"/>
  <ns0:Override PartName="/docProps/app.xml" ContentType="application/vnd.openxmlformats-officedocument.extended-properties+xml"/>
  <ns0:Override PartName="/ppt/slides/slide12.xml" ContentType="application/vnd.openxmlformats-officedocument.presentationml.slide+xml"/>
  <ns0:Override PartName="/ppt/slides/slide13.xml" ContentType="application/vnd.openxmlformats-officedocument.presentationml.slide+xml"/>
</ns0: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ns3="http://schemas.microsoft.com/office/powerpoint/2010/main" xmlns:ns4="http://schemas.microsoft.com/office/powerpoint/2012/main" xmlns:p="http://schemas.openxmlformats.org/presentationml/2006/main" xmlns:r="http://schemas.openxmlformats.org/officeDocument/2006/relationships"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7" r:id="rId18"/>
    <p:sldId id="268" r:id="rId19"/>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ns3:sectionLst>
        <ns3:section name="Introduction" id="{e6c2926f-72f4-270d-8502-e51910674dba}">
          <ns3:sldIdLst>
            <ns3:sldId id="256"/>
          </ns3:sldIdLst>
        </ns3:section>
        <ns3:section name="Problem and solution" id="{3b8f6ee5-682e-31ba-2a47-741328fcd849}">
          <ns3:sldIdLst>
            <ns3:sldId id="257"/>
            <ns3:sldId id="258"/>
          </ns3:sldIdLst>
        </ns3:section>
        <ns3:section name="Architecture" id="{8ad813a2-2e9e-756b-ed30-18b95fa6c5d1}">
          <ns3:sldIdLst>
            <ns3:sldId id="259"/>
            <ns3:sldId id="260"/>
          </ns3:sldIdLst>
        </ns3:section>
        <ns3:section name="Sponsor technologies" id="{6c172649-d117-4fa9-11dd-48610a613660}">
          <ns3:sldIdLst>
            <ns3:sldId id="261"/>
            <ns3:sldId id="262"/>
            <ns3:sldId id="263"/>
          </ns3:sldIdLst>
        </ns3:section>
        <ns3:section name="Product and next steps" id="{be8cbcad-e52c-1ef4-f1d2-f3aff6529f0f}">
          <ns3:sldIdLst>
            <ns3:sldId id="264"/>
            <ns3:sldId id="265"/>
            <ns3:sldId id="266"/>
          </ns3:sldIdLst>
        </ns3:section>
      </ns3:sectionLst>
    </p:ext>
    <p:ext uri="{EFAFB233-063F-42B5-8137-9DF3F51BA10A}">
      <ns4: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ns0:Relationships xmlns:ns0="http://schemas.openxmlformats.org/package/2006/relationships"><ns0:Relationship Id="rId1" Type="http://schemas.openxmlformats.org/officeDocument/2006/relationships/slideMaster" Target="slideMasters/slideMaster1.xml" /><ns0:Relationship Id="rId2" Type="http://schemas.openxmlformats.org/officeDocument/2006/relationships/slide" Target="slides/slide1.xml" /><ns0:Relationship Id="rId3" Type="http://schemas.openxmlformats.org/officeDocument/2006/relationships/slide" Target="slides/slide2.xml" /><ns0:Relationship Id="rId4" Type="http://schemas.openxmlformats.org/officeDocument/2006/relationships/slide" Target="slides/slide3.xml" /><ns0:Relationship Id="rId5" Type="http://schemas.openxmlformats.org/officeDocument/2006/relationships/slide" Target="slides/slide4.xml" /><ns0:Relationship Id="rId6" Type="http://schemas.openxmlformats.org/officeDocument/2006/relationships/slide" Target="slides/slide5.xml" /><ns0:Relationship Id="rId7" Type="http://schemas.openxmlformats.org/officeDocument/2006/relationships/slide" Target="slides/slide6.xml" /><ns0:Relationship Id="rId8" Type="http://schemas.openxmlformats.org/officeDocument/2006/relationships/slide" Target="slides/slide7.xml" /><ns0:Relationship Id="rId9" Type="http://schemas.openxmlformats.org/officeDocument/2006/relationships/slide" Target="slides/slide8.xml" /><ns0:Relationship Id="rId10" Type="http://schemas.openxmlformats.org/officeDocument/2006/relationships/slide" Target="slides/slide9.xml" /><ns0:Relationship Id="rId11" Type="http://schemas.openxmlformats.org/officeDocument/2006/relationships/slide" Target="slides/slide10.xml" /><ns0:Relationship Id="rId12" Type="http://schemas.openxmlformats.org/officeDocument/2006/relationships/slide" Target="slides/slide11.xml" /><ns0:Relationship Id="rId13" Type="http://schemas.openxmlformats.org/officeDocument/2006/relationships/notesMaster" Target="notesMasters/notesMaster1.xml" /><ns0:Relationship Id="rId14" Type="http://schemas.openxmlformats.org/officeDocument/2006/relationships/presProps" Target="presProps.xml" /><ns0:Relationship Id="rId15" Type="http://schemas.openxmlformats.org/officeDocument/2006/relationships/viewProps" Target="viewProps.xml" /><ns0:Relationship Id="rId16" Type="http://schemas.openxmlformats.org/officeDocument/2006/relationships/theme" Target="theme/theme1.xml" /><ns0:Relationship Id="rId17" Type="http://schemas.openxmlformats.org/officeDocument/2006/relationships/tableStyles" Target="tableStyles.xml" /><ns0:Relationship Id="rId18" Type="http://schemas.openxmlformats.org/officeDocument/2006/relationships/slide" Target="slides/slide12.xml" /><ns0:Relationship Id="rId19" Type="http://schemas.openxmlformats.org/officeDocument/2006/relationships/slide" Target="slides/slide13.xml" /></ns0: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Kwatsur is a conversational agent that helps people find a home to rent in Douala and Yaoundé. It queries listings through Zetaris, decides with deterministic code, and explains with NVIDIA Nemotron served by Meterless Nightshift. The Meterless Scout Intent engine controls every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scattered, often incomplete listings and a real risk of scams. Our users: people looking for a home, landlords who want to publish, and administrators who approve.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solution: a conversation. The agent understands the request, searches, ranks, flags what needs checking, compares, shows a room and blocks scams. Design rule: AI understands and explains, code decides. No unknown information is guessed.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message follows this path. Scout decides and signs a contract. Nemotron turns the sentence into criteria. Zetaris returns the listings. Our code filters, ranks and assesses risks. Nemotron explains those facts only. The interface shows everything, including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hackathon layers: Data with Zetaris, Power with Nightshift and Nemotron, Build with the Scout Intent engine. Around them: FastAPI, PostgreSQL, nginx, Cloudflare for images and the browser for voice.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Zetaris is the only door to the listings. Our database is registered in Zetaris as a federated source, read-only. When an administrator approves a landlord's listing, it becomes visible through Zetaris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Meterless engine we implemented is Scout Intent, in Python, from the public specification. It decides, checks and signs before every action. The numbers come from the official evaluation: 0.98 correct intents, every injection detected with no false positive, the right tool every time. Nightshift is our primary AI provider and serves Nemotron 3 Ultra.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use of the sponsors is structural, not decorative: Scout guards every action, Zetaris federates a growing database, Nemotron explains without inventing, and the demo stays reliable even without external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real views of the product: results with a listing card and its amenities, and an AI-generated living room illustration, clearly labelled.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steps: plug real sources in via Zetaris, add H-MEM memory across sessions, a checker agent that reviews explanations, accounts and verified visits, WhatsApp and SMS, then more cities.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The code, documentation and real examples are on GitHub. The project starts with Docker, and SAMPLE_MODE runs it without any external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W_DARK_TITLE">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920240"/>
            <a:ext cx="8686800" cy="1280160"/>
          </a:xfrm>
          <a:prstGeom prst="rect">
            <a:avLst/>
          </a:prstGeom>
          <a:noFill/>
          <a:ln/>
        </p:spPr>
        <p:txBody>
          <a:bodyPr wrap="square" rtlCol="0"/>
          <a:lstStyle>
            <a:lvl1pPr algn="l" indent="0" marL="0">
              <a:buNone/>
              <a:defRPr lang="en-US" sz="6000" b="1" dirty="0">
                <a:solidFill>
                  <a:schemeClr val="bg1"/>
                </a:solidFill>
                <a:latin typeface="Arial" pitchFamily="34" charset="0"/>
                <a:ea typeface="Arial" pitchFamily="34" charset="-122"/>
                <a:cs typeface="Arial" pitchFamily="34" charset="-120"/>
              </a:defRPr>
            </a:lvl1pPr>
          </a:lstStyle>
          <a:p>
            <a:pPr algn="l" indent="0" marL="0">
              <a:buNone/>
            </a:pPr>
            <a:endParaRPr lang="en-US" sz="6000" dirty="0"/>
          </a:p>
        </p:txBody>
      </p:sp>
      <p:sp>
        <p:nvSpPr>
          <p:cNvPr id="3" name="Text 0"/>
          <p:cNvSpPr/>
          <p:nvPr>
            <p:ph idx="101" type="body" hasCustomPrompt="1"/>
          </p:nvPr>
        </p:nvSpPr>
        <p:spPr>
          <a:xfrm>
            <a:off x="548640" y="3337560"/>
            <a:ext cx="8412480" cy="1463040"/>
          </a:xfrm>
          <a:prstGeom prst="rect">
            <a:avLst/>
          </a:prstGeom>
          <a:noFill/>
          <a:ln/>
        </p:spPr>
        <p:txBody>
          <a:bodyPr wrap="square" rtlCol="0"/>
          <a:lstStyle>
            <a:lvl1pPr indent="0" marL="0">
              <a:buNone/>
              <a:defRPr lang="en-US" sz="2400" dirty="0">
                <a:solidFill>
                  <a:schemeClr val="accent3"/>
                </a:solidFill>
                <a:latin typeface="Calibri" pitchFamily="34" charset="0"/>
                <a:ea typeface="Calibri" pitchFamily="34" charset="-122"/>
                <a:cs typeface="Calibri" pitchFamily="34" charset="-120"/>
              </a:defRPr>
            </a:lvl1pPr>
          </a:lstStyle>
          <a:p>
            <a:pPr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W_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rtlCol="0"/>
          <a:lstStyle>
            <a:lvl1pPr algn="l" indent="0" marL="0">
              <a:buNone/>
              <a:defRPr lang="en-US" sz="3400" b="1" dirty="0">
                <a:solidFill>
                  <a:schemeClr val="tx1"/>
                </a:solidFill>
                <a:latin typeface="Arial" pitchFamily="34" charset="0"/>
                <a:ea typeface="Arial" pitchFamily="34" charset="-122"/>
                <a:cs typeface="Arial" pitchFamily="34" charset="-120"/>
              </a:defRPr>
            </a:lvl1pPr>
          </a:lstStyle>
          <a:p>
            <a:pPr algn="l" indent="0" marL="0">
              <a:buNone/>
            </a:pP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latin typeface="Calibri" pitchFamily="34" charset="0"/>
                <a:ea typeface="Calibri" pitchFamily="34" charset="-122"/>
                <a:cs typeface="Calibri" pitchFamily="34" charset="-120"/>
              </a:rPr>
              <a:t>Kwatsur · Open Agent Hackathon 2026</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jpg"/><Relationship Id="rId8" Type="http://schemas.openxmlformats.org/officeDocument/2006/relationships/slideLayout" Target="../slideLayouts/slideLayout3.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ns0:Relationships xmlns:ns0="http://schemas.openxmlformats.org/package/2006/relationships"><ns0:Relationship Id="rId1" Type="http://schemas.openxmlformats.org/officeDocument/2006/relationships/image" Target="../media/capture-12.png" /><ns0:Relationship Id="rId3" Type="http://schemas.openxmlformats.org/officeDocument/2006/relationships/slideLayout" Target="../slideLayouts/slideLayout3.xml" /></ns0:Relationships>
</file>

<file path=ppt/slides/_rels/slide13.xml.rels><?xml version='1.0' encoding='utf-8'?>
<ns0:Relationships xmlns:ns0="http://schemas.openxmlformats.org/package/2006/relationships"><ns0:Relationship Id="rId1" Type="http://schemas.openxmlformats.org/officeDocument/2006/relationships/image" Target="../media/capture-13.png" /><ns0:Relationship Id="rId3" Type="http://schemas.openxmlformats.org/officeDocument/2006/relationships/slideLayout" Target="../slideLayouts/slideLayout3.xml" /></ns0: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920240"/>
            <a:ext cx="8686800" cy="1280160"/>
          </a:xfrm>
          <a:prstGeom prst="rect">
            <a:avLst/>
          </a:prstGeom>
          <a:noFill/>
          <a:ln/>
        </p:spPr>
        <p:txBody>
          <a:bodyPr wrap="square" lIns="0" tIns="0" rIns="0" bIns="0" rtlCol="0" anchor="b"/>
          <a:lstStyle/>
          <a:p>
            <a:pPr algn="l" indent="0" marL="0">
              <a:buNone/>
            </a:pPr>
            <a:r>
              <a:rPr lang="en-US" sz="6000" b="1" dirty="0">
                <a:solidFill>
                  <a:schemeClr val="bg1"/>
                </a:solidFill>
                <a:latin typeface="Arial" pitchFamily="34" charset="0"/>
                <a:ea typeface="Arial" pitchFamily="34" charset="-122"/>
                <a:cs typeface="Arial" pitchFamily="34" charset="-120"/>
              </a:rPr>
              <a:t>Kwatsur</a:t>
            </a:r>
            <a:endParaRPr lang="en-US" sz="6000" dirty="0"/>
          </a:p>
        </p:txBody>
      </p:sp>
      <p:sp>
        <p:nvSpPr>
          <p:cNvPr id="3" name="Text 0"/>
          <p:cNvSpPr/>
          <p:nvPr>
            <p:ph idx="101" type="body" hasCustomPrompt="1"/>
          </p:nvPr>
        </p:nvSpPr>
        <p:spPr>
          <a:xfrm>
            <a:off x="548640" y="3337560"/>
            <a:ext cx="8412480" cy="1463040"/>
          </a:xfrm>
          <a:prstGeom prst="rect">
            <a:avLst/>
          </a:prstGeom>
          <a:noFill/>
          <a:ln/>
        </p:spPr>
        <p:txBody>
          <a:bodyPr wrap="square" lIns="0" tIns="0" rIns="0" bIns="0" rtlCol="0" anchor="t"/>
          <a:lstStyle/>
          <a:p>
            <a:pPr indent="0" marL="0">
              <a:buNone/>
            </a:pPr>
            <a:r>
              <a:rPr lang="en-US" sz="2400" dirty="0">
                <a:solidFill>
                  <a:schemeClr val="accent3"/>
                </a:solidFill>
                <a:latin typeface="Calibri" pitchFamily="34" charset="0"/>
                <a:ea typeface="Calibri" pitchFamily="34" charset="-122"/>
                <a:cs typeface="Calibri" pitchFamily="34" charset="-120"/>
              </a:rPr>
              <a:t>The agent that searches, checks and explains homes to rent in Cameroon</a:t>
            </a:r>
            <a:endParaRPr lang="en-US" sz="2400" dirty="0"/>
          </a:p>
        </p:txBody>
      </p:sp>
      <p:sp>
        <p:nvSpPr>
          <p:cNvPr id="4" name="Logo maison cercle"/>
          <p:cNvSpPr/>
          <p:nvPr/>
        </p:nvSpPr>
        <p:spPr>
          <a:xfrm>
            <a:off x="9692640" y="2011680"/>
            <a:ext cx="1828800" cy="1828800"/>
          </a:xfrm>
          <a:prstGeom prst="ellipse">
            <a:avLst/>
          </a:prstGeom>
          <a:solidFill>
            <a:srgbClr val="0A4A39"/>
          </a:solidFill>
          <a:ln w="12700">
            <a:solidFill>
              <a:srgbClr val="0A4A39"/>
            </a:solidFill>
            <a:prstDash val="solid"/>
          </a:ln>
        </p:spPr>
      </p:sp>
      <p:pic>
        <p:nvPicPr>
          <p:cNvPr id="5" name="Logo maison icône" descr="preencoded.png">    </p:cNvPr>
          <p:cNvPicPr>
            <a:picLocks noChangeAspect="1"/>
          </p:cNvPicPr>
          <p:nvPr/>
        </p:nvPicPr>
        <p:blipFill>
          <a:blip r:embed="rId1"/>
          <a:stretch>
            <a:fillRect/>
          </a:stretch>
        </p:blipFill>
        <p:spPr>
          <a:xfrm>
            <a:off x="10131552" y="2450592"/>
            <a:ext cx="950976" cy="950976"/>
          </a:xfrm>
          <a:prstGeom prst="rect">
            <a:avLst/>
          </a:prstGeom>
        </p:spPr>
      </p:pic>
      <p:sp>
        <p:nvSpPr>
          <p:cNvPr id="6" name="Text 3"/>
          <p:cNvSpPr txBox="1"/>
          <p:nvPr/>
        </p:nvSpPr>
        <p:spPr>
          <a:xfrm>
            <a:off x="548640" y="5394960"/>
            <a:ext cx="10058400" cy="365760"/>
          </a:xfrm>
          <a:prstGeom prst="rect">
            <a:avLst/>
          </a:prstGeom>
          <a:noFill/>
          <a:ln/>
        </p:spPr>
        <p:txBody>
          <a:bodyPr wrap="square" lIns="0" tIns="0" rIns="0" bIns="0" rtlCol="0" anchor="t"/>
          <a:lstStyle/>
          <a:p>
            <a:pPr indent="0" marL="0">
              <a:buNone/>
            </a:pPr>
            <a:r>
              <a:rPr lang="en-US" sz="1600" dirty="0">
                <a:solidFill>
                  <a:schemeClr val="bg1"/>
                </a:solidFill>
                <a:latin typeface="Calibri" pitchFamily="34" charset="0"/>
                <a:ea typeface="Calibri" pitchFamily="34" charset="-122"/>
                <a:cs typeface="Calibri" pitchFamily="34" charset="-120"/>
              </a:rPr>
              <a:t>Open Agent Hackathon 2026  ·  Track: The Agent That Can Explain Why</a:t>
            </a:r>
            <a:endParaRPr lang="en-US" sz="1600" dirty="0"/>
          </a:p>
        </p:txBody>
      </p:sp>
      <p:sp>
        <p:nvSpPr>
          <p:cNvPr id="7" name="Text 4"/>
          <p:cNvSpPr txBox="1"/>
          <p:nvPr/>
        </p:nvSpPr>
        <p:spPr>
          <a:xfrm>
            <a:off x="548640" y="5806440"/>
            <a:ext cx="10058400" cy="365760"/>
          </a:xfrm>
          <a:prstGeom prst="rect">
            <a:avLst/>
          </a:prstGeom>
          <a:noFill/>
          <a:ln/>
        </p:spPr>
        <p:txBody>
          <a:bodyPr wrap="square" lIns="0" tIns="0" rIns="0" bIns="0" rtlCol="0" anchor="t"/>
          <a:lstStyle/>
          <a:p>
            <a:pPr indent="0" marL="0">
              <a:buNone/>
            </a:pPr>
            <a:r>
              <a:rPr lang="en-US" sz="1400" dirty="0">
                <a:solidFill>
                  <a:schemeClr val="accent3"/>
                </a:solidFill>
                <a:latin typeface="Calibri" pitchFamily="34" charset="0"/>
                <a:ea typeface="Calibri" pitchFamily="34" charset="-122"/>
                <a:cs typeface="Calibri" pitchFamily="34" charset="-120"/>
              </a:rPr>
              <a:t>Zetaris  ·  Meterless Scout Intent &amp; Nightshift  ·  NVIDIA Nemotron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Renting in Cameroon is a risky journey</a:t>
            </a:r>
            <a:endParaRPr lang="en-US" sz="3400" dirty="0"/>
          </a:p>
        </p:txBody>
      </p:sp>
      <p:sp>
        <p:nvSpPr>
          <p:cNvPr id="3" name="Problème 1"/>
          <p:cNvSpPr/>
          <p:nvPr/>
        </p:nvSpPr>
        <p:spPr>
          <a:xfrm>
            <a:off x="548640" y="1508760"/>
            <a:ext cx="6675120" cy="1280160"/>
          </a:xfrm>
          <a:prstGeom prst="roundRect">
            <a:avLst>
              <a:gd name="adj" fmla="val 8571"/>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4" name="Problème 1 cercle"/>
          <p:cNvSpPr/>
          <p:nvPr/>
        </p:nvSpPr>
        <p:spPr>
          <a:xfrm>
            <a:off x="777240" y="1737360"/>
            <a:ext cx="822960" cy="822960"/>
          </a:xfrm>
          <a:prstGeom prst="ellipse">
            <a:avLst/>
          </a:prstGeom>
          <a:solidFill>
            <a:srgbClr val="C2562F"/>
          </a:solidFill>
          <a:ln w="12700">
            <a:solidFill>
              <a:srgbClr val="C2562F"/>
            </a:solidFill>
            <a:prstDash val="solid"/>
          </a:ln>
        </p:spPr>
      </p:sp>
      <p:pic>
        <p:nvPicPr>
          <p:cNvPr id="5" name="Problème 1 icône" descr="preencoded.png">    </p:cNvPr>
          <p:cNvPicPr>
            <a:picLocks noChangeAspect="1"/>
          </p:cNvPicPr>
          <p:nvPr/>
        </p:nvPicPr>
        <p:blipFill>
          <a:blip r:embed="rId1"/>
          <a:stretch>
            <a:fillRect/>
          </a:stretch>
        </p:blipFill>
        <p:spPr>
          <a:xfrm>
            <a:off x="974750" y="1934870"/>
            <a:ext cx="427939" cy="427939"/>
          </a:xfrm>
          <a:prstGeom prst="rect">
            <a:avLst/>
          </a:prstGeom>
        </p:spPr>
      </p:pic>
      <p:sp>
        <p:nvSpPr>
          <p:cNvPr id="6" name="Text 3"/>
          <p:cNvSpPr txBox="1"/>
          <p:nvPr/>
        </p:nvSpPr>
        <p:spPr>
          <a:xfrm>
            <a:off x="1828800" y="1691640"/>
            <a:ext cx="5212080"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Scattered listings</a:t>
            </a:r>
            <a:endParaRPr lang="en-US" sz="2000" dirty="0"/>
          </a:p>
        </p:txBody>
      </p:sp>
      <p:sp>
        <p:nvSpPr>
          <p:cNvPr id="7" name="Text 4"/>
          <p:cNvSpPr txBox="1"/>
          <p:nvPr/>
        </p:nvSpPr>
        <p:spPr>
          <a:xfrm>
            <a:off x="1828800" y="2130552"/>
            <a:ext cx="5212080" cy="548640"/>
          </a:xfrm>
          <a:prstGeom prst="rect">
            <a:avLst/>
          </a:prstGeom>
          <a:noFill/>
          <a:ln/>
        </p:spPr>
        <p:txBody>
          <a:bodyPr wrap="square" lIns="0" tIns="0" rIns="0" bIns="0" rtlCol="0" anchor="t"/>
          <a:lstStyle/>
          <a:p>
            <a:pPr indent="0" marL="0">
              <a:buNone/>
            </a:pPr>
            <a:r>
              <a:rPr lang="en-US" sz="1500" dirty="0">
                <a:solidFill>
                  <a:schemeClr val="accent4"/>
                </a:solidFill>
                <a:latin typeface="Calibri" pitchFamily="34" charset="0"/>
                <a:ea typeface="Calibri" pitchFamily="34" charset="-122"/>
                <a:cs typeface="Calibri" pitchFamily="34" charset="-120"/>
              </a:rPr>
              <a:t>WhatsApp groups, Facebook, posters, middlemen: no overall view.</a:t>
            </a:r>
            <a:endParaRPr lang="en-US" sz="1500" dirty="0"/>
          </a:p>
        </p:txBody>
      </p:sp>
      <p:sp>
        <p:nvSpPr>
          <p:cNvPr id="8" name="Problème 2"/>
          <p:cNvSpPr/>
          <p:nvPr/>
        </p:nvSpPr>
        <p:spPr>
          <a:xfrm>
            <a:off x="548640" y="3017520"/>
            <a:ext cx="6675120" cy="1280160"/>
          </a:xfrm>
          <a:prstGeom prst="roundRect">
            <a:avLst>
              <a:gd name="adj" fmla="val 8571"/>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9" name="Problème 2 cercle"/>
          <p:cNvSpPr/>
          <p:nvPr/>
        </p:nvSpPr>
        <p:spPr>
          <a:xfrm>
            <a:off x="777240" y="3246120"/>
            <a:ext cx="822960" cy="822960"/>
          </a:xfrm>
          <a:prstGeom prst="ellipse">
            <a:avLst/>
          </a:prstGeom>
          <a:solidFill>
            <a:srgbClr val="C2562F"/>
          </a:solidFill>
          <a:ln w="12700">
            <a:solidFill>
              <a:srgbClr val="C2562F"/>
            </a:solidFill>
            <a:prstDash val="solid"/>
          </a:ln>
        </p:spPr>
      </p:sp>
      <p:pic>
        <p:nvPicPr>
          <p:cNvPr id="10" name="Problème 2 icône" descr="preencoded.png">    </p:cNvPr>
          <p:cNvPicPr>
            <a:picLocks noChangeAspect="1"/>
          </p:cNvPicPr>
          <p:nvPr/>
        </p:nvPicPr>
        <p:blipFill>
          <a:blip r:embed="rId2"/>
          <a:stretch>
            <a:fillRect/>
          </a:stretch>
        </p:blipFill>
        <p:spPr>
          <a:xfrm>
            <a:off x="974750" y="3443630"/>
            <a:ext cx="427939" cy="427939"/>
          </a:xfrm>
          <a:prstGeom prst="rect">
            <a:avLst/>
          </a:prstGeom>
        </p:spPr>
      </p:pic>
      <p:sp>
        <p:nvSpPr>
          <p:cNvPr id="11" name="Text 7"/>
          <p:cNvSpPr txBox="1"/>
          <p:nvPr/>
        </p:nvSpPr>
        <p:spPr>
          <a:xfrm>
            <a:off x="1828800" y="3200400"/>
            <a:ext cx="5212080"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Missing information</a:t>
            </a:r>
            <a:endParaRPr lang="en-US" sz="2000" dirty="0"/>
          </a:p>
        </p:txBody>
      </p:sp>
      <p:sp>
        <p:nvSpPr>
          <p:cNvPr id="12" name="Text 8"/>
          <p:cNvSpPr txBox="1"/>
          <p:nvPr/>
        </p:nvSpPr>
        <p:spPr>
          <a:xfrm>
            <a:off x="1828800" y="3639312"/>
            <a:ext cx="5212080" cy="548640"/>
          </a:xfrm>
          <a:prstGeom prst="rect">
            <a:avLst/>
          </a:prstGeom>
          <a:noFill/>
          <a:ln/>
        </p:spPr>
        <p:txBody>
          <a:bodyPr wrap="square" lIns="0" tIns="0" rIns="0" bIns="0" rtlCol="0" anchor="t"/>
          <a:lstStyle/>
          <a:p>
            <a:pPr indent="0" marL="0">
              <a:buNone/>
            </a:pPr>
            <a:r>
              <a:rPr lang="en-US" sz="1500" dirty="0">
                <a:solidFill>
                  <a:schemeClr val="accent4"/>
                </a:solidFill>
                <a:latin typeface="Calibri" pitchFamily="34" charset="0"/>
                <a:ea typeface="Calibri" pitchFamily="34" charset="-122"/>
                <a:cs typeface="Calibri" pitchFamily="34" charset="-120"/>
              </a:rPr>
              <a:t>Water, electricity, condition, availability: often missing or outdated.</a:t>
            </a:r>
            <a:endParaRPr lang="en-US" sz="1500" dirty="0"/>
          </a:p>
        </p:txBody>
      </p:sp>
      <p:sp>
        <p:nvSpPr>
          <p:cNvPr id="13" name="Problème 3"/>
          <p:cNvSpPr/>
          <p:nvPr/>
        </p:nvSpPr>
        <p:spPr>
          <a:xfrm>
            <a:off x="548640" y="4526280"/>
            <a:ext cx="6675120" cy="1280160"/>
          </a:xfrm>
          <a:prstGeom prst="roundRect">
            <a:avLst>
              <a:gd name="adj" fmla="val 8571"/>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14" name="Problème 3 cercle"/>
          <p:cNvSpPr/>
          <p:nvPr/>
        </p:nvSpPr>
        <p:spPr>
          <a:xfrm>
            <a:off x="777240" y="4754880"/>
            <a:ext cx="822960" cy="822960"/>
          </a:xfrm>
          <a:prstGeom prst="ellipse">
            <a:avLst/>
          </a:prstGeom>
          <a:solidFill>
            <a:srgbClr val="C2562F"/>
          </a:solidFill>
          <a:ln w="12700">
            <a:solidFill>
              <a:srgbClr val="C2562F"/>
            </a:solidFill>
            <a:prstDash val="solid"/>
          </a:ln>
        </p:spPr>
      </p:sp>
      <p:pic>
        <p:nvPicPr>
          <p:cNvPr id="15" name="Problème 3 icône" descr="preencoded.png">    </p:cNvPr>
          <p:cNvPicPr>
            <a:picLocks noChangeAspect="1"/>
          </p:cNvPicPr>
          <p:nvPr/>
        </p:nvPicPr>
        <p:blipFill>
          <a:blip r:embed="rId3"/>
          <a:stretch>
            <a:fillRect/>
          </a:stretch>
        </p:blipFill>
        <p:spPr>
          <a:xfrm>
            <a:off x="974750" y="4952390"/>
            <a:ext cx="427939" cy="427939"/>
          </a:xfrm>
          <a:prstGeom prst="rect">
            <a:avLst/>
          </a:prstGeom>
        </p:spPr>
      </p:pic>
      <p:sp>
        <p:nvSpPr>
          <p:cNvPr id="16" name="Text 11"/>
          <p:cNvSpPr txBox="1"/>
          <p:nvPr/>
        </p:nvSpPr>
        <p:spPr>
          <a:xfrm>
            <a:off x="1828800" y="4709160"/>
            <a:ext cx="5212080"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Scams</a:t>
            </a:r>
            <a:endParaRPr lang="en-US" sz="2000" dirty="0"/>
          </a:p>
        </p:txBody>
      </p:sp>
      <p:sp>
        <p:nvSpPr>
          <p:cNvPr id="17" name="Text 12"/>
          <p:cNvSpPr txBox="1"/>
          <p:nvPr/>
        </p:nvSpPr>
        <p:spPr>
          <a:xfrm>
            <a:off x="1828800" y="5148072"/>
            <a:ext cx="5212080" cy="548640"/>
          </a:xfrm>
          <a:prstGeom prst="rect">
            <a:avLst/>
          </a:prstGeom>
          <a:noFill/>
          <a:ln/>
        </p:spPr>
        <p:txBody>
          <a:bodyPr wrap="square" lIns="0" tIns="0" rIns="0" bIns="0" rtlCol="0" anchor="t"/>
          <a:lstStyle/>
          <a:p>
            <a:pPr indent="0" marL="0">
              <a:buNone/>
            </a:pPr>
            <a:r>
              <a:rPr lang="en-US" sz="1500" dirty="0">
                <a:solidFill>
                  <a:schemeClr val="accent4"/>
                </a:solidFill>
                <a:latin typeface="Calibri" pitchFamily="34" charset="0"/>
                <a:ea typeface="Calibri" pitchFamily="34" charset="-122"/>
                <a:cs typeface="Calibri" pitchFamily="34" charset="-120"/>
              </a:rPr>
              <a:t>Advance or deposit requested before any visit, fake landlords.</a:t>
            </a:r>
            <a:endParaRPr lang="en-US" sz="1500" dirty="0"/>
          </a:p>
        </p:txBody>
      </p:sp>
      <p:sp>
        <p:nvSpPr>
          <p:cNvPr id="18" name="Utilisateurs cibles"/>
          <p:cNvSpPr/>
          <p:nvPr/>
        </p:nvSpPr>
        <p:spPr>
          <a:xfrm>
            <a:off x="7680960" y="1508760"/>
            <a:ext cx="3959352" cy="4297680"/>
          </a:xfrm>
          <a:prstGeom prst="roundRect">
            <a:avLst>
              <a:gd name="adj" fmla="val 2771"/>
            </a:avLst>
          </a:prstGeom>
          <a:solidFill>
            <a:srgbClr val="0A4A39"/>
          </a:solidFill>
          <a:ln w="12700">
            <a:solidFill>
              <a:srgbClr val="0A4A39"/>
            </a:solidFill>
            <a:prstDash val="solid"/>
          </a:ln>
          <a:effectLst>
            <a:outerShdw sx="100000" sy="100000" kx="0" ky="0" algn="bl" rotWithShape="0" blurRad="101600" dist="25400" dir="5400000">
              <a:srgbClr val="14231C">
                <a:alpha val="12000"/>
              </a:srgbClr>
            </a:outerShdw>
          </a:effectLst>
        </p:spPr>
      </p:sp>
      <p:sp>
        <p:nvSpPr>
          <p:cNvPr id="19" name="Text 14"/>
          <p:cNvSpPr txBox="1"/>
          <p:nvPr/>
        </p:nvSpPr>
        <p:spPr>
          <a:xfrm>
            <a:off x="8001000" y="1737360"/>
            <a:ext cx="3383280" cy="457200"/>
          </a:xfrm>
          <a:prstGeom prst="rect">
            <a:avLst/>
          </a:prstGeom>
          <a:noFill/>
          <a:ln/>
        </p:spPr>
        <p:txBody>
          <a:bodyPr wrap="square" lIns="0" tIns="0" rIns="0" bIns="0" rtlCol="0" anchor="t"/>
          <a:lstStyle/>
          <a:p>
            <a:pPr indent="0" marL="0">
              <a:buNone/>
            </a:pPr>
            <a:r>
              <a:rPr lang="en-US" sz="2200" b="1" dirty="0">
                <a:solidFill>
                  <a:schemeClr val="bg1"/>
                </a:solidFill>
                <a:latin typeface="Arial" pitchFamily="34" charset="0"/>
                <a:ea typeface="Arial" pitchFamily="34" charset="-122"/>
                <a:cs typeface="Arial" pitchFamily="34" charset="-120"/>
              </a:rPr>
              <a:t>Who is it for?</a:t>
            </a:r>
            <a:endParaRPr lang="en-US" sz="2200" dirty="0"/>
          </a:p>
        </p:txBody>
      </p:sp>
      <p:sp>
        <p:nvSpPr>
          <p:cNvPr id="20" name="Text 15"/>
          <p:cNvSpPr txBox="1"/>
          <p:nvPr/>
        </p:nvSpPr>
        <p:spPr>
          <a:xfrm>
            <a:off x="8001000" y="2331720"/>
            <a:ext cx="3383280" cy="3291840"/>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Tenants</a:t>
            </a:r>
            <a:endParaRPr lang="en-US" sz="1600" dirty="0"/>
          </a:p>
          <a:p>
            <a:pPr indent="0" marL="0">
              <a:buNone/>
            </a:pPr>
            <a:r>
              <a:rPr lang="en-US" sz="1600" dirty="0">
                <a:solidFill>
                  <a:schemeClr val="accent3"/>
                </a:solidFill>
                <a:latin typeface="Calibri" pitchFamily="34" charset="0"/>
                <a:ea typeface="Calibri" pitchFamily="34" charset="-122"/>
                <a:cs typeface="Calibri" pitchFamily="34" charset="-120"/>
              </a:rPr>
              <a:t>students, young workers and families in Douala and Yaoundé</a:t>
            </a:r>
            <a:endParaRPr lang="en-US" sz="1600" dirty="0"/>
          </a:p>
          <a:p>
            <a:pPr indent="0" marL="0">
              <a:buNone/>
            </a:pPr>
            <a:r>
              <a:rPr lang="en-US" sz="800" dirty="0">
                <a:solidFill>
                  <a:schemeClr val="tx1"/>
                </a:solidFill>
                <a:latin typeface="Calibri" pitchFamily="34" charset="0"/>
                <a:ea typeface="Calibri" pitchFamily="34" charset="-122"/>
                <a:cs typeface="Calibri" pitchFamily="34" charset="-120"/>
              </a:rPr>
              <a:t> </a:t>
            </a:r>
            <a:endParaRPr lang="en-US" sz="1600" dirty="0"/>
          </a:p>
          <a:p>
            <a:pPr indent="0" marL="0">
              <a:buNone/>
            </a:pPr>
            <a:r>
              <a:rPr lang="en-US" sz="1600" b="1" dirty="0">
                <a:solidFill>
                  <a:schemeClr val="bg1"/>
                </a:solidFill>
                <a:latin typeface="Calibri" pitchFamily="34" charset="0"/>
                <a:ea typeface="Calibri" pitchFamily="34" charset="-122"/>
                <a:cs typeface="Calibri" pitchFamily="34" charset="-120"/>
              </a:rPr>
              <a:t>Landlords</a:t>
            </a:r>
            <a:endParaRPr lang="en-US" sz="1600" dirty="0"/>
          </a:p>
          <a:p>
            <a:pPr indent="0" marL="0">
              <a:buNone/>
            </a:pPr>
            <a:r>
              <a:rPr lang="en-US" sz="1600" dirty="0">
                <a:solidFill>
                  <a:schemeClr val="accent3"/>
                </a:solidFill>
                <a:latin typeface="Calibri" pitchFamily="34" charset="0"/>
                <a:ea typeface="Calibri" pitchFamily="34" charset="-122"/>
                <a:cs typeface="Calibri" pitchFamily="34" charset="-120"/>
              </a:rPr>
              <a:t>who want to publish without a middleman, with approval</a:t>
            </a:r>
            <a:endParaRPr lang="en-US" sz="1600" dirty="0"/>
          </a:p>
          <a:p>
            <a:pPr indent="0" marL="0">
              <a:buNone/>
            </a:pPr>
            <a:r>
              <a:rPr lang="en-US" sz="800" dirty="0">
                <a:solidFill>
                  <a:schemeClr val="tx1"/>
                </a:solidFill>
                <a:latin typeface="Calibri" pitchFamily="34" charset="0"/>
                <a:ea typeface="Calibri" pitchFamily="34" charset="-122"/>
                <a:cs typeface="Calibri" pitchFamily="34" charset="-120"/>
              </a:rPr>
              <a:t> </a:t>
            </a:r>
            <a:endParaRPr lang="en-US" sz="1600" dirty="0"/>
          </a:p>
          <a:p>
            <a:pPr indent="0" marL="0">
              <a:buNone/>
            </a:pPr>
            <a:r>
              <a:rPr lang="en-US" sz="1600" b="1" dirty="0">
                <a:solidFill>
                  <a:schemeClr val="bg1"/>
                </a:solidFill>
                <a:latin typeface="Calibri" pitchFamily="34" charset="0"/>
                <a:ea typeface="Calibri" pitchFamily="34" charset="-122"/>
                <a:cs typeface="Calibri" pitchFamily="34" charset="-120"/>
              </a:rPr>
              <a:t>Administrators</a:t>
            </a:r>
            <a:endParaRPr lang="en-US" sz="1600" dirty="0"/>
          </a:p>
          <a:p>
            <a:pPr indent="0" marL="0">
              <a:buNone/>
            </a:pPr>
            <a:r>
              <a:rPr lang="en-US" sz="1600" dirty="0">
                <a:solidFill>
                  <a:schemeClr val="accent3"/>
                </a:solidFill>
                <a:latin typeface="Calibri" pitchFamily="34" charset="0"/>
                <a:ea typeface="Calibri" pitchFamily="34" charset="-122"/>
                <a:cs typeface="Calibri" pitchFamily="34" charset="-120"/>
              </a:rPr>
              <a:t>who approve listings before publication</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ns3="http://schemas.microsoft.com/office/mac/drawingml/2011/main" xmlns:p="http://schemas.openxmlformats.org/presentationml/2006/main" xmlns:r="http://schemas.openxmlformats.org/officeDocument/2006/relationships">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A conversation that actually does the work</a:t>
            </a:r>
            <a:endParaRPr lang="en-US" sz="3400" dirty="0"/>
          </a:p>
        </p:txBody>
      </p:sp>
      <p:sp>
        <p:nvSpPr>
          <p:cNvPr id="3" name="Fonction 1 cercle"/>
          <p:cNvSpPr/>
          <p:nvPr/>
        </p:nvSpPr>
        <p:spPr>
          <a:xfrm>
            <a:off x="548640" y="1463040"/>
            <a:ext cx="566928" cy="566928"/>
          </a:xfrm>
          <a:prstGeom prst="ellipse">
            <a:avLst/>
          </a:prstGeom>
          <a:solidFill>
            <a:srgbClr val="0F6B52"/>
          </a:solidFill>
          <a:ln w="12700">
            <a:solidFill>
              <a:srgbClr val="0F6B52"/>
            </a:solidFill>
            <a:prstDash val="solid"/>
          </a:ln>
        </p:spPr>
      </p:sp>
      <p:pic>
        <p:nvPicPr>
          <p:cNvPr id="4" name="Fonction 1 icône" descr="preencoded.png">    </p:cNvPr>
          <p:cNvPicPr>
            <a:picLocks noChangeAspect="1"/>
          </p:cNvPicPr>
          <p:nvPr/>
        </p:nvPicPr>
        <p:blipFill>
          <a:blip r:embed="rId1"/>
          <a:stretch>
            <a:fillRect/>
          </a:stretch>
        </p:blipFill>
        <p:spPr>
          <a:xfrm>
            <a:off x="684703" y="1599103"/>
            <a:ext cx="294803" cy="294803"/>
          </a:xfrm>
          <a:prstGeom prst="rect">
            <a:avLst/>
          </a:prstGeom>
        </p:spPr>
      </p:pic>
      <p:sp>
        <p:nvSpPr>
          <p:cNvPr id="5" name="Text 2"/>
          <p:cNvSpPr txBox="1"/>
          <p:nvPr/>
        </p:nvSpPr>
        <p:spPr>
          <a:xfrm>
            <a:off x="1325880" y="1536192"/>
            <a:ext cx="4480560" cy="4572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Request in French, typed or spoken</a:t>
            </a:r>
            <a:endParaRPr lang="en-US" sz="1600" dirty="0"/>
          </a:p>
        </p:txBody>
      </p:sp>
      <p:sp>
        <p:nvSpPr>
          <p:cNvPr id="6" name="Fonction 2 cercle"/>
          <p:cNvSpPr/>
          <p:nvPr/>
        </p:nvSpPr>
        <p:spPr>
          <a:xfrm>
            <a:off x="548640" y="2249424"/>
            <a:ext cx="566928" cy="566928"/>
          </a:xfrm>
          <a:prstGeom prst="ellipse">
            <a:avLst/>
          </a:prstGeom>
          <a:solidFill>
            <a:srgbClr val="0F6B52"/>
          </a:solidFill>
          <a:ln w="12700">
            <a:solidFill>
              <a:srgbClr val="0F6B52"/>
            </a:solidFill>
            <a:prstDash val="solid"/>
          </a:ln>
        </p:spPr>
      </p:sp>
      <p:pic>
        <p:nvPicPr>
          <p:cNvPr id="7" name="Fonction 2 icône" descr="preencoded.png">    </p:cNvPr>
          <p:cNvPicPr>
            <a:picLocks noChangeAspect="1"/>
          </p:cNvPicPr>
          <p:nvPr/>
        </p:nvPicPr>
        <p:blipFill>
          <a:blip r:embed="rId2"/>
          <a:stretch>
            <a:fillRect/>
          </a:stretch>
        </p:blipFill>
        <p:spPr>
          <a:xfrm>
            <a:off x="684703" y="2385487"/>
            <a:ext cx="294803" cy="294803"/>
          </a:xfrm>
          <a:prstGeom prst="rect">
            <a:avLst/>
          </a:prstGeom>
        </p:spPr>
      </p:pic>
      <p:sp>
        <p:nvSpPr>
          <p:cNvPr id="8" name="Text 4"/>
          <p:cNvSpPr txBox="1"/>
          <p:nvPr/>
        </p:nvSpPr>
        <p:spPr>
          <a:xfrm>
            <a:off x="1325880" y="2322576"/>
            <a:ext cx="4480560" cy="4572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Ranked, explained results with points to check</a:t>
            </a:r>
            <a:endParaRPr lang="en-US" sz="1600" dirty="0"/>
          </a:p>
        </p:txBody>
      </p:sp>
      <p:sp>
        <p:nvSpPr>
          <p:cNvPr id="9" name="Fonction 3 cercle"/>
          <p:cNvSpPr/>
          <p:nvPr/>
        </p:nvSpPr>
        <p:spPr>
          <a:xfrm>
            <a:off x="548640" y="3035808"/>
            <a:ext cx="566928" cy="566928"/>
          </a:xfrm>
          <a:prstGeom prst="ellipse">
            <a:avLst/>
          </a:prstGeom>
          <a:solidFill>
            <a:srgbClr val="0F6B52"/>
          </a:solidFill>
          <a:ln w="12700">
            <a:solidFill>
              <a:srgbClr val="0F6B52"/>
            </a:solidFill>
            <a:prstDash val="solid"/>
          </a:ln>
        </p:spPr>
      </p:sp>
      <p:pic>
        <p:nvPicPr>
          <p:cNvPr id="10" name="Fonction 3 icône" descr="preencoded.png">    </p:cNvPr>
          <p:cNvPicPr>
            <a:picLocks noChangeAspect="1"/>
          </p:cNvPicPr>
          <p:nvPr/>
        </p:nvPicPr>
        <p:blipFill>
          <a:blip r:embed="rId3"/>
          <a:stretch>
            <a:fillRect/>
          </a:stretch>
        </p:blipFill>
        <p:spPr>
          <a:xfrm>
            <a:off x="684703" y="3171871"/>
            <a:ext cx="294803" cy="294803"/>
          </a:xfrm>
          <a:prstGeom prst="rect">
            <a:avLst/>
          </a:prstGeom>
        </p:spPr>
      </p:pic>
      <p:sp>
        <p:nvSpPr>
          <p:cNvPr id="11" name="Text 6"/>
          <p:cNvSpPr txBox="1"/>
          <p:nvPr/>
        </p:nvSpPr>
        <p:spPr>
          <a:xfrm>
            <a:off x="1325880" y="3108960"/>
            <a:ext cx="4480560" cy="4572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Collapsible listing cards and comparison</a:t>
            </a:r>
            <a:endParaRPr lang="en-US" sz="1600" dirty="0"/>
          </a:p>
        </p:txBody>
      </p:sp>
      <p:sp>
        <p:nvSpPr>
          <p:cNvPr id="12" name="Fonction 4 cercle"/>
          <p:cNvSpPr/>
          <p:nvPr/>
        </p:nvSpPr>
        <p:spPr>
          <a:xfrm>
            <a:off x="548640" y="3822192"/>
            <a:ext cx="566928" cy="566928"/>
          </a:xfrm>
          <a:prstGeom prst="ellipse">
            <a:avLst/>
          </a:prstGeom>
          <a:solidFill>
            <a:srgbClr val="0F6B52"/>
          </a:solidFill>
          <a:ln w="12700">
            <a:solidFill>
              <a:srgbClr val="0F6B52"/>
            </a:solidFill>
            <a:prstDash val="solid"/>
          </a:ln>
        </p:spPr>
      </p:sp>
      <p:pic>
        <p:nvPicPr>
          <p:cNvPr id="13" name="Fonction 4 icône" descr="preencoded.png">    </p:cNvPr>
          <p:cNvPicPr>
            <a:picLocks noChangeAspect="1"/>
          </p:cNvPicPr>
          <p:nvPr/>
        </p:nvPicPr>
        <p:blipFill>
          <a:blip r:embed="rId4"/>
          <a:stretch>
            <a:fillRect/>
          </a:stretch>
        </p:blipFill>
        <p:spPr>
          <a:xfrm>
            <a:off x="684703" y="3958255"/>
            <a:ext cx="294803" cy="294803"/>
          </a:xfrm>
          <a:prstGeom prst="rect">
            <a:avLst/>
          </a:prstGeom>
        </p:spPr>
      </p:pic>
      <p:sp>
        <p:nvSpPr>
          <p:cNvPr id="14" name="Text 8"/>
          <p:cNvSpPr txBox="1"/>
          <p:nvPr/>
        </p:nvSpPr>
        <p:spPr>
          <a:xfrm>
            <a:off x="1325880" y="3895344"/>
            <a:ext cx="4480560" cy="4572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Images on request: owner, credited sample or AI</a:t>
            </a:r>
            <a:endParaRPr lang="en-US" sz="1600" dirty="0"/>
          </a:p>
        </p:txBody>
      </p:sp>
      <p:sp>
        <p:nvSpPr>
          <p:cNvPr id="15" name="Fonction 5 cercle"/>
          <p:cNvSpPr/>
          <p:nvPr/>
        </p:nvSpPr>
        <p:spPr>
          <a:xfrm>
            <a:off x="548640" y="4608576"/>
            <a:ext cx="566928" cy="566928"/>
          </a:xfrm>
          <a:prstGeom prst="ellipse">
            <a:avLst/>
          </a:prstGeom>
          <a:solidFill>
            <a:srgbClr val="0F6B52"/>
          </a:solidFill>
          <a:ln w="12700">
            <a:solidFill>
              <a:srgbClr val="0F6B52"/>
            </a:solidFill>
            <a:prstDash val="solid"/>
          </a:ln>
        </p:spPr>
      </p:sp>
      <p:pic>
        <p:nvPicPr>
          <p:cNvPr id="16" name="Fonction 5 icône" descr="preencoded.png">    </p:cNvPr>
          <p:cNvPicPr>
            <a:picLocks noChangeAspect="1"/>
          </p:cNvPicPr>
          <p:nvPr/>
        </p:nvPicPr>
        <p:blipFill>
          <a:blip r:embed="rId5"/>
          <a:stretch>
            <a:fillRect/>
          </a:stretch>
        </p:blipFill>
        <p:spPr>
          <a:xfrm>
            <a:off x="684703" y="4744639"/>
            <a:ext cx="294803" cy="294803"/>
          </a:xfrm>
          <a:prstGeom prst="rect">
            <a:avLst/>
          </a:prstGeom>
        </p:spPr>
      </p:pic>
      <p:sp>
        <p:nvSpPr>
          <p:cNvPr id="17" name="Text 10"/>
          <p:cNvSpPr txBox="1"/>
          <p:nvPr/>
        </p:nvSpPr>
        <p:spPr>
          <a:xfrm>
            <a:off x="1325880" y="4681728"/>
            <a:ext cx="4480560" cy="4572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Persistent proposal, then administrator decision</a:t>
            </a:r>
            <a:endParaRPr lang="en-US" sz="1600" dirty="0"/>
          </a:p>
        </p:txBody>
      </p:sp>
      <p:sp>
        <p:nvSpPr>
          <p:cNvPr id="18" name="Fonction 6 cercle"/>
          <p:cNvSpPr/>
          <p:nvPr/>
        </p:nvSpPr>
        <p:spPr>
          <a:xfrm>
            <a:off x="548640" y="5394960"/>
            <a:ext cx="566928" cy="566928"/>
          </a:xfrm>
          <a:prstGeom prst="ellipse">
            <a:avLst/>
          </a:prstGeom>
          <a:solidFill>
            <a:srgbClr val="0F6B52"/>
          </a:solidFill>
          <a:ln w="12700">
            <a:solidFill>
              <a:srgbClr val="0F6B52"/>
            </a:solidFill>
            <a:prstDash val="solid"/>
          </a:ln>
        </p:spPr>
      </p:sp>
      <p:pic>
        <p:nvPicPr>
          <p:cNvPr id="19" name="Fonction 6 icône" descr="preencoded.png">    </p:cNvPr>
          <p:cNvPicPr>
            <a:picLocks noChangeAspect="1"/>
          </p:cNvPicPr>
          <p:nvPr/>
        </p:nvPicPr>
        <p:blipFill>
          <a:blip r:embed="rId6"/>
          <a:stretch>
            <a:fillRect/>
          </a:stretch>
        </p:blipFill>
        <p:spPr>
          <a:xfrm>
            <a:off x="684703" y="5531023"/>
            <a:ext cx="294803" cy="294803"/>
          </a:xfrm>
          <a:prstGeom prst="rect">
            <a:avLst/>
          </a:prstGeom>
        </p:spPr>
      </p:pic>
      <p:sp>
        <p:nvSpPr>
          <p:cNvPr id="20" name="Text 12"/>
          <p:cNvSpPr txBox="1"/>
          <p:nvPr/>
        </p:nvSpPr>
        <p:spPr>
          <a:xfrm>
            <a:off x="1325880" y="5468112"/>
            <a:ext cx="4480560" cy="4572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Payment scams and injections blocked</a:t>
            </a:r>
            <a:endParaRPr lang="en-US" sz="1600" dirty="0"/>
          </a:p>
        </p:txBody>
      </p:sp>
      <p:pic>
        <p:nvPicPr>
          <p:cNvPr id="21" name="Capture du chat" descr="Kwatsur screenshot: reply written by Nemotron via Meterless, Scout trace and a refused payment">    </p:cNvPr>
          <p:cNvPicPr>
            <a:picLocks noChangeAspect="1"/>
          </p:cNvPicPr>
          <p:nvPr/>
        </p:nvPicPr>
        <p:blipFill>
          <a:blip r:embed="rId7"/>
          <a:stretch>
            <a:fillRect/>
          </a:stretch>
        </p:blipFill>
        <p:spPr>
          <a:xfrm>
            <a:off x="5989320" y="1417320"/>
            <a:ext cx="5650992" cy="3017520"/>
          </a:xfrm>
          <a:prstGeom prst="rect">
            <a:avLst/>
          </a:prstGeom>
        </p:spPr>
      </p:pic>
      <p:sp>
        <p:nvSpPr>
          <p:cNvPr id="22" name="Text 13"/>
          <p:cNvSpPr txBox="1"/>
          <p:nvPr/>
        </p:nvSpPr>
        <p:spPr>
          <a:xfrm>
            <a:off x="5989320" y="4526280"/>
            <a:ext cx="5650992" cy="548640"/>
          </a:xfrm>
          <a:prstGeom prst="rect">
            <a:avLst/>
          </a:prstGeom>
          <a:noFill/>
          <a:ln/>
        </p:spPr>
        <p:txBody>
          <a:bodyPr wrap="square" lIns="0" tIns="0" rIns="0" bIns="0" rtlCol="0" anchor="t"/>
          <a:lstStyle/>
          <a:p>
            <a:pPr indent="0" marL="0">
              <a:buNone/>
            </a:pPr>
            <a:r>
              <a:rPr lang="en-US" sz="1200" i="1" dirty="0">
                <a:solidFill>
                  <a:schemeClr val="accent6"/>
                </a:solidFill>
                <a:latin typeface="Calibri" pitchFamily="34" charset="0"/>
                <a:ea typeface="Calibri" pitchFamily="34" charset="-122"/>
                <a:cs typeface="Calibri" pitchFamily="34" charset="-120"/>
              </a:rPr>
              <a:t>Historical capture: search and Scout guard. Chat images are now sent only on explicit request.</a:t>
            </a:r>
            <a:endParaRPr lang="en-US" sz="1200" dirty="0"/>
          </a:p>
        </p:txBody>
      </p:sp>
      <p:sp>
        <p:nvSpPr>
          <p:cNvPr id="23" name="Règle d'or"/>
          <p:cNvSpPr/>
          <p:nvPr/>
        </p:nvSpPr>
        <p:spPr>
          <a:xfrm>
            <a:off x="5989320" y="5212080"/>
            <a:ext cx="5650992" cy="868680"/>
          </a:xfrm>
          <a:prstGeom prst="roundRect">
            <a:avLst>
              <a:gd name="adj" fmla="val 12632"/>
            </a:avLst>
          </a:prstGeom>
          <a:solidFill>
            <a:srgbClr val="D8EFE6"/>
          </a:solidFill>
          <a:ln w="12700">
            <a:solidFill>
              <a:srgbClr val="D8EFE6"/>
            </a:solidFill>
            <a:prstDash val="solid"/>
          </a:ln>
          <a:effectLst>
            <a:outerShdw sx="100000" sy="100000" kx="0" ky="0" algn="bl" rotWithShape="0" blurRad="101600" dist="25400" dir="5400000">
              <a:srgbClr val="14231C">
                <a:alpha val="12000"/>
              </a:srgbClr>
            </a:outerShdw>
          </a:effectLst>
        </p:spPr>
      </p:sp>
      <p:sp>
        <p:nvSpPr>
          <p:cNvPr id="24" name="Text 15"/>
          <p:cNvSpPr txBox="1"/>
          <p:nvPr/>
        </p:nvSpPr>
        <p:spPr>
          <a:xfrm>
            <a:off x="6217920" y="5349240"/>
            <a:ext cx="5212080" cy="594360"/>
          </a:xfrm>
          <a:prstGeom prst="rect">
            <a:avLst/>
          </a:prstGeom>
          <a:noFill/>
          <a:ln/>
        </p:spPr>
        <p:txBody>
          <a:bodyPr wrap="square" lIns="0" tIns="0" rIns="0" bIns="0" rtlCol="0" anchor="ctr"/>
          <a:lstStyle/>
          <a:p>
            <a:pPr indent="0" marL="0">
              <a:buNone/>
            </a:pPr>
            <a:r>
              <a:rPr lang="en-US" sz="2000" b="1" dirty="0">
                <a:solidFill>
                  <a:schemeClr val="accent1"/>
                </a:solidFill>
                <a:latin typeface="Arial" pitchFamily="34" charset="0"/>
                <a:ea typeface="Arial" pitchFamily="34" charset="-122"/>
                <a:cs typeface="Arial" pitchFamily="34" charset="-120"/>
              </a:rPr>
              <a:t>AI understands and explains. Code decides.</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ns3:wrappingTextBoxFlag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ns2="http://schemas.microsoft.com/office/mac/drawingml/2011/main"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The journey of a message</a:t>
            </a:r>
            <a:endParaRPr lang="en-US" sz="3400" dirty="0"/>
          </a:p>
        </p:txBody>
      </p:sp>
      <p:sp>
        <p:nvSpPr>
          <p:cNvPr id="3" name="Étape 1"/>
          <p:cNvSpPr/>
          <p:nvPr/>
        </p:nvSpPr>
        <p:spPr>
          <a:xfrm>
            <a:off x="548640" y="1828800"/>
            <a:ext cx="1700784" cy="2286000"/>
          </a:xfrm>
          <a:prstGeom prst="roundRect">
            <a:avLst>
              <a:gd name="adj" fmla="val 6452"/>
            </a:avLst>
          </a:prstGeom>
          <a:solidFill>
            <a:srgbClr val="C2562F"/>
          </a:solidFill>
          <a:ln w="12700">
            <a:solidFill>
              <a:srgbClr val="C2562F"/>
            </a:solidFill>
            <a:prstDash val="solid"/>
          </a:ln>
          <a:effectLst>
            <a:outerShdw sx="100000" sy="100000" kx="0" ky="0" algn="bl" rotWithShape="0" blurRad="101600" dist="25400" dir="5400000">
              <a:srgbClr val="14231C">
                <a:alpha val="12000"/>
              </a:srgbClr>
            </a:outerShdw>
          </a:effectLst>
        </p:spPr>
      </p:sp>
      <p:sp>
        <p:nvSpPr>
          <p:cNvPr id="4" name="Text 2"/>
          <p:cNvSpPr txBox="1"/>
          <p:nvPr/>
        </p:nvSpPr>
        <p:spPr>
          <a:xfrm>
            <a:off x="731520" y="1965960"/>
            <a:ext cx="914400" cy="548640"/>
          </a:xfrm>
          <a:prstGeom prst="rect">
            <a:avLst/>
          </a:prstGeom>
          <a:noFill/>
          <a:ln/>
        </p:spPr>
        <p:txBody>
          <a:bodyPr wrap="square" lIns="0" tIns="0" rIns="0" bIns="0" rtlCol="0" anchor="t"/>
          <a:lstStyle/>
          <a:p>
            <a:pPr indent="0" marL="0">
              <a:buNone/>
            </a:pPr>
            <a:r>
              <a:rPr lang="en-US" sz="2800" b="1" dirty="0">
                <a:solidFill>
                  <a:schemeClr val="bg1"/>
                </a:solidFill>
                <a:latin typeface="Arial" pitchFamily="34" charset="0"/>
                <a:ea typeface="Arial" pitchFamily="34" charset="-122"/>
                <a:cs typeface="Arial" pitchFamily="34" charset="-120"/>
              </a:rPr>
              <a:t>1</a:t>
            </a:r>
            <a:endParaRPr lang="en-US" sz="2800" dirty="0"/>
          </a:p>
        </p:txBody>
      </p:sp>
      <p:sp>
        <p:nvSpPr>
          <p:cNvPr id="5" name="Text 3"/>
          <p:cNvSpPr txBox="1"/>
          <p:nvPr/>
        </p:nvSpPr>
        <p:spPr>
          <a:xfrm>
            <a:off x="731520" y="2606040"/>
            <a:ext cx="1380744" cy="457200"/>
          </a:xfrm>
          <a:prstGeom prst="rect">
            <a:avLst/>
          </a:prstGeom>
          <a:noFill/>
          <a:ln/>
        </p:spPr>
        <p:txBody>
          <a:bodyPr wrap="square" lIns="0" tIns="0" rIns="0" bIns="0" rtlCol="0" anchor="t"/>
          <a:lstStyle/>
          <a:p>
            <a:pPr indent="0" marL="0">
              <a:buNone/>
            </a:pPr>
            <a:r>
              <a:rPr lang="en-US" sz="1700" b="1" dirty="0">
                <a:solidFill>
                  <a:schemeClr val="bg1"/>
                </a:solidFill>
                <a:latin typeface="Calibri" pitchFamily="34" charset="0"/>
                <a:ea typeface="Calibri" pitchFamily="34" charset="-122"/>
                <a:cs typeface="Calibri" pitchFamily="34" charset="-120"/>
              </a:rPr>
              <a:t>Scout Intent</a:t>
            </a:r>
            <a:endParaRPr lang="en-US" sz="1700" dirty="0"/>
          </a:p>
        </p:txBody>
      </p:sp>
      <p:sp>
        <p:nvSpPr>
          <p:cNvPr id="6" name="Text 4"/>
          <p:cNvSpPr txBox="1"/>
          <p:nvPr/>
        </p:nvSpPr>
        <p:spPr>
          <a:xfrm>
            <a:off x="731520" y="3108960"/>
            <a:ext cx="1380744" cy="91440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Guard, contract; simplified routing by default</a:t>
            </a:r>
            <a:endParaRPr lang="en-US" sz="1300" dirty="0"/>
          </a:p>
        </p:txBody>
      </p:sp>
      <p:sp>
        <p:nvSpPr>
          <p:cNvPr id="7" name="Flèche 1"/>
          <p:cNvSpPr/>
          <p:nvPr/>
        </p:nvSpPr>
        <p:spPr>
          <a:xfrm rot="5400000">
            <a:off x="2256099" y="2880360"/>
            <a:ext cx="201168" cy="164592"/>
          </a:xfrm>
          <a:prstGeom prst="triangle">
            <a:avLst/>
          </a:prstGeom>
          <a:solidFill>
            <a:srgbClr val="6B7F74"/>
          </a:solidFill>
          <a:ln w="12700">
            <a:solidFill>
              <a:srgbClr val="6B7F74"/>
            </a:solidFill>
            <a:prstDash val="solid"/>
          </a:ln>
        </p:spPr>
      </p:sp>
      <p:sp>
        <p:nvSpPr>
          <p:cNvPr id="8" name="Étape 2"/>
          <p:cNvSpPr/>
          <p:nvPr/>
        </p:nvSpPr>
        <p:spPr>
          <a:xfrm>
            <a:off x="2427366" y="1828800"/>
            <a:ext cx="1700784" cy="2286000"/>
          </a:xfrm>
          <a:prstGeom prst="roundRect">
            <a:avLst>
              <a:gd name="adj" fmla="val 6452"/>
            </a:avLst>
          </a:prstGeom>
          <a:solidFill>
            <a:srgbClr val="0F6B52"/>
          </a:solidFill>
          <a:ln w="12700">
            <a:solidFill>
              <a:srgbClr val="0F6B52"/>
            </a:solidFill>
            <a:prstDash val="solid"/>
          </a:ln>
          <a:effectLst>
            <a:outerShdw sx="100000" sy="100000" kx="0" ky="0" algn="bl" rotWithShape="0" blurRad="101600" dist="25400" dir="5400000">
              <a:srgbClr val="14231C">
                <a:alpha val="12000"/>
              </a:srgbClr>
            </a:outerShdw>
          </a:effectLst>
        </p:spPr>
      </p:sp>
      <p:sp>
        <p:nvSpPr>
          <p:cNvPr id="9" name="Text 7"/>
          <p:cNvSpPr txBox="1"/>
          <p:nvPr/>
        </p:nvSpPr>
        <p:spPr>
          <a:xfrm>
            <a:off x="2610246" y="1965960"/>
            <a:ext cx="914400" cy="548640"/>
          </a:xfrm>
          <a:prstGeom prst="rect">
            <a:avLst/>
          </a:prstGeom>
          <a:noFill/>
          <a:ln/>
        </p:spPr>
        <p:txBody>
          <a:bodyPr wrap="square" lIns="0" tIns="0" rIns="0" bIns="0" rtlCol="0" anchor="t"/>
          <a:lstStyle/>
          <a:p>
            <a:pPr indent="0" marL="0">
              <a:buNone/>
            </a:pPr>
            <a:r>
              <a:rPr lang="en-US" sz="2800" b="1" dirty="0">
                <a:solidFill>
                  <a:schemeClr val="bg1"/>
                </a:solidFill>
                <a:latin typeface="Arial" pitchFamily="34" charset="0"/>
                <a:ea typeface="Arial" pitchFamily="34" charset="-122"/>
                <a:cs typeface="Arial" pitchFamily="34" charset="-120"/>
              </a:rPr>
              <a:t>2</a:t>
            </a:r>
            <a:endParaRPr lang="en-US" sz="2800" dirty="0"/>
          </a:p>
        </p:txBody>
      </p:sp>
      <p:sp>
        <p:nvSpPr>
          <p:cNvPr id="10" name="Text 8"/>
          <p:cNvSpPr txBox="1"/>
          <p:nvPr/>
        </p:nvSpPr>
        <p:spPr>
          <a:xfrm>
            <a:off x="2610246" y="2606040"/>
            <a:ext cx="1380744" cy="457200"/>
          </a:xfrm>
          <a:prstGeom prst="rect">
            <a:avLst/>
          </a:prstGeom>
          <a:noFill/>
          <a:ln/>
        </p:spPr>
        <p:txBody>
          <a:bodyPr wrap="square" lIns="0" tIns="0" rIns="0" bIns="0" rtlCol="0" anchor="t"/>
          <a:lstStyle/>
          <a:p>
            <a:pPr indent="0" marL="0">
              <a:buNone/>
            </a:pPr>
            <a:r>
              <a:rPr lang="en-US" sz="1700" b="1" dirty="0">
                <a:solidFill>
                  <a:schemeClr val="bg1"/>
                </a:solidFill>
                <a:latin typeface="Calibri" pitchFamily="34" charset="0"/>
                <a:ea typeface="Calibri" pitchFamily="34" charset="-122"/>
                <a:cs typeface="Calibri" pitchFamily="34" charset="-120"/>
              </a:rPr>
              <a:t>Nemotron</a:t>
            </a:r>
            <a:endParaRPr lang="en-US" sz="1700" dirty="0"/>
          </a:p>
        </p:txBody>
      </p:sp>
      <p:sp>
        <p:nvSpPr>
          <p:cNvPr id="11" name="Text 9"/>
          <p:cNvSpPr txBox="1"/>
          <p:nvPr/>
        </p:nvSpPr>
        <p:spPr>
          <a:xfrm>
            <a:off x="2610246" y="3108960"/>
            <a:ext cx="1380744" cy="91440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Sentence → validated JSON criteria</a:t>
            </a:r>
            <a:endParaRPr lang="en-US" sz="1300" dirty="0"/>
          </a:p>
        </p:txBody>
      </p:sp>
      <p:sp>
        <p:nvSpPr>
          <p:cNvPr id="12" name="Flèche 2"/>
          <p:cNvSpPr/>
          <p:nvPr/>
        </p:nvSpPr>
        <p:spPr>
          <a:xfrm rot="5400000">
            <a:off x="4134825" y="2880360"/>
            <a:ext cx="201168" cy="164592"/>
          </a:xfrm>
          <a:prstGeom prst="triangle">
            <a:avLst/>
          </a:prstGeom>
          <a:solidFill>
            <a:srgbClr val="6B7F74"/>
          </a:solidFill>
          <a:ln w="12700">
            <a:solidFill>
              <a:srgbClr val="6B7F74"/>
            </a:solidFill>
            <a:prstDash val="solid"/>
          </a:ln>
        </p:spPr>
      </p:sp>
      <p:sp>
        <p:nvSpPr>
          <p:cNvPr id="13" name="Étape 3"/>
          <p:cNvSpPr/>
          <p:nvPr/>
        </p:nvSpPr>
        <p:spPr>
          <a:xfrm>
            <a:off x="4306092" y="1828800"/>
            <a:ext cx="1700784" cy="2286000"/>
          </a:xfrm>
          <a:prstGeom prst="roundRect">
            <a:avLst>
              <a:gd name="adj" fmla="val 6452"/>
            </a:avLst>
          </a:prstGeom>
          <a:solidFill>
            <a:srgbClr val="0F6B52"/>
          </a:solidFill>
          <a:ln w="12700">
            <a:solidFill>
              <a:srgbClr val="0F6B52"/>
            </a:solidFill>
            <a:prstDash val="solid"/>
          </a:ln>
          <a:effectLst>
            <a:outerShdw sx="100000" sy="100000" kx="0" ky="0" algn="bl" rotWithShape="0" blurRad="101600" dist="25400" dir="5400000">
              <a:srgbClr val="14231C">
                <a:alpha val="12000"/>
              </a:srgbClr>
            </a:outerShdw>
          </a:effectLst>
        </p:spPr>
      </p:sp>
      <p:sp>
        <p:nvSpPr>
          <p:cNvPr id="14" name="Text 12"/>
          <p:cNvSpPr txBox="1"/>
          <p:nvPr/>
        </p:nvSpPr>
        <p:spPr>
          <a:xfrm>
            <a:off x="4488972" y="1965960"/>
            <a:ext cx="914400" cy="548640"/>
          </a:xfrm>
          <a:prstGeom prst="rect">
            <a:avLst/>
          </a:prstGeom>
          <a:noFill/>
          <a:ln/>
        </p:spPr>
        <p:txBody>
          <a:bodyPr wrap="square" lIns="0" tIns="0" rIns="0" bIns="0" rtlCol="0" anchor="t"/>
          <a:lstStyle/>
          <a:p>
            <a:pPr indent="0" marL="0">
              <a:buNone/>
            </a:pPr>
            <a:r>
              <a:rPr lang="en-US" sz="2800" b="1" dirty="0">
                <a:solidFill>
                  <a:schemeClr val="bg1"/>
                </a:solidFill>
                <a:latin typeface="Arial" pitchFamily="34" charset="0"/>
                <a:ea typeface="Arial" pitchFamily="34" charset="-122"/>
                <a:cs typeface="Arial" pitchFamily="34" charset="-120"/>
              </a:rPr>
              <a:t>3</a:t>
            </a:r>
            <a:endParaRPr lang="en-US" sz="2800" dirty="0"/>
          </a:p>
        </p:txBody>
      </p:sp>
      <p:sp>
        <p:nvSpPr>
          <p:cNvPr id="15" name="Text 13"/>
          <p:cNvSpPr txBox="1"/>
          <p:nvPr/>
        </p:nvSpPr>
        <p:spPr>
          <a:xfrm>
            <a:off x="4488972" y="2606040"/>
            <a:ext cx="1380744" cy="457200"/>
          </a:xfrm>
          <a:prstGeom prst="rect">
            <a:avLst/>
          </a:prstGeom>
          <a:noFill/>
          <a:ln/>
        </p:spPr>
        <p:txBody>
          <a:bodyPr wrap="square" lIns="0" tIns="0" rIns="0" bIns="0" rtlCol="0" anchor="t"/>
          <a:lstStyle/>
          <a:p>
            <a:pPr indent="0" marL="0">
              <a:buNone/>
            </a:pPr>
            <a:r>
              <a:rPr lang="en-US" sz="1700" b="1" dirty="0">
                <a:solidFill>
                  <a:schemeClr val="bg1"/>
                </a:solidFill>
                <a:latin typeface="Calibri" pitchFamily="34" charset="0"/>
                <a:ea typeface="Calibri" pitchFamily="34" charset="-122"/>
                <a:cs typeface="Calibri" pitchFamily="34" charset="-120"/>
              </a:rPr>
              <a:t>Zetaris</a:t>
            </a:r>
            <a:endParaRPr lang="en-US" sz="1700" dirty="0"/>
          </a:p>
        </p:txBody>
      </p:sp>
      <p:sp>
        <p:nvSpPr>
          <p:cNvPr id="16" name="Text 14"/>
          <p:cNvSpPr txBox="1"/>
          <p:nvPr/>
        </p:nvSpPr>
        <p:spPr>
          <a:xfrm>
            <a:off x="4488972" y="3108960"/>
            <a:ext cx="1380744" cy="91440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SQL API; visible PostgreSQL fallback</a:t>
            </a:r>
            <a:endParaRPr lang="en-US" sz="1300" dirty="0"/>
          </a:p>
        </p:txBody>
      </p:sp>
      <p:sp>
        <p:nvSpPr>
          <p:cNvPr id="17" name="Flèche 3"/>
          <p:cNvSpPr/>
          <p:nvPr/>
        </p:nvSpPr>
        <p:spPr>
          <a:xfrm rot="5400000">
            <a:off x="6013552" y="2880360"/>
            <a:ext cx="201168" cy="164592"/>
          </a:xfrm>
          <a:prstGeom prst="triangle">
            <a:avLst/>
          </a:prstGeom>
          <a:solidFill>
            <a:srgbClr val="6B7F74"/>
          </a:solidFill>
          <a:ln w="12700">
            <a:solidFill>
              <a:srgbClr val="6B7F74"/>
            </a:solidFill>
            <a:prstDash val="solid"/>
          </a:ln>
        </p:spPr>
      </p:sp>
      <p:sp>
        <p:nvSpPr>
          <p:cNvPr id="18" name="Étape 4"/>
          <p:cNvSpPr/>
          <p:nvPr/>
        </p:nvSpPr>
        <p:spPr>
          <a:xfrm>
            <a:off x="6184819" y="1828800"/>
            <a:ext cx="1700784" cy="2286000"/>
          </a:xfrm>
          <a:prstGeom prst="roundRect">
            <a:avLst>
              <a:gd name="adj" fmla="val 6452"/>
            </a:avLst>
          </a:prstGeom>
          <a:solidFill>
            <a:srgbClr val="0A4A39"/>
          </a:solidFill>
          <a:ln w="12700">
            <a:solidFill>
              <a:srgbClr val="0A4A39"/>
            </a:solidFill>
            <a:prstDash val="solid"/>
          </a:ln>
          <a:effectLst>
            <a:outerShdw sx="100000" sy="100000" kx="0" ky="0" algn="bl" rotWithShape="0" blurRad="101600" dist="25400" dir="5400000">
              <a:srgbClr val="14231C">
                <a:alpha val="12000"/>
              </a:srgbClr>
            </a:outerShdw>
          </a:effectLst>
        </p:spPr>
      </p:sp>
      <p:sp>
        <p:nvSpPr>
          <p:cNvPr id="19" name="Text 17"/>
          <p:cNvSpPr txBox="1"/>
          <p:nvPr/>
        </p:nvSpPr>
        <p:spPr>
          <a:xfrm>
            <a:off x="6367699" y="1965960"/>
            <a:ext cx="914400" cy="548640"/>
          </a:xfrm>
          <a:prstGeom prst="rect">
            <a:avLst/>
          </a:prstGeom>
          <a:noFill/>
          <a:ln/>
        </p:spPr>
        <p:txBody>
          <a:bodyPr wrap="square" lIns="0" tIns="0" rIns="0" bIns="0" rtlCol="0" anchor="t"/>
          <a:lstStyle/>
          <a:p>
            <a:pPr indent="0" marL="0">
              <a:buNone/>
            </a:pPr>
            <a:r>
              <a:rPr lang="en-US" sz="2800" b="1" dirty="0">
                <a:solidFill>
                  <a:schemeClr val="bg1"/>
                </a:solidFill>
                <a:latin typeface="Arial" pitchFamily="34" charset="0"/>
                <a:ea typeface="Arial" pitchFamily="34" charset="-122"/>
                <a:cs typeface="Arial" pitchFamily="34" charset="-120"/>
              </a:rPr>
              <a:t>4</a:t>
            </a:r>
            <a:endParaRPr lang="en-US" sz="2800" dirty="0"/>
          </a:p>
        </p:txBody>
      </p:sp>
      <p:sp>
        <p:nvSpPr>
          <p:cNvPr id="20" name="Text 18"/>
          <p:cNvSpPr txBox="1"/>
          <p:nvPr/>
        </p:nvSpPr>
        <p:spPr>
          <a:xfrm>
            <a:off x="6367699" y="2606040"/>
            <a:ext cx="1380744" cy="457200"/>
          </a:xfrm>
          <a:prstGeom prst="rect">
            <a:avLst/>
          </a:prstGeom>
          <a:noFill/>
          <a:ln/>
        </p:spPr>
        <p:txBody>
          <a:bodyPr wrap="square" lIns="0" tIns="0" rIns="0" bIns="0" rtlCol="0" anchor="t"/>
          <a:lstStyle/>
          <a:p>
            <a:pPr indent="0" marL="0">
              <a:buNone/>
            </a:pPr>
            <a:r>
              <a:rPr lang="en-US" sz="1700" b="1" dirty="0">
                <a:solidFill>
                  <a:schemeClr val="bg1"/>
                </a:solidFill>
                <a:latin typeface="Calibri" pitchFamily="34" charset="0"/>
                <a:ea typeface="Calibri" pitchFamily="34" charset="-122"/>
                <a:cs typeface="Calibri" pitchFamily="34" charset="-120"/>
              </a:rPr>
              <a:t>Kwatsur code</a:t>
            </a:r>
            <a:endParaRPr lang="en-US" sz="1700" dirty="0"/>
          </a:p>
        </p:txBody>
      </p:sp>
      <p:sp>
        <p:nvSpPr>
          <p:cNvPr id="21" name="Text 19"/>
          <p:cNvSpPr txBox="1"/>
          <p:nvPr/>
        </p:nvSpPr>
        <p:spPr>
          <a:xfrm>
            <a:off x="6367699" y="3108960"/>
            <a:ext cx="1380744" cy="91440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Filters, ranking, risks</a:t>
            </a:r>
            <a:endParaRPr lang="en-US" sz="1300" dirty="0"/>
          </a:p>
        </p:txBody>
      </p:sp>
      <p:sp>
        <p:nvSpPr>
          <p:cNvPr id="22" name="Flèche 4"/>
          <p:cNvSpPr/>
          <p:nvPr/>
        </p:nvSpPr>
        <p:spPr>
          <a:xfrm rot="5400000">
            <a:off x="7892278" y="2880360"/>
            <a:ext cx="201168" cy="164592"/>
          </a:xfrm>
          <a:prstGeom prst="triangle">
            <a:avLst/>
          </a:prstGeom>
          <a:solidFill>
            <a:srgbClr val="6B7F74"/>
          </a:solidFill>
          <a:ln w="12700">
            <a:solidFill>
              <a:srgbClr val="6B7F74"/>
            </a:solidFill>
            <a:prstDash val="solid"/>
          </a:ln>
        </p:spPr>
      </p:sp>
      <p:sp>
        <p:nvSpPr>
          <p:cNvPr id="23" name="Étape 5"/>
          <p:cNvSpPr/>
          <p:nvPr/>
        </p:nvSpPr>
        <p:spPr>
          <a:xfrm>
            <a:off x="8063545" y="1828800"/>
            <a:ext cx="1700784" cy="2286000"/>
          </a:xfrm>
          <a:prstGeom prst="roundRect">
            <a:avLst>
              <a:gd name="adj" fmla="val 6452"/>
            </a:avLst>
          </a:prstGeom>
          <a:solidFill>
            <a:srgbClr val="0F6B52"/>
          </a:solidFill>
          <a:ln w="12700">
            <a:solidFill>
              <a:srgbClr val="0F6B52"/>
            </a:solidFill>
            <a:prstDash val="solid"/>
          </a:ln>
          <a:effectLst>
            <a:outerShdw sx="100000" sy="100000" kx="0" ky="0" algn="bl" rotWithShape="0" blurRad="101600" dist="25400" dir="5400000">
              <a:srgbClr val="14231C">
                <a:alpha val="12000"/>
              </a:srgbClr>
            </a:outerShdw>
          </a:effectLst>
        </p:spPr>
      </p:sp>
      <p:sp>
        <p:nvSpPr>
          <p:cNvPr id="24" name="Text 22"/>
          <p:cNvSpPr txBox="1"/>
          <p:nvPr/>
        </p:nvSpPr>
        <p:spPr>
          <a:xfrm>
            <a:off x="8246425" y="1965960"/>
            <a:ext cx="914400" cy="548640"/>
          </a:xfrm>
          <a:prstGeom prst="rect">
            <a:avLst/>
          </a:prstGeom>
          <a:noFill/>
          <a:ln/>
        </p:spPr>
        <p:txBody>
          <a:bodyPr wrap="square" lIns="0" tIns="0" rIns="0" bIns="0" rtlCol="0" anchor="t"/>
          <a:lstStyle/>
          <a:p>
            <a:pPr indent="0" marL="0">
              <a:buNone/>
            </a:pPr>
            <a:r>
              <a:rPr lang="en-US" sz="2800" b="1" dirty="0">
                <a:solidFill>
                  <a:schemeClr val="bg1"/>
                </a:solidFill>
                <a:latin typeface="Arial" pitchFamily="34" charset="0"/>
                <a:ea typeface="Arial" pitchFamily="34" charset="-122"/>
                <a:cs typeface="Arial" pitchFamily="34" charset="-120"/>
              </a:rPr>
              <a:t>5</a:t>
            </a:r>
            <a:endParaRPr lang="en-US" sz="2800" dirty="0"/>
          </a:p>
        </p:txBody>
      </p:sp>
      <p:sp>
        <p:nvSpPr>
          <p:cNvPr id="25" name="Text 23"/>
          <p:cNvSpPr txBox="1"/>
          <p:nvPr/>
        </p:nvSpPr>
        <p:spPr>
          <a:xfrm>
            <a:off x="8246425" y="2606040"/>
            <a:ext cx="1380744" cy="457200"/>
          </a:xfrm>
          <a:prstGeom prst="rect">
            <a:avLst/>
          </a:prstGeom>
          <a:noFill/>
          <a:ln/>
        </p:spPr>
        <p:txBody>
          <a:bodyPr wrap="square" lIns="0" tIns="0" rIns="0" bIns="0" rtlCol="0" anchor="t"/>
          <a:lstStyle/>
          <a:p>
            <a:pPr indent="0" marL="0">
              <a:buNone/>
            </a:pPr>
            <a:r>
              <a:rPr lang="en-US" sz="1700" b="1" dirty="0">
                <a:solidFill>
                  <a:schemeClr val="bg1"/>
                </a:solidFill>
                <a:latin typeface="Calibri" pitchFamily="34" charset="0"/>
                <a:ea typeface="Calibri" pitchFamily="34" charset="-122"/>
                <a:cs typeface="Calibri" pitchFamily="34" charset="-120"/>
              </a:rPr>
              <a:t>Nemotron</a:t>
            </a:r>
            <a:endParaRPr lang="en-US" sz="1700" dirty="0"/>
          </a:p>
        </p:txBody>
      </p:sp>
      <p:sp>
        <p:nvSpPr>
          <p:cNvPr id="26" name="Text 24"/>
          <p:cNvSpPr txBox="1"/>
          <p:nvPr/>
        </p:nvSpPr>
        <p:spPr>
          <a:xfrm>
            <a:off x="8246425" y="3108960"/>
            <a:ext cx="1380744" cy="91440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Explanation from the facts</a:t>
            </a:r>
            <a:endParaRPr lang="en-US" sz="1300" dirty="0"/>
          </a:p>
        </p:txBody>
      </p:sp>
      <p:sp>
        <p:nvSpPr>
          <p:cNvPr id="27" name="Flèche 5"/>
          <p:cNvSpPr/>
          <p:nvPr/>
        </p:nvSpPr>
        <p:spPr>
          <a:xfrm rot="5400000">
            <a:off x="9771004" y="2880360"/>
            <a:ext cx="201168" cy="164592"/>
          </a:xfrm>
          <a:prstGeom prst="triangle">
            <a:avLst/>
          </a:prstGeom>
          <a:solidFill>
            <a:srgbClr val="6B7F74"/>
          </a:solidFill>
          <a:ln w="12700">
            <a:solidFill>
              <a:srgbClr val="6B7F74"/>
            </a:solidFill>
            <a:prstDash val="solid"/>
          </a:ln>
        </p:spPr>
      </p:sp>
      <p:sp>
        <p:nvSpPr>
          <p:cNvPr id="28" name="Étape 6"/>
          <p:cNvSpPr/>
          <p:nvPr/>
        </p:nvSpPr>
        <p:spPr>
          <a:xfrm>
            <a:off x="9942271" y="1828800"/>
            <a:ext cx="1700784" cy="2286000"/>
          </a:xfrm>
          <a:prstGeom prst="roundRect">
            <a:avLst>
              <a:gd name="adj" fmla="val 6452"/>
            </a:avLst>
          </a:prstGeom>
          <a:solidFill>
            <a:srgbClr val="0A4A39"/>
          </a:solidFill>
          <a:ln w="12700">
            <a:solidFill>
              <a:srgbClr val="0A4A39"/>
            </a:solidFill>
            <a:prstDash val="solid"/>
          </a:ln>
          <a:effectLst>
            <a:outerShdw sx="100000" sy="100000" kx="0" ky="0" algn="bl" rotWithShape="0" blurRad="101600" dist="25400" dir="5400000">
              <a:srgbClr val="14231C">
                <a:alpha val="12000"/>
              </a:srgbClr>
            </a:outerShdw>
          </a:effectLst>
        </p:spPr>
      </p:sp>
      <p:sp>
        <p:nvSpPr>
          <p:cNvPr id="29" name="Text 27"/>
          <p:cNvSpPr txBox="1"/>
          <p:nvPr/>
        </p:nvSpPr>
        <p:spPr>
          <a:xfrm>
            <a:off x="10125151" y="1965960"/>
            <a:ext cx="914400" cy="548640"/>
          </a:xfrm>
          <a:prstGeom prst="rect">
            <a:avLst/>
          </a:prstGeom>
          <a:noFill/>
          <a:ln/>
        </p:spPr>
        <p:txBody>
          <a:bodyPr wrap="square" lIns="0" tIns="0" rIns="0" bIns="0" rtlCol="0" anchor="t"/>
          <a:lstStyle/>
          <a:p>
            <a:pPr indent="0" marL="0">
              <a:buNone/>
            </a:pPr>
            <a:r>
              <a:rPr lang="en-US" sz="2800" b="1" dirty="0">
                <a:solidFill>
                  <a:schemeClr val="bg1"/>
                </a:solidFill>
                <a:latin typeface="Arial" pitchFamily="34" charset="0"/>
                <a:ea typeface="Arial" pitchFamily="34" charset="-122"/>
                <a:cs typeface="Arial" pitchFamily="34" charset="-120"/>
              </a:rPr>
              <a:t>6</a:t>
            </a:r>
            <a:endParaRPr lang="en-US" sz="2800" dirty="0"/>
          </a:p>
        </p:txBody>
      </p:sp>
      <p:sp>
        <p:nvSpPr>
          <p:cNvPr id="30" name="Text 28"/>
          <p:cNvSpPr txBox="1"/>
          <p:nvPr/>
        </p:nvSpPr>
        <p:spPr>
          <a:xfrm>
            <a:off x="10125151" y="2606040"/>
            <a:ext cx="1380744" cy="457200"/>
          </a:xfrm>
          <a:prstGeom prst="rect">
            <a:avLst/>
          </a:prstGeom>
          <a:noFill/>
          <a:ln/>
        </p:spPr>
        <p:txBody>
          <a:bodyPr wrap="square" lIns="0" tIns="0" rIns="0" bIns="0" rtlCol="0" anchor="t"/>
          <a:lstStyle/>
          <a:p>
            <a:pPr indent="0" marL="0">
              <a:buNone/>
            </a:pPr>
            <a:r>
              <a:rPr lang="en-US" sz="1700" b="1" dirty="0">
                <a:solidFill>
                  <a:schemeClr val="bg1"/>
                </a:solidFill>
                <a:latin typeface="Calibri" pitchFamily="34" charset="0"/>
                <a:ea typeface="Calibri" pitchFamily="34" charset="-122"/>
                <a:cs typeface="Calibri" pitchFamily="34" charset="-120"/>
              </a:rPr>
              <a:t>Interface</a:t>
            </a:r>
            <a:endParaRPr lang="en-US" sz="1700" dirty="0"/>
          </a:p>
        </p:txBody>
      </p:sp>
      <p:sp>
        <p:nvSpPr>
          <p:cNvPr id="31" name="Text 29"/>
          <p:cNvSpPr txBox="1"/>
          <p:nvPr/>
        </p:nvSpPr>
        <p:spPr>
          <a:xfrm>
            <a:off x="10125151" y="3108960"/>
            <a:ext cx="1380744" cy="91440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Collapsible cards, requested images, voice</a:t>
            </a:r>
            <a:endParaRPr lang="en-US" sz="1300" dirty="0"/>
          </a:p>
        </p:txBody>
      </p:sp>
      <p:sp>
        <p:nvSpPr>
          <p:cNvPr id="32" name="Garanties"/>
          <p:cNvSpPr/>
          <p:nvPr/>
        </p:nvSpPr>
        <p:spPr>
          <a:xfrm>
            <a:off x="548640" y="4526280"/>
            <a:ext cx="11094415" cy="1463040"/>
          </a:xfrm>
          <a:prstGeom prst="roundRect">
            <a:avLst>
              <a:gd name="adj" fmla="val 7500"/>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33" name="Text 31"/>
          <p:cNvSpPr txBox="1"/>
          <p:nvPr/>
        </p:nvSpPr>
        <p:spPr>
          <a:xfrm>
            <a:off x="822960" y="4681728"/>
            <a:ext cx="10545775" cy="118872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tx1"/>
                </a:solidFill>
                <a:latin typeface="Calibri" pitchFamily="34" charset="0"/>
                <a:ea typeface="Calibri" pitchFamily="34" charset="-122"/>
                <a:cs typeface="Calibri" pitchFamily="34" charset="-120"/>
              </a:rPr>
              <a:t>Without a valid Scout contract, no tool acts: signed contract (HMAC), valid 5 min, checked by every tool.</a:t>
            </a:r>
            <a:endParaRPr lang="en-US" sz="1500" dirty="0"/>
          </a:p>
          <a:p>
            <a:pPr marL="342900" indent="-342900">
              <a:spcAft>
                <a:spcPts val="400"/>
              </a:spcAft>
              <a:buSzPct val="100000"/>
              <a:buChar char="•"/>
            </a:pPr>
            <a:r>
              <a:rPr lang="en-US" sz="1500" dirty="0">
                <a:solidFill>
                  <a:schemeClr val="tx1"/>
                </a:solidFill>
                <a:latin typeface="Calibri" pitchFamily="34" charset="0"/>
                <a:ea typeface="Calibri" pitchFamily="34" charset="-122"/>
                <a:cs typeface="Calibri" pitchFamily="34" charset="-120"/>
              </a:rPr>
              <a:t>Replies expose actual provenance: model or template, data source used, Scout trace where applicable.</a:t>
            </a:r>
            <a:endParaRPr lang="en-US" sz="1500" dirty="0"/>
          </a:p>
          <a:p>
            <a:pPr marL="342900" indent="-342900">
              <a:spcAft>
                <a:spcPts val="400"/>
              </a:spcAft>
              <a:buSzPct val="100000"/>
              <a:buChar char="•"/>
            </a:pPr>
            <a:r>
              <a:rPr lang="en-US" sz="1500" dirty="0">
                <a:solidFill>
                  <a:schemeClr val="tx1"/>
                </a:solidFill>
                <a:latin typeface="Calibri" pitchFamily="34" charset="0"/>
                <a:ea typeface="Calibri" pitchFamily="34" charset="-122"/>
                <a:cs typeface="Calibri" pitchFamily="34" charset="-120"/>
              </a:rPr>
              <a:t>Unknown ≠ no: missing information stays "not specified" and is flagged "to check".</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ns2:wrappingTextBoxFlag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ns3="http://schemas.microsoft.com/office/mac/drawingml/2011/main" xmlns:p="http://schemas.openxmlformats.org/presentationml/2006/main" xmlns:r="http://schemas.openxmlformats.org/officeDocument/2006/relationships">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The tech stack</a:t>
            </a:r>
            <a:endParaRPr lang="en-US" sz="3400" dirty="0"/>
          </a:p>
        </p:txBody>
      </p:sp>
      <p:sp>
        <p:nvSpPr>
          <p:cNvPr id="3" name="Pile Data"/>
          <p:cNvSpPr/>
          <p:nvPr/>
        </p:nvSpPr>
        <p:spPr>
          <a:xfrm>
            <a:off x="548640" y="1508760"/>
            <a:ext cx="3538728" cy="2103120"/>
          </a:xfrm>
          <a:prstGeom prst="roundRect">
            <a:avLst>
              <a:gd name="adj" fmla="val 5217"/>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4" name="Pile Data cercle"/>
          <p:cNvSpPr/>
          <p:nvPr/>
        </p:nvSpPr>
        <p:spPr>
          <a:xfrm>
            <a:off x="822960" y="1783080"/>
            <a:ext cx="731520" cy="731520"/>
          </a:xfrm>
          <a:prstGeom prst="ellipse">
            <a:avLst/>
          </a:prstGeom>
          <a:solidFill>
            <a:srgbClr val="0F6B52"/>
          </a:solidFill>
          <a:ln w="12700">
            <a:solidFill>
              <a:srgbClr val="0F6B52"/>
            </a:solidFill>
            <a:prstDash val="solid"/>
          </a:ln>
        </p:spPr>
      </p:sp>
      <p:pic>
        <p:nvPicPr>
          <p:cNvPr id="5" name="Pile Data icône" descr="preencoded.png">    </p:cNvPr>
          <p:cNvPicPr>
            <a:picLocks noChangeAspect="1"/>
          </p:cNvPicPr>
          <p:nvPr/>
        </p:nvPicPr>
        <p:blipFill>
          <a:blip r:embed="rId1"/>
          <a:stretch>
            <a:fillRect/>
          </a:stretch>
        </p:blipFill>
        <p:spPr>
          <a:xfrm>
            <a:off x="998525" y="1958645"/>
            <a:ext cx="380390" cy="380390"/>
          </a:xfrm>
          <a:prstGeom prst="rect">
            <a:avLst/>
          </a:prstGeom>
        </p:spPr>
      </p:pic>
      <p:sp>
        <p:nvSpPr>
          <p:cNvPr id="6" name="Text 3"/>
          <p:cNvSpPr txBox="1"/>
          <p:nvPr/>
        </p:nvSpPr>
        <p:spPr>
          <a:xfrm>
            <a:off x="1737360" y="1892808"/>
            <a:ext cx="2194560" cy="45720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Data</a:t>
            </a:r>
            <a:endParaRPr lang="en-US" sz="2000" dirty="0"/>
          </a:p>
        </p:txBody>
      </p:sp>
      <p:sp>
        <p:nvSpPr>
          <p:cNvPr id="7" name="Text 4"/>
          <p:cNvSpPr txBox="1"/>
          <p:nvPr/>
        </p:nvSpPr>
        <p:spPr>
          <a:xfrm>
            <a:off x="822960" y="2651760"/>
            <a:ext cx="3017520" cy="86868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Zetaris 2.4.3 (local, Docker) · federates Kwatsur's PostgreSQL database</a:t>
            </a:r>
            <a:endParaRPr lang="en-US" sz="1400" dirty="0"/>
          </a:p>
        </p:txBody>
      </p:sp>
      <p:sp>
        <p:nvSpPr>
          <p:cNvPr id="8" name="Pile Power"/>
          <p:cNvSpPr/>
          <p:nvPr/>
        </p:nvSpPr>
        <p:spPr>
          <a:xfrm>
            <a:off x="4325112" y="1508760"/>
            <a:ext cx="3538728" cy="2103120"/>
          </a:xfrm>
          <a:prstGeom prst="roundRect">
            <a:avLst>
              <a:gd name="adj" fmla="val 5217"/>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9" name="Pile Power cercle"/>
          <p:cNvSpPr/>
          <p:nvPr/>
        </p:nvSpPr>
        <p:spPr>
          <a:xfrm>
            <a:off x="4599432" y="1783080"/>
            <a:ext cx="731520" cy="731520"/>
          </a:xfrm>
          <a:prstGeom prst="ellipse">
            <a:avLst/>
          </a:prstGeom>
          <a:solidFill>
            <a:srgbClr val="0F6B52"/>
          </a:solidFill>
          <a:ln w="12700">
            <a:solidFill>
              <a:srgbClr val="0F6B52"/>
            </a:solidFill>
            <a:prstDash val="solid"/>
          </a:ln>
        </p:spPr>
      </p:sp>
      <p:pic>
        <p:nvPicPr>
          <p:cNvPr id="10" name="Pile Power icône" descr="preencoded.png">    </p:cNvPr>
          <p:cNvPicPr>
            <a:picLocks noChangeAspect="1"/>
          </p:cNvPicPr>
          <p:nvPr/>
        </p:nvPicPr>
        <p:blipFill>
          <a:blip r:embed="rId2"/>
          <a:stretch>
            <a:fillRect/>
          </a:stretch>
        </p:blipFill>
        <p:spPr>
          <a:xfrm>
            <a:off x="4774997" y="1958645"/>
            <a:ext cx="380390" cy="380390"/>
          </a:xfrm>
          <a:prstGeom prst="rect">
            <a:avLst/>
          </a:prstGeom>
        </p:spPr>
      </p:pic>
      <p:sp>
        <p:nvSpPr>
          <p:cNvPr id="11" name="Text 7"/>
          <p:cNvSpPr txBox="1"/>
          <p:nvPr/>
        </p:nvSpPr>
        <p:spPr>
          <a:xfrm>
            <a:off x="5513832" y="1892808"/>
            <a:ext cx="2194560" cy="45720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Power</a:t>
            </a:r>
            <a:endParaRPr lang="en-US" sz="2000" dirty="0"/>
          </a:p>
        </p:txBody>
      </p:sp>
      <p:sp>
        <p:nvSpPr>
          <p:cNvPr id="12" name="Text 8"/>
          <p:cNvSpPr txBox="1"/>
          <p:nvPr/>
        </p:nvSpPr>
        <p:spPr>
          <a:xfrm>
            <a:off x="4599432" y="2651760"/>
            <a:ext cx="3017520" cy="86868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Meterless Nightshift · NVIDIA Nemotron 3 Ultra 550B (pinned)</a:t>
            </a:r>
            <a:endParaRPr lang="en-US" sz="1400" dirty="0"/>
          </a:p>
        </p:txBody>
      </p:sp>
      <p:sp>
        <p:nvSpPr>
          <p:cNvPr id="13" name="Pile Build"/>
          <p:cNvSpPr/>
          <p:nvPr/>
        </p:nvSpPr>
        <p:spPr>
          <a:xfrm>
            <a:off x="8101584" y="1508760"/>
            <a:ext cx="3538728" cy="2103120"/>
          </a:xfrm>
          <a:prstGeom prst="roundRect">
            <a:avLst>
              <a:gd name="adj" fmla="val 5217"/>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14" name="Pile Build cercle"/>
          <p:cNvSpPr/>
          <p:nvPr/>
        </p:nvSpPr>
        <p:spPr>
          <a:xfrm>
            <a:off x="8375904" y="1783080"/>
            <a:ext cx="731520" cy="731520"/>
          </a:xfrm>
          <a:prstGeom prst="ellipse">
            <a:avLst/>
          </a:prstGeom>
          <a:solidFill>
            <a:srgbClr val="0F6B52"/>
          </a:solidFill>
          <a:ln w="12700">
            <a:solidFill>
              <a:srgbClr val="0F6B52"/>
            </a:solidFill>
            <a:prstDash val="solid"/>
          </a:ln>
        </p:spPr>
      </p:sp>
      <p:pic>
        <p:nvPicPr>
          <p:cNvPr id="15" name="Pile Build icône" descr="preencoded.png">    </p:cNvPr>
          <p:cNvPicPr>
            <a:picLocks noChangeAspect="1"/>
          </p:cNvPicPr>
          <p:nvPr/>
        </p:nvPicPr>
        <p:blipFill>
          <a:blip r:embed="rId3"/>
          <a:stretch>
            <a:fillRect/>
          </a:stretch>
        </p:blipFill>
        <p:spPr>
          <a:xfrm>
            <a:off x="8551469" y="1958645"/>
            <a:ext cx="380390" cy="380390"/>
          </a:xfrm>
          <a:prstGeom prst="rect">
            <a:avLst/>
          </a:prstGeom>
        </p:spPr>
      </p:pic>
      <p:sp>
        <p:nvSpPr>
          <p:cNvPr id="16" name="Text 11"/>
          <p:cNvSpPr txBox="1"/>
          <p:nvPr/>
        </p:nvSpPr>
        <p:spPr>
          <a:xfrm>
            <a:off x="9290304" y="1892808"/>
            <a:ext cx="2194560" cy="45720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Build</a:t>
            </a:r>
            <a:endParaRPr lang="en-US" sz="2000" dirty="0"/>
          </a:p>
        </p:txBody>
      </p:sp>
      <p:sp>
        <p:nvSpPr>
          <p:cNvPr id="17" name="Text 12"/>
          <p:cNvSpPr txBox="1"/>
          <p:nvPr/>
        </p:nvSpPr>
        <p:spPr>
          <a:xfrm>
            <a:off x="8375904" y="2651760"/>
            <a:ext cx="3017520" cy="86868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Scout Intent (Python) · Cursor and Claude Code · 214 passed, 2 skipped</a:t>
            </a:r>
            <a:endParaRPr lang="en-US" sz="1400" dirty="0"/>
          </a:p>
        </p:txBody>
      </p:sp>
      <p:sp>
        <p:nvSpPr>
          <p:cNvPr id="18" name="Pile Application"/>
          <p:cNvSpPr/>
          <p:nvPr/>
        </p:nvSpPr>
        <p:spPr>
          <a:xfrm>
            <a:off x="548640" y="3886200"/>
            <a:ext cx="3538728" cy="2103120"/>
          </a:xfrm>
          <a:prstGeom prst="roundRect">
            <a:avLst>
              <a:gd name="adj" fmla="val 5217"/>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19" name="Pile Application cercle"/>
          <p:cNvSpPr/>
          <p:nvPr/>
        </p:nvSpPr>
        <p:spPr>
          <a:xfrm>
            <a:off x="822960" y="4160520"/>
            <a:ext cx="731520" cy="731520"/>
          </a:xfrm>
          <a:prstGeom prst="ellipse">
            <a:avLst/>
          </a:prstGeom>
          <a:solidFill>
            <a:srgbClr val="3D5348"/>
          </a:solidFill>
          <a:ln w="12700">
            <a:solidFill>
              <a:srgbClr val="3D5348"/>
            </a:solidFill>
            <a:prstDash val="solid"/>
          </a:ln>
        </p:spPr>
      </p:sp>
      <p:pic>
        <p:nvPicPr>
          <p:cNvPr id="20" name="Pile Application icône" descr="preencoded.png">    </p:cNvPr>
          <p:cNvPicPr>
            <a:picLocks noChangeAspect="1"/>
          </p:cNvPicPr>
          <p:nvPr/>
        </p:nvPicPr>
        <p:blipFill>
          <a:blip r:embed="rId4"/>
          <a:stretch>
            <a:fillRect/>
          </a:stretch>
        </p:blipFill>
        <p:spPr>
          <a:xfrm>
            <a:off x="998525" y="4336085"/>
            <a:ext cx="380390" cy="380390"/>
          </a:xfrm>
          <a:prstGeom prst="rect">
            <a:avLst/>
          </a:prstGeom>
        </p:spPr>
      </p:pic>
      <p:sp>
        <p:nvSpPr>
          <p:cNvPr id="21" name="Text 15"/>
          <p:cNvSpPr txBox="1"/>
          <p:nvPr/>
        </p:nvSpPr>
        <p:spPr>
          <a:xfrm>
            <a:off x="1737360" y="4270248"/>
            <a:ext cx="2194560" cy="45720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Application</a:t>
            </a:r>
            <a:endParaRPr lang="en-US" sz="2000" dirty="0"/>
          </a:p>
        </p:txBody>
      </p:sp>
      <p:sp>
        <p:nvSpPr>
          <p:cNvPr id="22" name="Text 16"/>
          <p:cNvSpPr txBox="1"/>
          <p:nvPr/>
        </p:nvSpPr>
        <p:spPr>
          <a:xfrm>
            <a:off x="822960" y="5029200"/>
            <a:ext cx="3017520" cy="86868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FastAPI · PostgreSQL 16 · Alembic · nginx · framework-free JavaScript</a:t>
            </a:r>
            <a:endParaRPr lang="en-US" sz="1400" dirty="0"/>
          </a:p>
        </p:txBody>
      </p:sp>
      <p:sp>
        <p:nvSpPr>
          <p:cNvPr id="23" name="Pile Images"/>
          <p:cNvSpPr/>
          <p:nvPr/>
        </p:nvSpPr>
        <p:spPr>
          <a:xfrm>
            <a:off x="4325112" y="3886200"/>
            <a:ext cx="3538728" cy="2103120"/>
          </a:xfrm>
          <a:prstGeom prst="roundRect">
            <a:avLst>
              <a:gd name="adj" fmla="val 5217"/>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24" name="Pile Images cercle"/>
          <p:cNvSpPr/>
          <p:nvPr/>
        </p:nvSpPr>
        <p:spPr>
          <a:xfrm>
            <a:off x="4599432" y="4160520"/>
            <a:ext cx="731520" cy="731520"/>
          </a:xfrm>
          <a:prstGeom prst="ellipse">
            <a:avLst/>
          </a:prstGeom>
          <a:solidFill>
            <a:srgbClr val="3D5348"/>
          </a:solidFill>
          <a:ln w="12700">
            <a:solidFill>
              <a:srgbClr val="3D5348"/>
            </a:solidFill>
            <a:prstDash val="solid"/>
          </a:ln>
        </p:spPr>
      </p:sp>
      <p:pic>
        <p:nvPicPr>
          <p:cNvPr id="25" name="Pile Images icône" descr="preencoded.png">    </p:cNvPr>
          <p:cNvPicPr>
            <a:picLocks noChangeAspect="1"/>
          </p:cNvPicPr>
          <p:nvPr/>
        </p:nvPicPr>
        <p:blipFill>
          <a:blip r:embed="rId5"/>
          <a:stretch>
            <a:fillRect/>
          </a:stretch>
        </p:blipFill>
        <p:spPr>
          <a:xfrm>
            <a:off x="4774997" y="4336085"/>
            <a:ext cx="380390" cy="380390"/>
          </a:xfrm>
          <a:prstGeom prst="rect">
            <a:avLst/>
          </a:prstGeom>
        </p:spPr>
      </p:pic>
      <p:sp>
        <p:nvSpPr>
          <p:cNvPr id="26" name="Text 19"/>
          <p:cNvSpPr txBox="1"/>
          <p:nvPr/>
        </p:nvSpPr>
        <p:spPr>
          <a:xfrm>
            <a:off x="5513832" y="4270248"/>
            <a:ext cx="2194560" cy="45720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Images</a:t>
            </a:r>
            <a:endParaRPr lang="en-US" sz="2000" dirty="0"/>
          </a:p>
        </p:txBody>
      </p:sp>
      <p:sp>
        <p:nvSpPr>
          <p:cNvPr id="27" name="Text 20"/>
          <p:cNvSpPr txBox="1"/>
          <p:nvPr/>
        </p:nvSpPr>
        <p:spPr>
          <a:xfrm>
            <a:off x="4599432" y="5029200"/>
            <a:ext cx="3017520" cy="86868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Cloudflare Workers AI: FLUX.1 schnell (generation), LLaVA (vision)</a:t>
            </a:r>
            <a:endParaRPr lang="en-US" sz="1400" dirty="0"/>
          </a:p>
        </p:txBody>
      </p:sp>
      <p:sp>
        <p:nvSpPr>
          <p:cNvPr id="28" name="Pile Deployment"/>
          <p:cNvSpPr/>
          <p:nvPr/>
        </p:nvSpPr>
        <p:spPr>
          <a:xfrm>
            <a:off x="8101584" y="3886200"/>
            <a:ext cx="3538728" cy="2103120"/>
          </a:xfrm>
          <a:prstGeom prst="roundRect">
            <a:avLst>
              <a:gd name="adj" fmla="val 5217"/>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29" name="Pile Deployment cercle"/>
          <p:cNvSpPr/>
          <p:nvPr/>
        </p:nvSpPr>
        <p:spPr>
          <a:xfrm>
            <a:off x="8375904" y="4160520"/>
            <a:ext cx="731520" cy="731520"/>
          </a:xfrm>
          <a:prstGeom prst="ellipse">
            <a:avLst/>
          </a:prstGeom>
          <a:solidFill>
            <a:srgbClr val="3D5348"/>
          </a:solidFill>
          <a:ln w="12700">
            <a:solidFill>
              <a:srgbClr val="3D5348"/>
            </a:solidFill>
            <a:prstDash val="solid"/>
          </a:ln>
        </p:spPr>
      </p:sp>
      <p:pic>
        <p:nvPicPr>
          <p:cNvPr id="30" name="Pile Deployment icône" descr="preencoded.png">    </p:cNvPr>
          <p:cNvPicPr>
            <a:picLocks noChangeAspect="1"/>
          </p:cNvPicPr>
          <p:nvPr/>
        </p:nvPicPr>
        <p:blipFill>
          <a:blip r:embed="rId6"/>
          <a:stretch>
            <a:fillRect/>
          </a:stretch>
        </p:blipFill>
        <p:spPr>
          <a:xfrm>
            <a:off x="8551469" y="4336085"/>
            <a:ext cx="380390" cy="380390"/>
          </a:xfrm>
          <a:prstGeom prst="rect">
            <a:avLst/>
          </a:prstGeom>
        </p:spPr>
      </p:pic>
      <p:sp>
        <p:nvSpPr>
          <p:cNvPr id="31" name="Text 23"/>
          <p:cNvSpPr txBox="1"/>
          <p:nvPr/>
        </p:nvSpPr>
        <p:spPr>
          <a:xfrm>
            <a:off x="9290304" y="4270248"/>
            <a:ext cx="2194560" cy="45720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Deployment</a:t>
            </a:r>
            <a:endParaRPr lang="en-US" sz="2000" dirty="0"/>
          </a:p>
        </p:txBody>
      </p:sp>
      <p:sp>
        <p:nvSpPr>
          <p:cNvPr id="32" name="Text 24"/>
          <p:cNvSpPr txBox="1"/>
          <p:nvPr/>
        </p:nvSpPr>
        <p:spPr>
          <a:xfrm>
            <a:off x="8375904" y="5029200"/>
            <a:ext cx="3017520" cy="86868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Docker Compose in WSL · Web Speech (voice) · SAMPLE_MODE fallback</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ns3:wrappingTextBoxFlag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ns2="http://schemas.microsoft.com/office/mac/drawingml/2011/main"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Zetaris, the agent's data layer</a:t>
            </a:r>
            <a:endParaRPr lang="en-US" sz="3400" dirty="0"/>
          </a:p>
        </p:txBody>
      </p:sp>
      <p:sp>
        <p:nvSpPr>
          <p:cNvPr id="3" name="Zetaris 1"/>
          <p:cNvSpPr/>
          <p:nvPr/>
        </p:nvSpPr>
        <p:spPr>
          <a:xfrm>
            <a:off x="548640" y="1600200"/>
            <a:ext cx="2514600" cy="1371600"/>
          </a:xfrm>
          <a:prstGeom prst="roundRect">
            <a:avLst>
              <a:gd name="adj" fmla="val 8000"/>
            </a:avLst>
          </a:prstGeom>
          <a:solidFill>
            <a:srgbClr val="0A4A39"/>
          </a:solidFill>
          <a:ln w="12700">
            <a:solidFill>
              <a:srgbClr val="0A4A39"/>
            </a:solidFill>
            <a:prstDash val="solid"/>
          </a:ln>
          <a:effectLst>
            <a:outerShdw sx="100000" sy="100000" kx="0" ky="0" algn="bl" rotWithShape="0" blurRad="101600" dist="25400" dir="5400000">
              <a:srgbClr val="14231C">
                <a:alpha val="12000"/>
              </a:srgbClr>
            </a:outerShdw>
          </a:effectLst>
        </p:spPr>
      </p:sp>
      <p:sp>
        <p:nvSpPr>
          <p:cNvPr id="4" name="Text 2"/>
          <p:cNvSpPr txBox="1"/>
          <p:nvPr/>
        </p:nvSpPr>
        <p:spPr>
          <a:xfrm>
            <a:off x="731520" y="1783080"/>
            <a:ext cx="2194560" cy="457200"/>
          </a:xfrm>
          <a:prstGeom prst="rect">
            <a:avLst/>
          </a:prstGeom>
          <a:noFill/>
          <a:ln/>
        </p:spPr>
        <p:txBody>
          <a:bodyPr wrap="square" lIns="0" tIns="0" rIns="0" bIns="0" rtlCol="0" anchor="t"/>
          <a:lstStyle/>
          <a:p>
            <a:pPr indent="0" marL="0">
              <a:buNone/>
            </a:pPr>
            <a:r>
              <a:rPr lang="en-US" sz="1800" b="1" dirty="0">
                <a:solidFill>
                  <a:schemeClr val="bg1"/>
                </a:solidFill>
                <a:latin typeface="Calibri" pitchFamily="34" charset="0"/>
                <a:ea typeface="Calibri" pitchFamily="34" charset="-122"/>
                <a:cs typeface="Calibri" pitchFamily="34" charset="-120"/>
              </a:rPr>
              <a:t>Kwatsur agent</a:t>
            </a:r>
            <a:endParaRPr lang="en-US" sz="1800" dirty="0"/>
          </a:p>
        </p:txBody>
      </p:sp>
      <p:sp>
        <p:nvSpPr>
          <p:cNvPr id="5" name="Text 3"/>
          <p:cNvSpPr txBox="1"/>
          <p:nvPr/>
        </p:nvSpPr>
        <p:spPr>
          <a:xfrm>
            <a:off x="731520" y="2286000"/>
            <a:ext cx="2194560" cy="54864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configured source</a:t>
            </a:r>
            <a:endParaRPr lang="en-US" sz="1300" dirty="0"/>
          </a:p>
        </p:txBody>
      </p:sp>
      <p:sp>
        <p:nvSpPr>
          <p:cNvPr id="6" name="Zetaris flèche 1"/>
          <p:cNvSpPr/>
          <p:nvPr/>
        </p:nvSpPr>
        <p:spPr>
          <a:xfrm rot="5400000">
            <a:off x="3145536" y="2185416"/>
            <a:ext cx="201168" cy="164592"/>
          </a:xfrm>
          <a:prstGeom prst="triangle">
            <a:avLst/>
          </a:prstGeom>
          <a:solidFill>
            <a:srgbClr val="6B7F74"/>
          </a:solidFill>
          <a:ln w="12700">
            <a:solidFill>
              <a:srgbClr val="6B7F74"/>
            </a:solidFill>
            <a:prstDash val="solid"/>
          </a:ln>
        </p:spPr>
      </p:sp>
      <p:sp>
        <p:nvSpPr>
          <p:cNvPr id="7" name="Zetaris 2"/>
          <p:cNvSpPr/>
          <p:nvPr/>
        </p:nvSpPr>
        <p:spPr>
          <a:xfrm>
            <a:off x="3383280" y="1600200"/>
            <a:ext cx="2514600" cy="1371600"/>
          </a:xfrm>
          <a:prstGeom prst="roundRect">
            <a:avLst>
              <a:gd name="adj" fmla="val 8000"/>
            </a:avLst>
          </a:prstGeom>
          <a:solidFill>
            <a:srgbClr val="0F6B52"/>
          </a:solidFill>
          <a:ln w="12700">
            <a:solidFill>
              <a:srgbClr val="0F6B52"/>
            </a:solidFill>
            <a:prstDash val="solid"/>
          </a:ln>
          <a:effectLst>
            <a:outerShdw sx="100000" sy="100000" kx="0" ky="0" algn="bl" rotWithShape="0" blurRad="101600" dist="25400" dir="5400000">
              <a:srgbClr val="14231C">
                <a:alpha val="12000"/>
              </a:srgbClr>
            </a:outerShdw>
          </a:effectLst>
        </p:spPr>
      </p:sp>
      <p:sp>
        <p:nvSpPr>
          <p:cNvPr id="8" name="Text 6"/>
          <p:cNvSpPr txBox="1"/>
          <p:nvPr/>
        </p:nvSpPr>
        <p:spPr>
          <a:xfrm>
            <a:off x="3566160" y="1783080"/>
            <a:ext cx="2194560" cy="457200"/>
          </a:xfrm>
          <a:prstGeom prst="rect">
            <a:avLst/>
          </a:prstGeom>
          <a:noFill/>
          <a:ln/>
        </p:spPr>
        <p:txBody>
          <a:bodyPr wrap="square" lIns="0" tIns="0" rIns="0" bIns="0" rtlCol="0" anchor="t"/>
          <a:lstStyle/>
          <a:p>
            <a:pPr indent="0" marL="0">
              <a:buNone/>
            </a:pPr>
            <a:r>
              <a:rPr lang="en-US" sz="1800" b="1" dirty="0">
                <a:solidFill>
                  <a:schemeClr val="bg1"/>
                </a:solidFill>
                <a:latin typeface="Calibri" pitchFamily="34" charset="0"/>
                <a:ea typeface="Calibri" pitchFamily="34" charset="-122"/>
                <a:cs typeface="Calibri" pitchFamily="34" charset="-120"/>
              </a:rPr>
              <a:t>Zetaris</a:t>
            </a:r>
            <a:endParaRPr lang="en-US" sz="1800" dirty="0"/>
          </a:p>
        </p:txBody>
      </p:sp>
      <p:sp>
        <p:nvSpPr>
          <p:cNvPr id="9" name="Text 7"/>
          <p:cNvSpPr txBox="1"/>
          <p:nvPr/>
        </p:nvSpPr>
        <p:spPr>
          <a:xfrm>
            <a:off x="3566160" y="2286000"/>
            <a:ext cx="2194560" cy="54864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POST /sql-editor/sqls/run</a:t>
            </a:r>
            <a:endParaRPr lang="en-US" sz="1300" dirty="0"/>
          </a:p>
        </p:txBody>
      </p:sp>
      <p:sp>
        <p:nvSpPr>
          <p:cNvPr id="10" name="Zetaris flèche 2"/>
          <p:cNvSpPr/>
          <p:nvPr/>
        </p:nvSpPr>
        <p:spPr>
          <a:xfrm rot="5400000">
            <a:off x="5980176" y="2185416"/>
            <a:ext cx="201168" cy="164592"/>
          </a:xfrm>
          <a:prstGeom prst="triangle">
            <a:avLst/>
          </a:prstGeom>
          <a:solidFill>
            <a:srgbClr val="6B7F74"/>
          </a:solidFill>
          <a:ln w="12700">
            <a:solidFill>
              <a:srgbClr val="6B7F74"/>
            </a:solidFill>
            <a:prstDash val="solid"/>
          </a:ln>
        </p:spPr>
      </p:sp>
      <p:sp>
        <p:nvSpPr>
          <p:cNvPr id="11" name="Zetaris 3"/>
          <p:cNvSpPr/>
          <p:nvPr/>
        </p:nvSpPr>
        <p:spPr>
          <a:xfrm>
            <a:off x="6217920" y="1600200"/>
            <a:ext cx="2514600" cy="1371600"/>
          </a:xfrm>
          <a:prstGeom prst="roundRect">
            <a:avLst>
              <a:gd name="adj" fmla="val 8000"/>
            </a:avLst>
          </a:prstGeom>
          <a:solidFill>
            <a:srgbClr val="3D5348"/>
          </a:solidFill>
          <a:ln w="12700">
            <a:solidFill>
              <a:srgbClr val="3D5348"/>
            </a:solidFill>
            <a:prstDash val="solid"/>
          </a:ln>
          <a:effectLst>
            <a:outerShdw sx="100000" sy="100000" kx="0" ky="0" algn="bl" rotWithShape="0" blurRad="101600" dist="25400" dir="5400000">
              <a:srgbClr val="14231C">
                <a:alpha val="12000"/>
              </a:srgbClr>
            </a:outerShdw>
          </a:effectLst>
        </p:spPr>
      </p:sp>
      <p:sp>
        <p:nvSpPr>
          <p:cNvPr id="12" name="Text 10"/>
          <p:cNvSpPr txBox="1"/>
          <p:nvPr/>
        </p:nvSpPr>
        <p:spPr>
          <a:xfrm>
            <a:off x="6400800" y="1783080"/>
            <a:ext cx="2194560" cy="457200"/>
          </a:xfrm>
          <a:prstGeom prst="rect">
            <a:avLst/>
          </a:prstGeom>
          <a:noFill/>
          <a:ln/>
        </p:spPr>
        <p:txBody>
          <a:bodyPr wrap="square" lIns="0" tIns="0" rIns="0" bIns="0" rtlCol="0" anchor="t"/>
          <a:lstStyle/>
          <a:p>
            <a:pPr indent="0" marL="0">
              <a:buNone/>
            </a:pPr>
            <a:r>
              <a:rPr lang="en-US" sz="1800" b="1" dirty="0">
                <a:solidFill>
                  <a:schemeClr val="bg1"/>
                </a:solidFill>
                <a:latin typeface="Calibri" pitchFamily="34" charset="0"/>
                <a:ea typeface="Calibri" pitchFamily="34" charset="-122"/>
                <a:cs typeface="Calibri" pitchFamily="34" charset="-120"/>
              </a:rPr>
              <a:t>Source kwatsur_pg</a:t>
            </a:r>
            <a:endParaRPr lang="en-US" sz="1800" dirty="0"/>
          </a:p>
        </p:txBody>
      </p:sp>
      <p:sp>
        <p:nvSpPr>
          <p:cNvPr id="13" name="Text 11"/>
          <p:cNvSpPr txBox="1"/>
          <p:nvPr/>
        </p:nvSpPr>
        <p:spPr>
          <a:xfrm>
            <a:off x="6400800" y="2286000"/>
            <a:ext cx="2194560" cy="54864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read-only role</a:t>
            </a:r>
            <a:endParaRPr lang="en-US" sz="1300" dirty="0"/>
          </a:p>
        </p:txBody>
      </p:sp>
      <p:sp>
        <p:nvSpPr>
          <p:cNvPr id="14" name="Zetaris flèche 3"/>
          <p:cNvSpPr/>
          <p:nvPr/>
        </p:nvSpPr>
        <p:spPr>
          <a:xfrm rot="5400000">
            <a:off x="8814816" y="2185416"/>
            <a:ext cx="201168" cy="164592"/>
          </a:xfrm>
          <a:prstGeom prst="triangle">
            <a:avLst/>
          </a:prstGeom>
          <a:solidFill>
            <a:srgbClr val="6B7F74"/>
          </a:solidFill>
          <a:ln w="12700">
            <a:solidFill>
              <a:srgbClr val="6B7F74"/>
            </a:solidFill>
            <a:prstDash val="solid"/>
          </a:ln>
        </p:spPr>
      </p:sp>
      <p:sp>
        <p:nvSpPr>
          <p:cNvPr id="15" name="Zetaris 4"/>
          <p:cNvSpPr/>
          <p:nvPr/>
        </p:nvSpPr>
        <p:spPr>
          <a:xfrm>
            <a:off x="9052560" y="1600200"/>
            <a:ext cx="2514600" cy="1371600"/>
          </a:xfrm>
          <a:prstGeom prst="roundRect">
            <a:avLst>
              <a:gd name="adj" fmla="val 8000"/>
            </a:avLst>
          </a:prstGeom>
          <a:solidFill>
            <a:srgbClr val="C2562F"/>
          </a:solidFill>
          <a:ln w="12700">
            <a:solidFill>
              <a:srgbClr val="C2562F"/>
            </a:solidFill>
            <a:prstDash val="solid"/>
          </a:ln>
          <a:effectLst>
            <a:outerShdw sx="100000" sy="100000" kx="0" ky="0" algn="bl" rotWithShape="0" blurRad="101600" dist="25400" dir="5400000">
              <a:srgbClr val="14231C">
                <a:alpha val="12000"/>
              </a:srgbClr>
            </a:outerShdw>
          </a:effectLst>
        </p:spPr>
      </p:sp>
      <p:sp>
        <p:nvSpPr>
          <p:cNvPr id="16" name="Text 14"/>
          <p:cNvSpPr txBox="1"/>
          <p:nvPr/>
        </p:nvSpPr>
        <p:spPr>
          <a:xfrm>
            <a:off x="9235440" y="1783080"/>
            <a:ext cx="2194560" cy="457200"/>
          </a:xfrm>
          <a:prstGeom prst="rect">
            <a:avLst/>
          </a:prstGeom>
          <a:noFill/>
          <a:ln/>
        </p:spPr>
        <p:txBody>
          <a:bodyPr wrap="square" lIns="0" tIns="0" rIns="0" bIns="0" rtlCol="0" anchor="t"/>
          <a:lstStyle/>
          <a:p>
            <a:pPr indent="0" marL="0">
              <a:buNone/>
            </a:pPr>
            <a:r>
              <a:rPr lang="en-US" sz="1800" b="1" dirty="0">
                <a:solidFill>
                  <a:schemeClr val="bg1"/>
                </a:solidFill>
                <a:latin typeface="Calibri" pitchFamily="34" charset="0"/>
                <a:ea typeface="Calibri" pitchFamily="34" charset="-122"/>
                <a:cs typeface="Calibri" pitchFamily="34" charset="-120"/>
              </a:rPr>
              <a:t>View zetaris_listings</a:t>
            </a:r>
            <a:endParaRPr lang="en-US" sz="1800" dirty="0"/>
          </a:p>
        </p:txBody>
      </p:sp>
      <p:sp>
        <p:nvSpPr>
          <p:cNvPr id="17" name="Text 15"/>
          <p:cNvSpPr txBox="1"/>
          <p:nvPr/>
        </p:nvSpPr>
        <p:spPr>
          <a:xfrm>
            <a:off x="9235440" y="2286000"/>
            <a:ext cx="2194560" cy="54864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listings + approved</a:t>
            </a:r>
            <a:endParaRPr lang="en-US" sz="1300" dirty="0"/>
          </a:p>
        </p:txBody>
      </p:sp>
      <p:sp>
        <p:nvSpPr>
          <p:cNvPr id="18" name="Text 16"/>
          <p:cNvSpPr txBox="1"/>
          <p:nvPr/>
        </p:nvSpPr>
        <p:spPr>
          <a:xfrm>
            <a:off x="548640" y="3337560"/>
            <a:ext cx="11094415" cy="26517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Configured primary source: chat and filters query Zetaris, or PostgreSQL with explicit fallback.</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Kwatsur's database is federated as a source (CREATE DATASOURCE), read by a role limited to one view.</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Approval publishes to PostgreSQL; the federated view exposes approved listings.</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Next: agencies and partner APIs added in Zetaris, without changing the agent's code.</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Historical HTTP 200 evidence. Recent checks: Zetaris error, explicitly reported PostgreSQL fallback.</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ns2:wrappingTextBoxFlag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ns2="http://schemas.microsoft.com/office/mac/drawingml/2011/main"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Meterless: Scout Intent and Nightshift</a:t>
            </a:r>
            <a:endParaRPr lang="en-US" sz="3400" dirty="0"/>
          </a:p>
        </p:txBody>
      </p:sp>
      <p:sp>
        <p:nvSpPr>
          <p:cNvPr id="3" name="Étape Scout Sense"/>
          <p:cNvSpPr/>
          <p:nvPr/>
        </p:nvSpPr>
        <p:spPr>
          <a:xfrm>
            <a:off x="548640" y="1508760"/>
            <a:ext cx="1188720" cy="566928"/>
          </a:xfrm>
          <a:prstGeom prst="roundRect">
            <a:avLst>
              <a:gd name="adj" fmla="val 19355"/>
            </a:avLst>
          </a:prstGeom>
          <a:solidFill>
            <a:srgbClr val="0F6B52"/>
          </a:solidFill>
          <a:ln w="12700">
            <a:solidFill>
              <a:srgbClr val="0F6B52"/>
            </a:solidFill>
            <a:prstDash val="solid"/>
          </a:ln>
          <a:effectLst>
            <a:outerShdw sx="100000" sy="100000" kx="0" ky="0" algn="bl" rotWithShape="0" blurRad="101600" dist="25400" dir="5400000">
              <a:srgbClr val="14231C">
                <a:alpha val="12000"/>
              </a:srgbClr>
            </a:outerShdw>
          </a:effectLst>
        </p:spPr>
      </p:sp>
      <p:sp>
        <p:nvSpPr>
          <p:cNvPr id="4" name="Text 2"/>
          <p:cNvSpPr txBox="1"/>
          <p:nvPr/>
        </p:nvSpPr>
        <p:spPr>
          <a:xfrm>
            <a:off x="548640" y="1508760"/>
            <a:ext cx="1188720" cy="56692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Sense</a:t>
            </a:r>
            <a:endParaRPr lang="en-US" sz="1400" dirty="0"/>
          </a:p>
        </p:txBody>
      </p:sp>
      <p:sp>
        <p:nvSpPr>
          <p:cNvPr id="5" name="Étape Scout Interpret"/>
          <p:cNvSpPr/>
          <p:nvPr/>
        </p:nvSpPr>
        <p:spPr>
          <a:xfrm>
            <a:off x="1847088" y="1508760"/>
            <a:ext cx="1188720" cy="566928"/>
          </a:xfrm>
          <a:prstGeom prst="roundRect">
            <a:avLst>
              <a:gd name="adj" fmla="val 19355"/>
            </a:avLst>
          </a:prstGeom>
          <a:solidFill>
            <a:srgbClr val="0F6B52"/>
          </a:solidFill>
          <a:ln w="12700">
            <a:solidFill>
              <a:srgbClr val="0F6B52"/>
            </a:solidFill>
            <a:prstDash val="solid"/>
          </a:ln>
          <a:effectLst>
            <a:outerShdw sx="100000" sy="100000" kx="0" ky="0" algn="bl" rotWithShape="0" blurRad="101600" dist="25400" dir="5400000">
              <a:srgbClr val="14231C">
                <a:alpha val="12000"/>
              </a:srgbClr>
            </a:outerShdw>
          </a:effectLst>
        </p:spPr>
      </p:sp>
      <p:sp>
        <p:nvSpPr>
          <p:cNvPr id="6" name="Text 4"/>
          <p:cNvSpPr txBox="1"/>
          <p:nvPr/>
        </p:nvSpPr>
        <p:spPr>
          <a:xfrm>
            <a:off x="1847088" y="1508760"/>
            <a:ext cx="1188720" cy="56692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Interpret</a:t>
            </a:r>
            <a:endParaRPr lang="en-US" sz="1400" dirty="0"/>
          </a:p>
        </p:txBody>
      </p:sp>
      <p:sp>
        <p:nvSpPr>
          <p:cNvPr id="7" name="Étape Scout Guard"/>
          <p:cNvSpPr/>
          <p:nvPr/>
        </p:nvSpPr>
        <p:spPr>
          <a:xfrm>
            <a:off x="3145536" y="1508760"/>
            <a:ext cx="1188720" cy="566928"/>
          </a:xfrm>
          <a:prstGeom prst="roundRect">
            <a:avLst>
              <a:gd name="adj" fmla="val 19355"/>
            </a:avLst>
          </a:prstGeom>
          <a:solidFill>
            <a:srgbClr val="C2562F"/>
          </a:solidFill>
          <a:ln w="12700">
            <a:solidFill>
              <a:srgbClr val="C2562F"/>
            </a:solidFill>
            <a:prstDash val="solid"/>
          </a:ln>
          <a:effectLst>
            <a:outerShdw sx="100000" sy="100000" kx="0" ky="0" algn="bl" rotWithShape="0" blurRad="101600" dist="25400" dir="5400000">
              <a:srgbClr val="14231C">
                <a:alpha val="12000"/>
              </a:srgbClr>
            </a:outerShdw>
          </a:effectLst>
        </p:spPr>
      </p:sp>
      <p:sp>
        <p:nvSpPr>
          <p:cNvPr id="8" name="Text 6"/>
          <p:cNvSpPr txBox="1"/>
          <p:nvPr/>
        </p:nvSpPr>
        <p:spPr>
          <a:xfrm>
            <a:off x="3145536" y="1508760"/>
            <a:ext cx="1188720" cy="56692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Guard</a:t>
            </a:r>
            <a:endParaRPr lang="en-US" sz="1400" dirty="0"/>
          </a:p>
        </p:txBody>
      </p:sp>
      <p:sp>
        <p:nvSpPr>
          <p:cNvPr id="9" name="Étape Scout Route"/>
          <p:cNvSpPr/>
          <p:nvPr/>
        </p:nvSpPr>
        <p:spPr>
          <a:xfrm>
            <a:off x="4443984" y="1508760"/>
            <a:ext cx="1188720" cy="566928"/>
          </a:xfrm>
          <a:prstGeom prst="roundRect">
            <a:avLst>
              <a:gd name="adj" fmla="val 19355"/>
            </a:avLst>
          </a:prstGeom>
          <a:solidFill>
            <a:srgbClr val="0F6B52"/>
          </a:solidFill>
          <a:ln w="12700">
            <a:solidFill>
              <a:srgbClr val="0F6B52"/>
            </a:solidFill>
            <a:prstDash val="solid"/>
          </a:ln>
          <a:effectLst>
            <a:outerShdw sx="100000" sy="100000" kx="0" ky="0" algn="bl" rotWithShape="0" blurRad="101600" dist="25400" dir="5400000">
              <a:srgbClr val="14231C">
                <a:alpha val="12000"/>
              </a:srgbClr>
            </a:outerShdw>
          </a:effectLst>
        </p:spPr>
      </p:sp>
      <p:sp>
        <p:nvSpPr>
          <p:cNvPr id="10" name="Text 8"/>
          <p:cNvSpPr txBox="1"/>
          <p:nvPr/>
        </p:nvSpPr>
        <p:spPr>
          <a:xfrm>
            <a:off x="4443984" y="1508760"/>
            <a:ext cx="1188720" cy="56692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Route</a:t>
            </a:r>
            <a:endParaRPr lang="en-US" sz="1400" dirty="0"/>
          </a:p>
        </p:txBody>
      </p:sp>
      <p:sp>
        <p:nvSpPr>
          <p:cNvPr id="11" name="Étape Scout Recommend"/>
          <p:cNvSpPr/>
          <p:nvPr/>
        </p:nvSpPr>
        <p:spPr>
          <a:xfrm>
            <a:off x="5742432" y="1508760"/>
            <a:ext cx="1188720" cy="566928"/>
          </a:xfrm>
          <a:prstGeom prst="roundRect">
            <a:avLst>
              <a:gd name="adj" fmla="val 19355"/>
            </a:avLst>
          </a:prstGeom>
          <a:solidFill>
            <a:srgbClr val="0F6B52"/>
          </a:solidFill>
          <a:ln w="12700">
            <a:solidFill>
              <a:srgbClr val="0F6B52"/>
            </a:solidFill>
            <a:prstDash val="solid"/>
          </a:ln>
          <a:effectLst>
            <a:outerShdw sx="100000" sy="100000" kx="0" ky="0" algn="bl" rotWithShape="0" blurRad="101600" dist="25400" dir="5400000">
              <a:srgbClr val="14231C">
                <a:alpha val="12000"/>
              </a:srgbClr>
            </a:outerShdw>
          </a:effectLst>
        </p:spPr>
      </p:sp>
      <p:sp>
        <p:nvSpPr>
          <p:cNvPr id="12" name="Text 10"/>
          <p:cNvSpPr txBox="1"/>
          <p:nvPr/>
        </p:nvSpPr>
        <p:spPr>
          <a:xfrm>
            <a:off x="5742432" y="1508760"/>
            <a:ext cx="1188720" cy="56692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Recommend</a:t>
            </a:r>
            <a:endParaRPr lang="en-US" sz="1400" dirty="0"/>
          </a:p>
        </p:txBody>
      </p:sp>
      <p:sp>
        <p:nvSpPr>
          <p:cNvPr id="13" name="Text 11"/>
          <p:cNvSpPr txBox="1"/>
          <p:nvPr/>
        </p:nvSpPr>
        <p:spPr>
          <a:xfrm>
            <a:off x="548640" y="2331720"/>
            <a:ext cx="6400800" cy="32918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Default: simplified routing, fragmented search, submissions and explicit images. Chat compare/contact require full Scout mode.</a:t>
            </a:r>
            <a:endParaRPr lang="en-US" sz="1600" dirty="0"/>
          </a:p>
          <a:p>
            <a:pPr marL="342900" indent="-3429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Signed contract (HMAC, 5 min) checked by every tool; forged or expired contracts refused (tests).</a:t>
            </a:r>
            <a:endParaRPr lang="en-US" sz="1600" dirty="0"/>
          </a:p>
          <a:p>
            <a:pPr marL="342900" indent="-3429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Nightshift is the primary AI provider; it serves nvidia/nemotron-3-ultra-550b-a55b, shown under every reply.</a:t>
            </a:r>
            <a:endParaRPr lang="en-US" sz="1600" dirty="0"/>
          </a:p>
        </p:txBody>
      </p:sp>
      <p:sp>
        <p:nvSpPr>
          <p:cNvPr id="14" name="Statistique 1"/>
          <p:cNvSpPr/>
          <p:nvPr/>
        </p:nvSpPr>
        <p:spPr>
          <a:xfrm>
            <a:off x="7452360" y="1508760"/>
            <a:ext cx="4187952" cy="1325880"/>
          </a:xfrm>
          <a:prstGeom prst="roundRect">
            <a:avLst>
              <a:gd name="adj" fmla="val 8276"/>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15" name="Text 13"/>
          <p:cNvSpPr txBox="1"/>
          <p:nvPr/>
        </p:nvSpPr>
        <p:spPr>
          <a:xfrm>
            <a:off x="7680960" y="1618488"/>
            <a:ext cx="1737360" cy="1097280"/>
          </a:xfrm>
          <a:prstGeom prst="rect">
            <a:avLst/>
          </a:prstGeom>
          <a:noFill/>
          <a:ln/>
        </p:spPr>
        <p:txBody>
          <a:bodyPr wrap="square" lIns="0" tIns="0" rIns="0" bIns="0" rtlCol="0" anchor="ctr"/>
          <a:lstStyle/>
          <a:p>
            <a:pPr indent="0" marL="0">
              <a:buNone/>
            </a:pPr>
            <a:r>
              <a:rPr lang="en-US" sz="4800" b="1" dirty="0">
                <a:solidFill>
                  <a:schemeClr val="accent1"/>
                </a:solidFill>
                <a:latin typeface="Arial" pitchFamily="34" charset="0"/>
                <a:ea typeface="Arial" pitchFamily="34" charset="-122"/>
                <a:cs typeface="Arial" pitchFamily="34" charset="-120"/>
              </a:rPr>
              <a:t>0.98</a:t>
            </a:r>
            <a:endParaRPr lang="en-US" sz="4800" dirty="0"/>
          </a:p>
        </p:txBody>
      </p:sp>
      <p:sp>
        <p:nvSpPr>
          <p:cNvPr id="16" name="Text 14"/>
          <p:cNvSpPr txBox="1"/>
          <p:nvPr/>
        </p:nvSpPr>
        <p:spPr>
          <a:xfrm>
            <a:off x="9418320" y="1783080"/>
            <a:ext cx="2103120" cy="41148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correct intent (top-1)</a:t>
            </a:r>
            <a:endParaRPr lang="en-US" sz="1500" dirty="0"/>
          </a:p>
        </p:txBody>
      </p:sp>
      <p:sp>
        <p:nvSpPr>
          <p:cNvPr id="17" name="Text 15"/>
          <p:cNvSpPr txBox="1"/>
          <p:nvPr/>
        </p:nvSpPr>
        <p:spPr>
          <a:xfrm>
            <a:off x="9418320" y="2221992"/>
            <a:ext cx="2103120" cy="365760"/>
          </a:xfrm>
          <a:prstGeom prst="rect">
            <a:avLst/>
          </a:prstGeom>
          <a:noFill/>
          <a:ln/>
        </p:spPr>
        <p:txBody>
          <a:bodyPr wrap="square" lIns="0" tIns="0" rIns="0" bIns="0" rtlCol="0" anchor="t"/>
          <a:lstStyle/>
          <a:p>
            <a:pPr indent="0" marL="0">
              <a:buNone/>
            </a:pPr>
            <a:r>
              <a:rPr lang="en-US" sz="1200" dirty="0">
                <a:solidFill>
                  <a:schemeClr val="accent6"/>
                </a:solidFill>
                <a:latin typeface="Calibri" pitchFamily="34" charset="0"/>
                <a:ea typeface="Calibri" pitchFamily="34" charset="-122"/>
                <a:cs typeface="Calibri" pitchFamily="34" charset="-120"/>
              </a:rPr>
              <a:t>official floor 0.85</a:t>
            </a:r>
            <a:endParaRPr lang="en-US" sz="1200" dirty="0"/>
          </a:p>
        </p:txBody>
      </p:sp>
      <p:sp>
        <p:nvSpPr>
          <p:cNvPr id="18" name="Statistique 2"/>
          <p:cNvSpPr/>
          <p:nvPr/>
        </p:nvSpPr>
        <p:spPr>
          <a:xfrm>
            <a:off x="7452360" y="3017520"/>
            <a:ext cx="4187952" cy="1325880"/>
          </a:xfrm>
          <a:prstGeom prst="roundRect">
            <a:avLst>
              <a:gd name="adj" fmla="val 8276"/>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19" name="Text 17"/>
          <p:cNvSpPr txBox="1"/>
          <p:nvPr/>
        </p:nvSpPr>
        <p:spPr>
          <a:xfrm>
            <a:off x="7680960" y="3127248"/>
            <a:ext cx="1737360" cy="1097280"/>
          </a:xfrm>
          <a:prstGeom prst="rect">
            <a:avLst/>
          </a:prstGeom>
          <a:noFill/>
          <a:ln/>
        </p:spPr>
        <p:txBody>
          <a:bodyPr wrap="square" lIns="0" tIns="0" rIns="0" bIns="0" rtlCol="0" anchor="ctr"/>
          <a:lstStyle/>
          <a:p>
            <a:pPr indent="0" marL="0">
              <a:buNone/>
            </a:pPr>
            <a:r>
              <a:rPr lang="en-US" sz="4800" b="1" dirty="0">
                <a:solidFill>
                  <a:schemeClr val="accent1"/>
                </a:solidFill>
                <a:latin typeface="Arial" pitchFamily="34" charset="0"/>
                <a:ea typeface="Arial" pitchFamily="34" charset="-122"/>
                <a:cs typeface="Arial" pitchFamily="34" charset="-120"/>
              </a:rPr>
              <a:t>1.00</a:t>
            </a:r>
            <a:endParaRPr lang="en-US" sz="4800" dirty="0"/>
          </a:p>
        </p:txBody>
      </p:sp>
      <p:sp>
        <p:nvSpPr>
          <p:cNvPr id="20" name="Text 18"/>
          <p:cNvSpPr txBox="1"/>
          <p:nvPr/>
        </p:nvSpPr>
        <p:spPr>
          <a:xfrm>
            <a:off x="9418320" y="3291840"/>
            <a:ext cx="2103120" cy="41148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injections detected</a:t>
            </a:r>
            <a:endParaRPr lang="en-US" sz="1500" dirty="0"/>
          </a:p>
        </p:txBody>
      </p:sp>
      <p:sp>
        <p:nvSpPr>
          <p:cNvPr id="21" name="Text 19"/>
          <p:cNvSpPr txBox="1"/>
          <p:nvPr/>
        </p:nvSpPr>
        <p:spPr>
          <a:xfrm>
            <a:off x="9418320" y="3730752"/>
            <a:ext cx="2103120" cy="365760"/>
          </a:xfrm>
          <a:prstGeom prst="rect">
            <a:avLst/>
          </a:prstGeom>
          <a:noFill/>
          <a:ln/>
        </p:spPr>
        <p:txBody>
          <a:bodyPr wrap="square" lIns="0" tIns="0" rIns="0" bIns="0" rtlCol="0" anchor="t"/>
          <a:lstStyle/>
          <a:p>
            <a:pPr indent="0" marL="0">
              <a:buNone/>
            </a:pPr>
            <a:r>
              <a:rPr lang="en-US" sz="1200" dirty="0">
                <a:solidFill>
                  <a:schemeClr val="accent6"/>
                </a:solidFill>
                <a:latin typeface="Calibri" pitchFamily="34" charset="0"/>
                <a:ea typeface="Calibri" pitchFamily="34" charset="-122"/>
                <a:cs typeface="Calibri" pitchFamily="34" charset="-120"/>
              </a:rPr>
              <a:t>precision and recall</a:t>
            </a:r>
            <a:endParaRPr lang="en-US" sz="1200" dirty="0"/>
          </a:p>
        </p:txBody>
      </p:sp>
      <p:sp>
        <p:nvSpPr>
          <p:cNvPr id="22" name="Statistique 3"/>
          <p:cNvSpPr/>
          <p:nvPr/>
        </p:nvSpPr>
        <p:spPr>
          <a:xfrm>
            <a:off x="7452360" y="4526280"/>
            <a:ext cx="4187952" cy="1325880"/>
          </a:xfrm>
          <a:prstGeom prst="roundRect">
            <a:avLst>
              <a:gd name="adj" fmla="val 8276"/>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23" name="Text 21"/>
          <p:cNvSpPr txBox="1"/>
          <p:nvPr/>
        </p:nvSpPr>
        <p:spPr>
          <a:xfrm>
            <a:off x="7680960" y="4636008"/>
            <a:ext cx="1737360" cy="1097280"/>
          </a:xfrm>
          <a:prstGeom prst="rect">
            <a:avLst/>
          </a:prstGeom>
          <a:noFill/>
          <a:ln/>
        </p:spPr>
        <p:txBody>
          <a:bodyPr wrap="square" lIns="0" tIns="0" rIns="0" bIns="0" rtlCol="0" anchor="ctr"/>
          <a:lstStyle/>
          <a:p>
            <a:pPr indent="0" marL="0">
              <a:buNone/>
            </a:pPr>
            <a:r>
              <a:rPr lang="en-US" sz="4800" b="1" dirty="0">
                <a:solidFill>
                  <a:schemeClr val="accent1"/>
                </a:solidFill>
                <a:latin typeface="Arial" pitchFamily="34" charset="0"/>
                <a:ea typeface="Arial" pitchFamily="34" charset="-122"/>
                <a:cs typeface="Arial" pitchFamily="34" charset="-120"/>
              </a:rPr>
              <a:t>1.00</a:t>
            </a:r>
            <a:endParaRPr lang="en-US" sz="4800" dirty="0"/>
          </a:p>
        </p:txBody>
      </p:sp>
      <p:sp>
        <p:nvSpPr>
          <p:cNvPr id="24" name="Text 22"/>
          <p:cNvSpPr txBox="1"/>
          <p:nvPr/>
        </p:nvSpPr>
        <p:spPr>
          <a:xfrm>
            <a:off x="9418320" y="4800600"/>
            <a:ext cx="2103120" cy="41148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right tool chosen</a:t>
            </a:r>
            <a:endParaRPr lang="en-US" sz="1500" dirty="0"/>
          </a:p>
        </p:txBody>
      </p:sp>
      <p:sp>
        <p:nvSpPr>
          <p:cNvPr id="25" name="Text 23"/>
          <p:cNvSpPr txBox="1"/>
          <p:nvPr/>
        </p:nvSpPr>
        <p:spPr>
          <a:xfrm>
            <a:off x="9418320" y="5239512"/>
            <a:ext cx="2103120" cy="365760"/>
          </a:xfrm>
          <a:prstGeom prst="rect">
            <a:avLst/>
          </a:prstGeom>
          <a:noFill/>
          <a:ln/>
        </p:spPr>
        <p:txBody>
          <a:bodyPr wrap="square" lIns="0" tIns="0" rIns="0" bIns="0" rtlCol="0" anchor="t"/>
          <a:lstStyle/>
          <a:p>
            <a:pPr indent="0" marL="0">
              <a:buNone/>
            </a:pPr>
            <a:r>
              <a:rPr lang="en-US" sz="1200" dirty="0">
                <a:solidFill>
                  <a:schemeClr val="accent6"/>
                </a:solidFill>
                <a:latin typeface="Calibri" pitchFamily="34" charset="0"/>
                <a:ea typeface="Calibri" pitchFamily="34" charset="-122"/>
                <a:cs typeface="Calibri" pitchFamily="34" charset="-120"/>
              </a:rPr>
              <a:t>official floor 0.80</a:t>
            </a:r>
            <a:endParaRPr lang="en-US" sz="1200" dirty="0"/>
          </a:p>
        </p:txBody>
      </p:sp>
      <p:sp>
        <p:nvSpPr>
          <p:cNvPr id="26" name="Text 24"/>
          <p:cNvSpPr txBox="1"/>
          <p:nvPr/>
        </p:nvSpPr>
        <p:spPr>
          <a:xfrm>
            <a:off x="548640" y="5852160"/>
            <a:ext cx="11094415" cy="411480"/>
          </a:xfrm>
          <a:prstGeom prst="rect">
            <a:avLst/>
          </a:prstGeom>
          <a:noFill/>
          <a:ln/>
        </p:spPr>
        <p:txBody>
          <a:bodyPr wrap="square" lIns="0" tIns="0" rIns="0" bIns="0" rtlCol="0" anchor="t"/>
          <a:lstStyle/>
          <a:p>
            <a:pPr indent="0" marL="0">
              <a:buNone/>
            </a:pPr>
            <a:r>
              <a:rPr lang="en-US" sz="1200" i="1" dirty="0">
                <a:solidFill>
                  <a:schemeClr val="accent6"/>
                </a:solidFill>
                <a:latin typeface="Calibri" pitchFamily="34" charset="0"/>
                <a:ea typeface="Calibri" pitchFamily="34" charset="-122"/>
                <a:cs typeface="Calibri" pitchFamily="34" charset="-120"/>
              </a:rPr>
              <a:t>Historical full-Scout measurements: 59 intents, 22 injection cases, 6 edge cases; official Meterless thresholds.</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ns2:wrappingTextBoxFlag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ns3="http://schemas.microsoft.com/office/mac/drawingml/2011/main" xmlns:p="http://schemas.openxmlformats.org/presentationml/2006/main" xmlns:r="http://schemas.openxmlformats.org/officeDocument/2006/relationships">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Controlled images and moderated proposals</a:t>
            </a:r>
            <a:endParaRPr lang="en-US" sz="3400" dirty="0"/>
          </a:p>
        </p:txBody>
      </p:sp>
      <p:sp>
        <p:nvSpPr>
          <p:cNvPr id="3" name="Unique 1"/>
          <p:cNvSpPr/>
          <p:nvPr/>
        </p:nvSpPr>
        <p:spPr>
          <a:xfrm>
            <a:off x="548640" y="1508760"/>
            <a:ext cx="5422392" cy="2103120"/>
          </a:xfrm>
          <a:prstGeom prst="roundRect">
            <a:avLst>
              <a:gd name="adj" fmla="val 5217"/>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4" name="Unique 1 cercle"/>
          <p:cNvSpPr/>
          <p:nvPr/>
        </p:nvSpPr>
        <p:spPr>
          <a:xfrm>
            <a:off x="822960" y="1783080"/>
            <a:ext cx="777240" cy="777240"/>
          </a:xfrm>
          <a:prstGeom prst="ellipse">
            <a:avLst/>
          </a:prstGeom>
          <a:solidFill>
            <a:srgbClr val="C2562F"/>
          </a:solidFill>
          <a:ln w="12700">
            <a:solidFill>
              <a:srgbClr val="C2562F"/>
            </a:solidFill>
            <a:prstDash val="solid"/>
          </a:ln>
        </p:spPr>
      </p:sp>
      <p:pic>
        <p:nvPicPr>
          <p:cNvPr id="5" name="Unique 1 icône" descr="preencoded.png">    </p:cNvPr>
          <p:cNvPicPr>
            <a:picLocks noChangeAspect="1"/>
          </p:cNvPicPr>
          <p:nvPr/>
        </p:nvPicPr>
        <p:blipFill>
          <a:blip r:embed="rId1"/>
          <a:stretch>
            <a:fillRect/>
          </a:stretch>
        </p:blipFill>
        <p:spPr>
          <a:xfrm>
            <a:off x="1009498" y="1969618"/>
            <a:ext cx="404165" cy="404165"/>
          </a:xfrm>
          <a:prstGeom prst="rect">
            <a:avLst/>
          </a:prstGeom>
        </p:spPr>
      </p:pic>
      <p:sp>
        <p:nvSpPr>
          <p:cNvPr id="6" name="Text 3"/>
          <p:cNvSpPr txBox="1"/>
          <p:nvPr/>
        </p:nvSpPr>
        <p:spPr>
          <a:xfrm>
            <a:off x="1828800" y="1874520"/>
            <a:ext cx="3931920" cy="50292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Images only on request</a:t>
            </a:r>
            <a:endParaRPr lang="en-US" sz="1900" dirty="0"/>
          </a:p>
        </p:txBody>
      </p:sp>
      <p:sp>
        <p:nvSpPr>
          <p:cNvPr id="7" name="Text 4"/>
          <p:cNvSpPr txBox="1"/>
          <p:nvPr/>
        </p:nvSpPr>
        <p:spPr>
          <a:xfrm>
            <a:off x="822960" y="2651760"/>
            <a:ext cx="4892040" cy="86868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Named target respected; ambiguity means clarification. Owner photo, credited sample, reused illustration, then generation.</a:t>
            </a:r>
            <a:endParaRPr lang="en-US" sz="1400" dirty="0"/>
          </a:p>
        </p:txBody>
      </p:sp>
      <p:sp>
        <p:nvSpPr>
          <p:cNvPr id="8" name="Unique 2"/>
          <p:cNvSpPr/>
          <p:nvPr/>
        </p:nvSpPr>
        <p:spPr>
          <a:xfrm>
            <a:off x="6217920" y="1508760"/>
            <a:ext cx="5422392" cy="2103120"/>
          </a:xfrm>
          <a:prstGeom prst="roundRect">
            <a:avLst>
              <a:gd name="adj" fmla="val 5217"/>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9" name="Unique 2 cercle"/>
          <p:cNvSpPr/>
          <p:nvPr/>
        </p:nvSpPr>
        <p:spPr>
          <a:xfrm>
            <a:off x="6492240" y="1783080"/>
            <a:ext cx="777240" cy="777240"/>
          </a:xfrm>
          <a:prstGeom prst="ellipse">
            <a:avLst/>
          </a:prstGeom>
          <a:solidFill>
            <a:srgbClr val="0F6B52"/>
          </a:solidFill>
          <a:ln w="12700">
            <a:solidFill>
              <a:srgbClr val="0F6B52"/>
            </a:solidFill>
            <a:prstDash val="solid"/>
          </a:ln>
        </p:spPr>
      </p:sp>
      <p:pic>
        <p:nvPicPr>
          <p:cNvPr id="10" name="Unique 2 icône" descr="preencoded.png">    </p:cNvPr>
          <p:cNvPicPr>
            <a:picLocks noChangeAspect="1"/>
          </p:cNvPicPr>
          <p:nvPr/>
        </p:nvPicPr>
        <p:blipFill>
          <a:blip r:embed="rId2"/>
          <a:stretch>
            <a:fillRect/>
          </a:stretch>
        </p:blipFill>
        <p:spPr>
          <a:xfrm>
            <a:off x="6678778" y="1969618"/>
            <a:ext cx="404165" cy="404165"/>
          </a:xfrm>
          <a:prstGeom prst="rect">
            <a:avLst/>
          </a:prstGeom>
        </p:spPr>
      </p:pic>
      <p:sp>
        <p:nvSpPr>
          <p:cNvPr id="11" name="Text 7"/>
          <p:cNvSpPr txBox="1"/>
          <p:nvPr/>
        </p:nvSpPr>
        <p:spPr>
          <a:xfrm>
            <a:off x="7498080" y="1874520"/>
            <a:ext cx="3931920" cy="50292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Cameroonian context</a:t>
            </a:r>
            <a:endParaRPr lang="en-US" sz="1900" dirty="0"/>
          </a:p>
        </p:txBody>
      </p:sp>
      <p:sp>
        <p:nvSpPr>
          <p:cNvPr id="12" name="Text 8"/>
          <p:cNvSpPr txBox="1"/>
          <p:nvPr/>
        </p:nvSpPr>
        <p:spPr>
          <a:xfrm>
            <a:off x="6492240" y="2651760"/>
            <a:ext cx="4892040" cy="86868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Documentary Douala/Yaoundé prompt, facts first, 2,048 characters. Labelled AI illustration; no authenticity claim.</a:t>
            </a:r>
            <a:endParaRPr lang="en-US" sz="1400" dirty="0"/>
          </a:p>
        </p:txBody>
      </p:sp>
      <p:sp>
        <p:nvSpPr>
          <p:cNvPr id="13" name="Unique 3"/>
          <p:cNvSpPr/>
          <p:nvPr/>
        </p:nvSpPr>
        <p:spPr>
          <a:xfrm>
            <a:off x="548640" y="3840480"/>
            <a:ext cx="5422392" cy="2103120"/>
          </a:xfrm>
          <a:prstGeom prst="roundRect">
            <a:avLst>
              <a:gd name="adj" fmla="val 5217"/>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14" name="Unique 3 cercle"/>
          <p:cNvSpPr/>
          <p:nvPr/>
        </p:nvSpPr>
        <p:spPr>
          <a:xfrm>
            <a:off x="822960" y="4114800"/>
            <a:ext cx="777240" cy="777240"/>
          </a:xfrm>
          <a:prstGeom prst="ellipse">
            <a:avLst/>
          </a:prstGeom>
          <a:solidFill>
            <a:srgbClr val="0F6B52"/>
          </a:solidFill>
          <a:ln w="12700">
            <a:solidFill>
              <a:srgbClr val="0F6B52"/>
            </a:solidFill>
            <a:prstDash val="solid"/>
          </a:ln>
        </p:spPr>
      </p:sp>
      <p:pic>
        <p:nvPicPr>
          <p:cNvPr id="15" name="Unique 3 icône" descr="preencoded.png">    </p:cNvPr>
          <p:cNvPicPr>
            <a:picLocks noChangeAspect="1"/>
          </p:cNvPicPr>
          <p:nvPr/>
        </p:nvPicPr>
        <p:blipFill>
          <a:blip r:embed="rId3"/>
          <a:stretch>
            <a:fillRect/>
          </a:stretch>
        </p:blipFill>
        <p:spPr>
          <a:xfrm>
            <a:off x="1009498" y="4301338"/>
            <a:ext cx="404165" cy="404165"/>
          </a:xfrm>
          <a:prstGeom prst="rect">
            <a:avLst/>
          </a:prstGeom>
        </p:spPr>
      </p:pic>
      <p:sp>
        <p:nvSpPr>
          <p:cNvPr id="16" name="Text 11"/>
          <p:cNvSpPr txBox="1"/>
          <p:nvPr/>
        </p:nvSpPr>
        <p:spPr>
          <a:xfrm>
            <a:off x="1828800" y="4206240"/>
            <a:ext cx="3931920" cy="50292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Pending proposal, no publication</a:t>
            </a:r>
            <a:endParaRPr lang="en-US" sz="1900" dirty="0"/>
          </a:p>
        </p:txBody>
      </p:sp>
      <p:sp>
        <p:nvSpPr>
          <p:cNvPr id="17" name="Text 12"/>
          <p:cNvSpPr txBox="1"/>
          <p:nvPr/>
        </p:nvSpPr>
        <p:spPr>
          <a:xfrm>
            <a:off x="822960" y="4983480"/>
            <a:ext cx="4892040" cy="86868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Draft then confirmation: pending in the database. Authenticated admin: details, photos, note, approve/reject, filters and logout.</a:t>
            </a:r>
            <a:endParaRPr lang="en-US" sz="1400" dirty="0"/>
          </a:p>
        </p:txBody>
      </p:sp>
      <p:sp>
        <p:nvSpPr>
          <p:cNvPr id="18" name="Unique 4"/>
          <p:cNvSpPr/>
          <p:nvPr/>
        </p:nvSpPr>
        <p:spPr>
          <a:xfrm>
            <a:off x="6217920" y="3840480"/>
            <a:ext cx="5422392" cy="2103120"/>
          </a:xfrm>
          <a:prstGeom prst="roundRect">
            <a:avLst>
              <a:gd name="adj" fmla="val 5217"/>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19" name="Unique 4 cercle"/>
          <p:cNvSpPr/>
          <p:nvPr/>
        </p:nvSpPr>
        <p:spPr>
          <a:xfrm>
            <a:off x="6492240" y="4114800"/>
            <a:ext cx="777240" cy="777240"/>
          </a:xfrm>
          <a:prstGeom prst="ellipse">
            <a:avLst/>
          </a:prstGeom>
          <a:solidFill>
            <a:srgbClr val="0F6B52"/>
          </a:solidFill>
          <a:ln w="12700">
            <a:solidFill>
              <a:srgbClr val="0F6B52"/>
            </a:solidFill>
            <a:prstDash val="solid"/>
          </a:ln>
        </p:spPr>
      </p:sp>
      <p:pic>
        <p:nvPicPr>
          <p:cNvPr id="20" name="Unique 4 icône" descr="preencoded.png">    </p:cNvPr>
          <p:cNvPicPr>
            <a:picLocks noChangeAspect="1"/>
          </p:cNvPicPr>
          <p:nvPr/>
        </p:nvPicPr>
        <p:blipFill>
          <a:blip r:embed="rId4"/>
          <a:stretch>
            <a:fillRect/>
          </a:stretch>
        </p:blipFill>
        <p:spPr>
          <a:xfrm>
            <a:off x="6678778" y="4301338"/>
            <a:ext cx="404165" cy="404165"/>
          </a:xfrm>
          <a:prstGeom prst="rect">
            <a:avLst/>
          </a:prstGeom>
        </p:spPr>
      </p:pic>
      <p:sp>
        <p:nvSpPr>
          <p:cNvPr id="21" name="Text 15"/>
          <p:cNvSpPr txBox="1"/>
          <p:nvPr/>
        </p:nvSpPr>
        <p:spPr>
          <a:xfrm>
            <a:off x="7498080" y="4206240"/>
            <a:ext cx="3931920" cy="50292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Verification clearly separated</a:t>
            </a:r>
            <a:endParaRPr lang="en-US" sz="1900" dirty="0"/>
          </a:p>
        </p:txBody>
      </p:sp>
      <p:sp>
        <p:nvSpPr>
          <p:cNvPr id="22" name="Text 16"/>
          <p:cNvSpPr txBox="1"/>
          <p:nvPr/>
        </p:nvSpPr>
        <p:spPr>
          <a:xfrm>
            <a:off x="6492240" y="4983480"/>
            <a:ext cx="4892040" cy="86868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Live submission and rejection; offline approval and photos. 214 passed, 2 skipped. Global UTC quota; reuse costs no generation.</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ns3:wrappingTextBoxFlag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ns3="http://schemas.microsoft.com/office/mac/drawingml/2011/main" xmlns:p="http://schemas.openxmlformats.org/presentationml/2006/main" xmlns:r="http://schemas.openxmlformats.org/officeDocument/2006/relationships">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Search and images: historical captures</a:t>
            </a:r>
            <a:endParaRPr lang="en-US" sz="3400" dirty="0"/>
          </a:p>
        </p:txBody>
      </p:sp>
      <p:pic>
        <p:nvPicPr>
          <p:cNvPr id="3" name="Search results" descr="Kwatsur results: listing card with a labelled sample photo, rent and amenities">    </p:cNvPr>
          <p:cNvPicPr>
            <a:picLocks noChangeAspect="1"/>
          </p:cNvPicPr>
          <p:nvPr/>
        </p:nvPicPr>
        <p:blipFill>
          <a:blip r:embed="rId1"/>
          <a:stretch>
            <a:fillRect/>
          </a:stretch>
        </p:blipFill>
        <p:spPr>
          <a:xfrm>
            <a:off x="1453896" y="1417320"/>
            <a:ext cx="4983480" cy="3931920"/>
          </a:xfrm>
          <a:prstGeom prst="rect">
            <a:avLst/>
          </a:prstGeom>
        </p:spPr>
      </p:pic>
      <p:pic>
        <p:nvPicPr>
          <p:cNvPr id="4" name="Living room illustration" descr="AI-generated living room for a home in Douala">    </p:cNvPr>
          <p:cNvPicPr>
            <a:picLocks noChangeAspect="1"/>
          </p:cNvPicPr>
          <p:nvPr/>
        </p:nvPicPr>
        <p:blipFill>
          <a:blip r:embed="rId2"/>
          <a:stretch>
            <a:fillRect/>
          </a:stretch>
        </p:blipFill>
        <p:spPr>
          <a:xfrm>
            <a:off x="6803136" y="1417320"/>
            <a:ext cx="3931920" cy="3931920"/>
          </a:xfrm>
          <a:prstGeom prst="rect">
            <a:avLst/>
          </a:prstGeom>
        </p:spPr>
      </p:pic>
      <p:sp>
        <p:nvSpPr>
          <p:cNvPr id="5" name="Text 1"/>
          <p:cNvSpPr txBox="1"/>
          <p:nvPr/>
        </p:nvSpPr>
        <p:spPr>
          <a:xfrm>
            <a:off x="1453896" y="5486400"/>
            <a:ext cx="4983480" cy="640080"/>
          </a:xfrm>
          <a:prstGeom prst="rect">
            <a:avLst/>
          </a:prstGeom>
          <a:noFill/>
          <a:ln/>
        </p:spPr>
        <p:txBody>
          <a:bodyPr wrap="square" lIns="0" tIns="0" rIns="0" bIns="0" rtlCol="0" anchor="t"/>
          <a:lstStyle/>
          <a:p>
            <a:pPr indent="0" marL="0">
              <a:buNone/>
            </a:pPr>
            <a:r>
              <a:rPr lang="en-US" sz="1300" dirty="0">
                <a:solidFill>
                  <a:schemeClr val="accent6"/>
                </a:solidFill>
                <a:latin typeface="Calibri" pitchFamily="34" charset="0"/>
                <a:ea typeface="Calibri" pitchFamily="34" charset="-122"/>
                <a:cs typeface="Calibri" pitchFamily="34" charset="-120"/>
              </a:rPr>
              <a:t>Credited sample photo on a fictional listing. Today, expand the results panel, closed by default.</a:t>
            </a:r>
            <a:endParaRPr lang="en-US" sz="1300" dirty="0"/>
          </a:p>
        </p:txBody>
      </p:sp>
      <p:sp>
        <p:nvSpPr>
          <p:cNvPr id="6" name="Text 2"/>
          <p:cNvSpPr txBox="1"/>
          <p:nvPr/>
        </p:nvSpPr>
        <p:spPr>
          <a:xfrm>
            <a:off x="6803136" y="5486400"/>
            <a:ext cx="3931920" cy="640080"/>
          </a:xfrm>
          <a:prstGeom prst="rect">
            <a:avLst/>
          </a:prstGeom>
          <a:noFill/>
          <a:ln/>
        </p:spPr>
        <p:txBody>
          <a:bodyPr wrap="square" lIns="0" tIns="0" rIns="0" bIns="0" rtlCol="0" anchor="t"/>
          <a:lstStyle/>
          <a:p>
            <a:pPr indent="0" marL="0">
              <a:buNone/>
            </a:pPr>
            <a:r>
              <a:rPr lang="en-US" sz="1300" dirty="0">
                <a:solidFill>
                  <a:schemeClr val="accent6"/>
                </a:solidFill>
                <a:latin typeface="Calibri" pitchFamily="34" charset="0"/>
                <a:ea typeface="Calibri" pitchFamily="34" charset="-122"/>
                <a:cs typeface="Calibri" pitchFamily="34" charset="-120"/>
              </a:rPr>
              <a:t>Historical Cloudflare illustration, not a photograph of the home. Now explicit requests only; Nemotron gets metadata, not pixels.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ns3:wrappingTextBoxFlag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ns2="http://schemas.microsoft.com/office/mac/drawingml/2011/main"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What's next</a:t>
            </a:r>
            <a:endParaRPr lang="en-US" sz="3400" dirty="0"/>
          </a:p>
        </p:txBody>
      </p:sp>
      <p:sp>
        <p:nvSpPr>
          <p:cNvPr id="3" name="Suite 1"/>
          <p:cNvSpPr/>
          <p:nvPr/>
        </p:nvSpPr>
        <p:spPr>
          <a:xfrm>
            <a:off x="548640" y="1463040"/>
            <a:ext cx="5422392" cy="1325880"/>
          </a:xfrm>
          <a:prstGeom prst="roundRect">
            <a:avLst>
              <a:gd name="adj" fmla="val 8276"/>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4" name="Text 2"/>
          <p:cNvSpPr txBox="1"/>
          <p:nvPr/>
        </p:nvSpPr>
        <p:spPr>
          <a:xfrm>
            <a:off x="822960" y="1691640"/>
            <a:ext cx="640080" cy="822960"/>
          </a:xfrm>
          <a:prstGeom prst="rect">
            <a:avLst/>
          </a:prstGeom>
          <a:noFill/>
          <a:ln/>
        </p:spPr>
        <p:txBody>
          <a:bodyPr wrap="square" lIns="0" tIns="0" rIns="0" bIns="0" rtlCol="0" anchor="t"/>
          <a:lstStyle/>
          <a:p>
            <a:pPr indent="0" marL="0">
              <a:buNone/>
            </a:pPr>
            <a:r>
              <a:rPr lang="en-US" sz="3600" b="1" dirty="0">
                <a:solidFill>
                  <a:schemeClr val="accent2"/>
                </a:solidFill>
                <a:latin typeface="Arial" pitchFamily="34" charset="0"/>
                <a:ea typeface="Arial" pitchFamily="34" charset="-122"/>
                <a:cs typeface="Arial" pitchFamily="34" charset="-120"/>
              </a:rPr>
              <a:t>1</a:t>
            </a:r>
            <a:endParaRPr lang="en-US" sz="3600" dirty="0"/>
          </a:p>
        </p:txBody>
      </p:sp>
      <p:sp>
        <p:nvSpPr>
          <p:cNvPr id="5" name="Text 3"/>
          <p:cNvSpPr txBox="1"/>
          <p:nvPr/>
        </p:nvSpPr>
        <p:spPr>
          <a:xfrm>
            <a:off x="1554480" y="1664208"/>
            <a:ext cx="4206240" cy="41148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Real listing sources</a:t>
            </a:r>
            <a:endParaRPr lang="en-US" sz="1800" dirty="0"/>
          </a:p>
        </p:txBody>
      </p:sp>
      <p:sp>
        <p:nvSpPr>
          <p:cNvPr id="6" name="Text 4"/>
          <p:cNvSpPr txBox="1"/>
          <p:nvPr/>
        </p:nvSpPr>
        <p:spPr>
          <a:xfrm>
            <a:off x="1554480" y="2121408"/>
            <a:ext cx="4206240" cy="54864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Agencies and partner platforms plugged into Zetaris</a:t>
            </a:r>
            <a:endParaRPr lang="en-US" sz="1400" dirty="0"/>
          </a:p>
        </p:txBody>
      </p:sp>
      <p:sp>
        <p:nvSpPr>
          <p:cNvPr id="7" name="Suite 2"/>
          <p:cNvSpPr/>
          <p:nvPr/>
        </p:nvSpPr>
        <p:spPr>
          <a:xfrm>
            <a:off x="6217920" y="1463040"/>
            <a:ext cx="5422392" cy="1325880"/>
          </a:xfrm>
          <a:prstGeom prst="roundRect">
            <a:avLst>
              <a:gd name="adj" fmla="val 8276"/>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8" name="Text 6"/>
          <p:cNvSpPr txBox="1"/>
          <p:nvPr/>
        </p:nvSpPr>
        <p:spPr>
          <a:xfrm>
            <a:off x="6492240" y="1691640"/>
            <a:ext cx="640080" cy="822960"/>
          </a:xfrm>
          <a:prstGeom prst="rect">
            <a:avLst/>
          </a:prstGeom>
          <a:noFill/>
          <a:ln/>
        </p:spPr>
        <p:txBody>
          <a:bodyPr wrap="square" lIns="0" tIns="0" rIns="0" bIns="0" rtlCol="0" anchor="t"/>
          <a:lstStyle/>
          <a:p>
            <a:pPr indent="0" marL="0">
              <a:buNone/>
            </a:pPr>
            <a:r>
              <a:rPr lang="en-US" sz="3600" b="1" dirty="0">
                <a:solidFill>
                  <a:schemeClr val="accent2"/>
                </a:solidFill>
                <a:latin typeface="Arial" pitchFamily="34" charset="0"/>
                <a:ea typeface="Arial" pitchFamily="34" charset="-122"/>
                <a:cs typeface="Arial" pitchFamily="34" charset="-120"/>
              </a:rPr>
              <a:t>2</a:t>
            </a:r>
            <a:endParaRPr lang="en-US" sz="3600" dirty="0"/>
          </a:p>
        </p:txBody>
      </p:sp>
      <p:sp>
        <p:nvSpPr>
          <p:cNvPr id="9" name="Text 7"/>
          <p:cNvSpPr txBox="1"/>
          <p:nvPr/>
        </p:nvSpPr>
        <p:spPr>
          <a:xfrm>
            <a:off x="7223760" y="1664208"/>
            <a:ext cx="4206240" cy="41148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Memory across sessions</a:t>
            </a:r>
            <a:endParaRPr lang="en-US" sz="1800" dirty="0"/>
          </a:p>
        </p:txBody>
      </p:sp>
      <p:sp>
        <p:nvSpPr>
          <p:cNvPr id="10" name="Text 8"/>
          <p:cNvSpPr txBox="1"/>
          <p:nvPr/>
        </p:nvSpPr>
        <p:spPr>
          <a:xfrm>
            <a:off x="7223760" y="2121408"/>
            <a:ext cx="4206240" cy="54864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Meterless H-MEM engine: keep preferences from one visit to the next</a:t>
            </a:r>
            <a:endParaRPr lang="en-US" sz="1400" dirty="0"/>
          </a:p>
        </p:txBody>
      </p:sp>
      <p:sp>
        <p:nvSpPr>
          <p:cNvPr id="11" name="Suite 3"/>
          <p:cNvSpPr/>
          <p:nvPr/>
        </p:nvSpPr>
        <p:spPr>
          <a:xfrm>
            <a:off x="548640" y="3017520"/>
            <a:ext cx="5422392" cy="1325880"/>
          </a:xfrm>
          <a:prstGeom prst="roundRect">
            <a:avLst>
              <a:gd name="adj" fmla="val 8276"/>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12" name="Text 10"/>
          <p:cNvSpPr txBox="1"/>
          <p:nvPr/>
        </p:nvSpPr>
        <p:spPr>
          <a:xfrm>
            <a:off x="822960" y="3246120"/>
            <a:ext cx="640080" cy="822960"/>
          </a:xfrm>
          <a:prstGeom prst="rect">
            <a:avLst/>
          </a:prstGeom>
          <a:noFill/>
          <a:ln/>
        </p:spPr>
        <p:txBody>
          <a:bodyPr wrap="square" lIns="0" tIns="0" rIns="0" bIns="0" rtlCol="0" anchor="t"/>
          <a:lstStyle/>
          <a:p>
            <a:pPr indent="0" marL="0">
              <a:buNone/>
            </a:pPr>
            <a:r>
              <a:rPr lang="en-US" sz="3600" b="1" dirty="0">
                <a:solidFill>
                  <a:schemeClr val="accent2"/>
                </a:solidFill>
                <a:latin typeface="Arial" pitchFamily="34" charset="0"/>
                <a:ea typeface="Arial" pitchFamily="34" charset="-122"/>
                <a:cs typeface="Arial" pitchFamily="34" charset="-120"/>
              </a:rPr>
              <a:t>3</a:t>
            </a:r>
            <a:endParaRPr lang="en-US" sz="3600" dirty="0"/>
          </a:p>
        </p:txBody>
      </p:sp>
      <p:sp>
        <p:nvSpPr>
          <p:cNvPr id="13" name="Text 11"/>
          <p:cNvSpPr txBox="1"/>
          <p:nvPr/>
        </p:nvSpPr>
        <p:spPr>
          <a:xfrm>
            <a:off x="1554480" y="3218688"/>
            <a:ext cx="4206240" cy="41148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Checker agent</a:t>
            </a:r>
            <a:endParaRPr lang="en-US" sz="1800" dirty="0"/>
          </a:p>
        </p:txBody>
      </p:sp>
      <p:sp>
        <p:nvSpPr>
          <p:cNvPr id="14" name="Text 12"/>
          <p:cNvSpPr txBox="1"/>
          <p:nvPr/>
        </p:nvSpPr>
        <p:spPr>
          <a:xfrm>
            <a:off x="1554480" y="3675888"/>
            <a:ext cx="4206240" cy="54864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A second agent that reviews each explanation before sending</a:t>
            </a:r>
            <a:endParaRPr lang="en-US" sz="1400" dirty="0"/>
          </a:p>
        </p:txBody>
      </p:sp>
      <p:sp>
        <p:nvSpPr>
          <p:cNvPr id="15" name="Suite 4"/>
          <p:cNvSpPr/>
          <p:nvPr/>
        </p:nvSpPr>
        <p:spPr>
          <a:xfrm>
            <a:off x="6217920" y="3017520"/>
            <a:ext cx="5422392" cy="1325880"/>
          </a:xfrm>
          <a:prstGeom prst="roundRect">
            <a:avLst>
              <a:gd name="adj" fmla="val 8276"/>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16" name="Text 14"/>
          <p:cNvSpPr txBox="1"/>
          <p:nvPr/>
        </p:nvSpPr>
        <p:spPr>
          <a:xfrm>
            <a:off x="6492240" y="3246120"/>
            <a:ext cx="640080" cy="822960"/>
          </a:xfrm>
          <a:prstGeom prst="rect">
            <a:avLst/>
          </a:prstGeom>
          <a:noFill/>
          <a:ln/>
        </p:spPr>
        <p:txBody>
          <a:bodyPr wrap="square" lIns="0" tIns="0" rIns="0" bIns="0" rtlCol="0" anchor="t"/>
          <a:lstStyle/>
          <a:p>
            <a:pPr indent="0" marL="0">
              <a:buNone/>
            </a:pPr>
            <a:r>
              <a:rPr lang="en-US" sz="3600" b="1" dirty="0">
                <a:solidFill>
                  <a:schemeClr val="accent2"/>
                </a:solidFill>
                <a:latin typeface="Arial" pitchFamily="34" charset="0"/>
                <a:ea typeface="Arial" pitchFamily="34" charset="-122"/>
                <a:cs typeface="Arial" pitchFamily="34" charset="-120"/>
              </a:rPr>
              <a:t>4</a:t>
            </a:r>
            <a:endParaRPr lang="en-US" sz="3600" dirty="0"/>
          </a:p>
        </p:txBody>
      </p:sp>
      <p:sp>
        <p:nvSpPr>
          <p:cNvPr id="17" name="Text 15"/>
          <p:cNvSpPr txBox="1"/>
          <p:nvPr/>
        </p:nvSpPr>
        <p:spPr>
          <a:xfrm>
            <a:off x="7223760" y="3218688"/>
            <a:ext cx="4206240" cy="41148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Trust</a:t>
            </a:r>
            <a:endParaRPr lang="en-US" sz="1800" dirty="0"/>
          </a:p>
        </p:txBody>
      </p:sp>
      <p:sp>
        <p:nvSpPr>
          <p:cNvPr id="18" name="Text 16"/>
          <p:cNvSpPr txBox="1"/>
          <p:nvPr/>
        </p:nvSpPr>
        <p:spPr>
          <a:xfrm>
            <a:off x="7223760" y="3675888"/>
            <a:ext cx="4206240" cy="54864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Accounts, verified visits, reporting suspicious listings</a:t>
            </a:r>
            <a:endParaRPr lang="en-US" sz="1400" dirty="0"/>
          </a:p>
        </p:txBody>
      </p:sp>
      <p:sp>
        <p:nvSpPr>
          <p:cNvPr id="19" name="Suite 5"/>
          <p:cNvSpPr/>
          <p:nvPr/>
        </p:nvSpPr>
        <p:spPr>
          <a:xfrm>
            <a:off x="548640" y="4572000"/>
            <a:ext cx="5422392" cy="1325880"/>
          </a:xfrm>
          <a:prstGeom prst="roundRect">
            <a:avLst>
              <a:gd name="adj" fmla="val 8276"/>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20" name="Text 18"/>
          <p:cNvSpPr txBox="1"/>
          <p:nvPr/>
        </p:nvSpPr>
        <p:spPr>
          <a:xfrm>
            <a:off x="822960" y="4800600"/>
            <a:ext cx="640080" cy="822960"/>
          </a:xfrm>
          <a:prstGeom prst="rect">
            <a:avLst/>
          </a:prstGeom>
          <a:noFill/>
          <a:ln/>
        </p:spPr>
        <p:txBody>
          <a:bodyPr wrap="square" lIns="0" tIns="0" rIns="0" bIns="0" rtlCol="0" anchor="t"/>
          <a:lstStyle/>
          <a:p>
            <a:pPr indent="0" marL="0">
              <a:buNone/>
            </a:pPr>
            <a:r>
              <a:rPr lang="en-US" sz="3600" b="1" dirty="0">
                <a:solidFill>
                  <a:schemeClr val="accent2"/>
                </a:solidFill>
                <a:latin typeface="Arial" pitchFamily="34" charset="0"/>
                <a:ea typeface="Arial" pitchFamily="34" charset="-122"/>
                <a:cs typeface="Arial" pitchFamily="34" charset="-120"/>
              </a:rPr>
              <a:t>5</a:t>
            </a:r>
            <a:endParaRPr lang="en-US" sz="3600" dirty="0"/>
          </a:p>
        </p:txBody>
      </p:sp>
      <p:sp>
        <p:nvSpPr>
          <p:cNvPr id="21" name="Text 19"/>
          <p:cNvSpPr txBox="1"/>
          <p:nvPr/>
        </p:nvSpPr>
        <p:spPr>
          <a:xfrm>
            <a:off x="1554480" y="4773168"/>
            <a:ext cx="4206240" cy="41148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Channels</a:t>
            </a:r>
            <a:endParaRPr lang="en-US" sz="1800" dirty="0"/>
          </a:p>
        </p:txBody>
      </p:sp>
      <p:sp>
        <p:nvSpPr>
          <p:cNvPr id="22" name="Text 20"/>
          <p:cNvSpPr txBox="1"/>
          <p:nvPr/>
        </p:nvSpPr>
        <p:spPr>
          <a:xfrm>
            <a:off x="1554480" y="5230368"/>
            <a:ext cx="4206240" cy="54864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WhatsApp and SMS, where people look for homes in Cameroon</a:t>
            </a:r>
            <a:endParaRPr lang="en-US" sz="1400" dirty="0"/>
          </a:p>
        </p:txBody>
      </p:sp>
      <p:sp>
        <p:nvSpPr>
          <p:cNvPr id="23" name="Suite 6"/>
          <p:cNvSpPr/>
          <p:nvPr/>
        </p:nvSpPr>
        <p:spPr>
          <a:xfrm>
            <a:off x="6217920" y="4572000"/>
            <a:ext cx="5422392" cy="1325880"/>
          </a:xfrm>
          <a:prstGeom prst="roundRect">
            <a:avLst>
              <a:gd name="adj" fmla="val 8276"/>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24" name="Text 22"/>
          <p:cNvSpPr txBox="1"/>
          <p:nvPr/>
        </p:nvSpPr>
        <p:spPr>
          <a:xfrm>
            <a:off x="6492240" y="4800600"/>
            <a:ext cx="640080" cy="822960"/>
          </a:xfrm>
          <a:prstGeom prst="rect">
            <a:avLst/>
          </a:prstGeom>
          <a:noFill/>
          <a:ln/>
        </p:spPr>
        <p:txBody>
          <a:bodyPr wrap="square" lIns="0" tIns="0" rIns="0" bIns="0" rtlCol="0" anchor="t"/>
          <a:lstStyle/>
          <a:p>
            <a:pPr indent="0" marL="0">
              <a:buNone/>
            </a:pPr>
            <a:r>
              <a:rPr lang="en-US" sz="3600" b="1" dirty="0">
                <a:solidFill>
                  <a:schemeClr val="accent2"/>
                </a:solidFill>
                <a:latin typeface="Arial" pitchFamily="34" charset="0"/>
                <a:ea typeface="Arial" pitchFamily="34" charset="-122"/>
                <a:cs typeface="Arial" pitchFamily="34" charset="-120"/>
              </a:rPr>
              <a:t>6</a:t>
            </a:r>
            <a:endParaRPr lang="en-US" sz="3600" dirty="0"/>
          </a:p>
        </p:txBody>
      </p:sp>
      <p:sp>
        <p:nvSpPr>
          <p:cNvPr id="25" name="Text 23"/>
          <p:cNvSpPr txBox="1"/>
          <p:nvPr/>
        </p:nvSpPr>
        <p:spPr>
          <a:xfrm>
            <a:off x="7223760" y="4773168"/>
            <a:ext cx="4206240" cy="41148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Coverage</a:t>
            </a:r>
            <a:endParaRPr lang="en-US" sz="1800" dirty="0"/>
          </a:p>
        </p:txBody>
      </p:sp>
      <p:sp>
        <p:nvSpPr>
          <p:cNvPr id="26" name="Text 24"/>
          <p:cNvSpPr txBox="1"/>
          <p:nvPr/>
        </p:nvSpPr>
        <p:spPr>
          <a:xfrm>
            <a:off x="7223760" y="5230368"/>
            <a:ext cx="4206240" cy="54864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More cities (Bafoussam, Garoua, Kribi) and English</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ns2:wrappingTextBoxFlag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1920240"/>
            <a:ext cx="8686800" cy="1280160"/>
          </a:xfrm>
          <a:prstGeom prst="rect">
            <a:avLst/>
          </a:prstGeom>
          <a:noFill/>
          <a:ln/>
        </p:spPr>
        <p:txBody>
          <a:bodyPr wrap="square" lIns="0" tIns="0" rIns="0" bIns="0" rtlCol="0" anchor="b"/>
          <a:lstStyle/>
          <a:p>
            <a:pPr algn="l" indent="0" marL="0">
              <a:buNone/>
            </a:pPr>
            <a:r>
              <a:rPr lang="en-US" sz="6000" b="1" dirty="0">
                <a:solidFill>
                  <a:schemeClr val="bg1"/>
                </a:solidFill>
                <a:latin typeface="Arial" pitchFamily="34" charset="0"/>
                <a:ea typeface="Arial" pitchFamily="34" charset="-122"/>
                <a:cs typeface="Arial" pitchFamily="34" charset="-120"/>
              </a:rPr>
              <a:t>Thank you</a:t>
            </a:r>
            <a:endParaRPr lang="en-US" sz="6000" dirty="0"/>
          </a:p>
        </p:txBody>
      </p:sp>
      <p:sp>
        <p:nvSpPr>
          <p:cNvPr id="3" name="Text 0"/>
          <p:cNvSpPr/>
          <p:nvPr>
            <p:ph idx="101" type="body" hasCustomPrompt="1"/>
          </p:nvPr>
        </p:nvSpPr>
        <p:spPr>
          <a:xfrm>
            <a:off x="548640" y="3337560"/>
            <a:ext cx="8412480" cy="1463040"/>
          </a:xfrm>
          <a:prstGeom prst="rect">
            <a:avLst/>
          </a:prstGeom>
          <a:noFill/>
          <a:ln/>
        </p:spPr>
        <p:txBody>
          <a:bodyPr wrap="square" lIns="0" tIns="0" rIns="0" bIns="0" rtlCol="0" anchor="t"/>
          <a:lstStyle/>
          <a:p>
            <a:pPr indent="0" marL="0">
              <a:buNone/>
            </a:pPr>
            <a:r>
              <a:rPr lang="en-US" sz="2400" dirty="0">
                <a:solidFill>
                  <a:schemeClr val="accent3"/>
                </a:solidFill>
                <a:latin typeface="Calibri" pitchFamily="34" charset="0"/>
                <a:ea typeface="Calibri" pitchFamily="34" charset="-122"/>
                <a:cs typeface="Calibri" pitchFamily="34" charset="-120"/>
              </a:rPr>
              <a:t>Kwatsur searches, explains and flags what still needs checking.</a:t>
            </a:r>
            <a:endParaRPr lang="en-US" sz="2400" dirty="0"/>
          </a:p>
        </p:txBody>
      </p:sp>
      <p:sp>
        <p:nvSpPr>
          <p:cNvPr id="4" name="GitHub cercle"/>
          <p:cNvSpPr/>
          <p:nvPr/>
        </p:nvSpPr>
        <p:spPr>
          <a:xfrm>
            <a:off x="9692640" y="2011680"/>
            <a:ext cx="1828800" cy="1828800"/>
          </a:xfrm>
          <a:prstGeom prst="ellipse">
            <a:avLst/>
          </a:prstGeom>
          <a:solidFill>
            <a:srgbClr val="0A4A39"/>
          </a:solidFill>
          <a:ln w="12700">
            <a:solidFill>
              <a:srgbClr val="0A4A39"/>
            </a:solidFill>
            <a:prstDash val="solid"/>
          </a:ln>
        </p:spPr>
      </p:sp>
      <p:pic>
        <p:nvPicPr>
          <p:cNvPr id="5" name="GitHub icône" descr="preencoded.png">    </p:cNvPr>
          <p:cNvPicPr>
            <a:picLocks noChangeAspect="1"/>
          </p:cNvPicPr>
          <p:nvPr/>
        </p:nvPicPr>
        <p:blipFill>
          <a:blip r:embed="rId1"/>
          <a:stretch>
            <a:fillRect/>
          </a:stretch>
        </p:blipFill>
        <p:spPr>
          <a:xfrm>
            <a:off x="10131552" y="2450592"/>
            <a:ext cx="950976" cy="950976"/>
          </a:xfrm>
          <a:prstGeom prst="rect">
            <a:avLst/>
          </a:prstGeom>
        </p:spPr>
      </p:pic>
      <p:sp>
        <p:nvSpPr>
          <p:cNvPr id="6" name="Text 3"/>
          <p:cNvSpPr txBox="1"/>
          <p:nvPr/>
        </p:nvSpPr>
        <p:spPr>
          <a:xfrm>
            <a:off x="548640" y="5394960"/>
            <a:ext cx="10058400" cy="365760"/>
          </a:xfrm>
          <a:prstGeom prst="rect">
            <a:avLst/>
          </a:prstGeom>
          <a:noFill/>
          <a:ln/>
        </p:spPr>
        <p:txBody>
          <a:bodyPr wrap="square" lIns="0" tIns="0" rIns="0" bIns="0" rtlCol="0" anchor="t"/>
          <a:lstStyle/>
          <a:p>
            <a:pPr indent="0" marL="0">
              <a:buNone/>
            </a:pPr>
            <a:r>
              <a:rPr lang="en-US" sz="1800" b="1" dirty="0">
                <a:solidFill>
                  <a:schemeClr val="bg1"/>
                </a:solidFill>
                <a:latin typeface="Calibri" pitchFamily="34" charset="0"/>
                <a:ea typeface="Calibri" pitchFamily="34" charset="-122"/>
                <a:cs typeface="Calibri" pitchFamily="34" charset="-120"/>
              </a:rPr>
              <a:t>github.com/saoulforotheruse-tech/kwatsur</a:t>
            </a:r>
            <a:endParaRPr lang="en-US" sz="1800" dirty="0"/>
          </a:p>
        </p:txBody>
      </p:sp>
      <p:sp>
        <p:nvSpPr>
          <p:cNvPr id="7" name="Text 4"/>
          <p:cNvSpPr txBox="1"/>
          <p:nvPr/>
        </p:nvSpPr>
        <p:spPr>
          <a:xfrm>
            <a:off x="548640" y="5806440"/>
            <a:ext cx="10515600" cy="365760"/>
          </a:xfrm>
          <a:prstGeom prst="rect">
            <a:avLst/>
          </a:prstGeom>
          <a:noFill/>
          <a:ln/>
        </p:spPr>
        <p:txBody>
          <a:bodyPr wrap="square" lIns="0" tIns="0" rIns="0" bIns="0" rtlCol="0" anchor="t"/>
          <a:lstStyle/>
          <a:p>
            <a:pPr indent="0" marL="0">
              <a:buNone/>
            </a:pPr>
            <a:r>
              <a:rPr lang="en-US" sz="1400" dirty="0">
                <a:solidFill>
                  <a:schemeClr val="accent3"/>
                </a:solidFill>
                <a:latin typeface="Calibri" pitchFamily="34" charset="0"/>
                <a:ea typeface="Calibri" pitchFamily="34" charset="-122"/>
                <a:cs typeface="Calibri" pitchFamily="34" charset="-120"/>
              </a:rPr>
              <a:t>Backend and frontend: two Docker Compose projects. Interface: 8080. Offline mode: SAMPLE_MODE=true.</a:t>
            </a:r>
            <a:endParaRPr lang="en-US" sz="1400" dirty="0"/>
          </a:p>
        </p:txBody>
      </p:sp>
    </p:spTree>
  </p:cSld>
  <p:clrMapOvr>
    <a:masterClrMapping/>
  </p:clrMapOvr>
</p:sld>
</file>

<file path=ppt/slides/slide12.xml><?xml version="1.0" encoding="utf-8"?>
<p:sld xmlns:a="http://schemas.openxmlformats.org/drawingml/2006/main" xmlns:ns3="http://schemas.microsoft.com/office/mac/drawingml/2011/main" xmlns:p="http://schemas.openxmlformats.org/presentationml/2006/main" xmlns:r="http://schemas.openxmlformats.org/officeDocument/2006/relationships">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Submit a home: confirmation stays pending</a:t>
            </a:r>
            <a:endParaRPr lang="en-US" sz="3400" dirty="0"/>
          </a:p>
        </p:txBody>
      </p:sp>
      <p:pic>
        <p:nvPicPr>
          <p:cNvPr id="3" name="Search results" descr="Kwatsur results: listing card with a labelled sample photo, rent and amenities">    </p:cNvPr>
          <p:cNvPicPr>
            <a:picLocks noChangeAspect="1"/>
          </p:cNvPicPr>
          <p:nvPr/>
        </p:nvPicPr>
        <p:blipFill>
          <a:blip r:embed="rId1"/>
          <a:stretch>
            <a:fillRect/>
          </a:stretch>
        </p:blipFill>
        <p:spPr>
          <a:xfrm>
            <a:off x="548640" y="1270000"/>
            <a:ext cx="11094415" cy="4250000"/>
          </a:xfrm>
          <a:prstGeom prst="rect">
            <a:avLst/>
          </a:prstGeom>
        </p:spPr>
      </p:pic>
      <p:sp>
        <p:nvSpPr>
          <p:cNvPr id="5" name="Text 1"/>
          <p:cNvSpPr txBox="1"/>
          <p:nvPr/>
        </p:nvSpPr>
        <p:spPr>
          <a:xfrm>
            <a:off x="548640" y="5580000"/>
            <a:ext cx="11094415" cy="640080"/>
          </a:xfrm>
          <a:prstGeom prst="rect">
            <a:avLst/>
          </a:prstGeom>
          <a:noFill/>
          <a:ln/>
        </p:spPr>
        <p:txBody>
          <a:bodyPr wrap="square" lIns="0" tIns="0" rIns="0" bIns="0" rtlCol="0" anchor="t"/>
          <a:lstStyle/>
          <a:p>
            <a:pPr indent="0" marL="0">
              <a:buNone/>
            </a:pPr>
            <a:r>
              <a:rPr lang="en-US" sz="1500" dirty="0">
                <a:solidFill>
                  <a:schemeClr val="accent6"/>
                </a:solidFill>
                <a:latin typeface="Calibri" pitchFamily="34" charset="0"/>
                <a:ea typeface="Calibri" pitchFamily="34" charset="-122"/>
                <a:cs typeface="Calibri" pitchFamily="34" charset="-120"/>
              </a:rPr>
              <a:t>User-provided capture, anonymised. Draft confirmed in chat; pending proposal stored, not published. UI is in French.</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ns3:wrappingTextBoxFlag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3.xml><?xml version="1.0" encoding="utf-8"?>
<p:sld xmlns:a="http://schemas.openxmlformats.org/drawingml/2006/main" xmlns:ns3="http://schemas.microsoft.com/office/mac/drawingml/2011/main" xmlns:p="http://schemas.openxmlformats.org/presentationml/2006/main" xmlns:r="http://schemas.openxmlformats.org/officeDocument/2006/relationships">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Admin review before publication</a:t>
            </a:r>
            <a:endParaRPr lang="en-US" sz="3400" dirty="0"/>
          </a:p>
        </p:txBody>
      </p:sp>
      <p:pic>
        <p:nvPicPr>
          <p:cNvPr id="3" name="Search results" descr="Kwatsur results: listing card with a labelled sample photo, rent and amenities">    </p:cNvPr>
          <p:cNvPicPr>
            <a:picLocks noChangeAspect="1"/>
          </p:cNvPicPr>
          <p:nvPr/>
        </p:nvPicPr>
        <p:blipFill>
          <a:blip r:embed="rId1"/>
          <a:stretch>
            <a:fillRect/>
          </a:stretch>
        </p:blipFill>
        <p:spPr>
          <a:xfrm>
            <a:off x="548640" y="1270000"/>
            <a:ext cx="11094415" cy="4250000"/>
          </a:xfrm>
          <a:prstGeom prst="rect">
            <a:avLst/>
          </a:prstGeom>
        </p:spPr>
      </p:pic>
      <p:sp>
        <p:nvSpPr>
          <p:cNvPr id="5" name="Text 1"/>
          <p:cNvSpPr txBox="1"/>
          <p:nvPr/>
        </p:nvSpPr>
        <p:spPr>
          <a:xfrm>
            <a:off x="548640" y="5580000"/>
            <a:ext cx="11094415" cy="640080"/>
          </a:xfrm>
          <a:prstGeom prst="rect">
            <a:avLst/>
          </a:prstGeom>
          <a:noFill/>
          <a:ln/>
        </p:spPr>
        <p:txBody>
          <a:bodyPr wrap="square" lIns="0" tIns="0" rIns="0" bIns="0" rtlCol="0" anchor="t"/>
          <a:lstStyle/>
          <a:p>
            <a:pPr indent="0" marL="0">
              <a:buNone/>
            </a:pPr>
            <a:r>
              <a:rPr lang="en-US" sz="1500" dirty="0">
                <a:solidFill>
                  <a:schemeClr val="accent6"/>
                </a:solidFill>
                <a:latin typeface="Calibri" pitchFamily="34" charset="0"/>
                <a:ea typeface="Calibri" pitchFamily="34" charset="-122"/>
                <a:cs typeface="Calibri" pitchFamily="34" charset="-120"/>
              </a:rPr>
              <a:t>User-provided capture, anonymised. Pending proposal, note and approve/reject controls. Approval is covered offline; this is not a live publication.</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ns3:wrappingTextBoxFlag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Kwatsur">
  <a:themeElements>
    <a:clrScheme name="Kwatsur">
      <a:dk1>
        <a:srgbClr val="14231C"/>
      </a:dk1>
      <a:lt1>
        <a:srgbClr val="FFFFFF"/>
      </a:lt1>
      <a:dk2>
        <a:srgbClr val="0A4A39"/>
      </a:dk2>
      <a:lt2>
        <a:srgbClr val="EEF5F1"/>
      </a:lt2>
      <a:accent1>
        <a:srgbClr val="0F6B52"/>
      </a:accent1>
      <a:accent2>
        <a:srgbClr val="C2562F"/>
      </a:accent2>
      <a:accent3>
        <a:srgbClr val="D8EFE6"/>
      </a:accent3>
      <a:accent4>
        <a:srgbClr val="3D5348"/>
      </a:accent4>
      <a:accent5>
        <a:srgbClr val="E8B04B"/>
      </a:accent5>
      <a:accent6>
        <a:srgbClr val="6B7F74"/>
      </a:accent6>
      <a:hlink>
        <a:srgbClr val="0F6B52"/>
      </a:hlink>
      <a:folHlink>
        <a:srgbClr val="0A4A39"/>
      </a:folHlink>
    </a:clrScheme>
    <a:fontScheme name="Kwatsu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ns0:Properties xmlns:ns0="http://schemas.openxmlformats.org/officeDocument/2006/extended-properties" xmlns:ns1="http://schemas.openxmlformats.org/officeDocument/2006/docPropsVTypes">
  <ns0:TotalTime>0</ns0:TotalTime>
  <ns0:Words>0</ns0:Words>
  <ns0:Application>Microsoft Office PowerPoint</ns0:Application>
  <ns0:PresentationFormat>On-screen Show (16:9)</ns0:PresentationFormat>
  <ns0:Paragraphs>0</ns0:Paragraphs>
  <ns0:Slides>13</ns0:Slides>
  <ns0:Notes>11</ns0:Notes>
  <ns0:HiddenSlides>0</ns0:HiddenSlides>
  <ns0:MMClips>0</ns0:MMClips>
  <ns0:ScaleCrop>false</ns0:ScaleCrop>
  <ns0:HeadingPairs>
    <ns1:vector size="6" baseType="variant">
      <ns1:variant>
        <ns1:lpstr>Fonts Used</ns1:lpstr>
      </ns1:variant>
      <ns1:variant>
        <ns1:i4>2</ns1:i4>
      </ns1:variant>
      <ns1:variant>
        <ns1:lpstr>Theme</ns1:lpstr>
      </ns1:variant>
      <ns1:variant>
        <ns1:i4>1</ns1:i4>
      </ns1:variant>
      <ns1:variant>
        <ns1:lpstr>Slide Titles</ns1:lpstr>
      </ns1:variant>
      <ns1:variant>
        <ns1:i4>11</ns1:i4>
      </ns1:variant>
    </ns1:vector>
  </ns0:HeadingPairs>
  <ns0:TitlesOfParts>
    <ns1:vector size="14" baseType="lpstr">
      <ns1:lpstr>Arial</ns1:lpstr>
      <ns1:lpstr>Calibri</ns1:lpstr>
      <ns1:lpstr>Office Theme</ns1:lpstr>
      <ns1:lpstr>Slide 1</ns1:lpstr>
      <ns1:lpstr>Slide 2</ns1:lpstr>
      <ns1:lpstr>Slide 3</ns1:lpstr>
      <ns1:lpstr>Slide 4</ns1:lpstr>
      <ns1:lpstr>Slide 5</ns1:lpstr>
      <ns1:lpstr>Slide 6</ns1:lpstr>
      <ns1:lpstr>Slide 7</ns1:lpstr>
      <ns1:lpstr>Slide 8</ns1:lpstr>
      <ns1:lpstr>Slide 9</ns1:lpstr>
      <ns1:lpstr>Slide 10</ns1:lpstr>
      <ns1:lpstr>Slide 11</ns1:lpstr>
    </ns1:vector>
  </ns0:TitlesOfParts>
  <ns0:Company>PptxGenJS</ns0:Company>
  <ns0:LinksUpToDate>false</ns0:LinksUpToDate>
  <ns0:SharedDoc>false</ns0:SharedDoc>
  <ns0:HyperlinksChanged>false</ns0:HyperlinksChanged>
  <ns0:AppVersion>16.0000</ns0:AppVersion>
</ns0: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Kwatsur — Open Agent Hackathon 2026</dc:title>
  <dc:subject>PptxGenJS Presentation</dc:subject>
  <dc:creator>Kwatsur team</dc:creator>
  <cp:lastModifiedBy>Kwatsur team</cp:lastModifiedBy>
  <cp:revision>1</cp:revision>
  <dcterms:created xsi:type="dcterms:W3CDTF">2026-10-27T15:16:53Z</dcterms:created>
  <dcterms:modified xsi:type="dcterms:W3CDTF">2026-10-27T15:16:53Z</dcterms:modified>
</cp:coreProperties>
</file>